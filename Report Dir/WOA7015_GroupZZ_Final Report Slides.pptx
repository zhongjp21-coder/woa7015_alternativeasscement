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21"/>
  </p:notesMasterIdLst>
  <p:sldIdLst>
    <p:sldId id="256" r:id="rId3"/>
    <p:sldId id="257" r:id="rId4"/>
    <p:sldId id="319" r:id="rId5"/>
    <p:sldId id="320" r:id="rId6"/>
    <p:sldId id="321" r:id="rId7"/>
    <p:sldId id="322" r:id="rId8"/>
    <p:sldId id="330" r:id="rId9"/>
    <p:sldId id="332" r:id="rId10"/>
    <p:sldId id="331" r:id="rId11"/>
    <p:sldId id="323" r:id="rId12"/>
    <p:sldId id="335" r:id="rId13"/>
    <p:sldId id="325" r:id="rId14"/>
    <p:sldId id="326" r:id="rId15"/>
    <p:sldId id="329" r:id="rId16"/>
    <p:sldId id="333" r:id="rId17"/>
    <p:sldId id="328" r:id="rId18"/>
    <p:sldId id="334" r:id="rId19"/>
    <p:sldId id="296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42" userDrawn="1">
          <p15:clr>
            <a:srgbClr val="A4A3A4"/>
          </p15:clr>
        </p15:guide>
        <p15:guide id="2" pos="287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5A3"/>
    <a:srgbClr val="7D9263"/>
    <a:srgbClr val="FFE6CC"/>
    <a:srgbClr val="DAE8FC"/>
    <a:srgbClr val="E1D5E7"/>
    <a:srgbClr val="D5E8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793"/>
    <p:restoredTop sz="72302" autoAdjust="0"/>
  </p:normalViewPr>
  <p:slideViewPr>
    <p:cSldViewPr snapToGrid="0" showGuides="1">
      <p:cViewPr varScale="1">
        <p:scale>
          <a:sx n="77" d="100"/>
          <a:sy n="77" d="100"/>
        </p:scale>
        <p:origin x="184" y="1176"/>
      </p:cViewPr>
      <p:guideLst>
        <p:guide orient="horz" pos="1542"/>
        <p:guide pos="28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#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1#1">
  <dgm:title val=""/>
  <dgm:desc val=""/>
  <dgm:catLst>
    <dgm:cat type="accent5" pri="11100"/>
  </dgm:catLst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5#1" qsCatId="simple" csTypeId="urn:microsoft.com/office/officeart/2005/8/colors/accent5_1#1" csCatId="accent1" phldr="1"/>
      <dgm:spPr/>
      <dgm:t>
        <a:bodyPr/>
        <a:lstStyle/>
        <a:p>
          <a:endParaRPr lang="zh-CN" altLang="en-US"/>
        </a:p>
      </dgm:t>
    </dgm:pt>
    <dgm:pt modelId="{BD5427FF-4EB1-4006-BF7F-42158E0C5129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800" b="1" dirty="0"/>
            <a:t>Dataset scale </a:t>
          </a:r>
          <a:endParaRPr lang="en-US" altLang="zh-CN" sz="1800" b="1" dirty="0"/>
        </a:p>
      </dgm:t>
    </dgm:pt>
    <dgm:pt modelId="{A2F6D805-3B53-408A-A2A3-20BC3BF0D242}" type="parTrans" cxnId="{B388399E-0520-4464-8C87-DA42790AB011}">
      <dgm:prSet/>
      <dgm:spPr/>
      <dgm:t>
        <a:bodyPr/>
        <a:lstStyle/>
        <a:p>
          <a:endParaRPr lang="zh-CN" altLang="en-US"/>
        </a:p>
      </dgm:t>
    </dgm:pt>
    <dgm:pt modelId="{D47F9812-1256-4E44-A6BE-BEC559BE8FF3}" type="sibTrans" cxnId="{B388399E-0520-4464-8C87-DA42790AB011}">
      <dgm:prSet/>
      <dgm:spPr/>
      <dgm:t>
        <a:bodyPr/>
        <a:lstStyle/>
        <a:p>
          <a:endParaRPr lang="zh-CN" altLang="en-US"/>
        </a:p>
      </dgm:t>
    </dgm:pt>
    <dgm:pt modelId="{3A7B819B-DBE9-4610-B22A-5573EA6D532D}">
      <dgm:prSet phldrT="[文本]" phldr="0" custT="1"/>
      <dgm:spPr/>
      <dgm:t>
        <a:bodyPr vert="horz" wrap="square"/>
        <a:lstStyle/>
        <a:p>
          <a:pPr>
            <a:lnSpc>
              <a:spcPct val="15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Smaller than the Slake dataset</a:t>
          </a:r>
          <a:endParaRPr lang="en-US" altLang="zh-CN" sz="1600" dirty="0"/>
        </a:p>
      </dgm:t>
    </dgm:pt>
    <dgm:pt modelId="{DC4BEA23-BF6E-42AD-9BF0-CFBDE86A80F1}" type="parTrans" cxnId="{4255DC23-8E53-4EEF-934C-24D6C994F5A8}">
      <dgm:prSet/>
      <dgm:spPr/>
      <dgm:t>
        <a:bodyPr/>
        <a:lstStyle/>
        <a:p>
          <a:endParaRPr lang="zh-CN" altLang="en-US"/>
        </a:p>
      </dgm:t>
    </dgm:pt>
    <dgm:pt modelId="{0BF6ACD3-AE1A-4691-8CBE-DBE77AB8A685}" type="sibTrans" cxnId="{4255DC23-8E53-4EEF-934C-24D6C994F5A8}">
      <dgm:prSet/>
      <dgm:spPr/>
      <dgm:t>
        <a:bodyPr/>
        <a:lstStyle/>
        <a:p>
          <a:endParaRPr lang="zh-CN" altLang="en-US"/>
        </a:p>
      </dgm:t>
    </dgm:pt>
    <dgm:pt modelId="{FE969E54-0D5D-4815-BDC4-3309E2F7325D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MY" sz="1600" b="1" dirty="0"/>
            <a:t>Domain knowledge </a:t>
          </a:r>
          <a:endParaRPr lang="en-US" altLang="zh-CN" sz="1600" b="1" dirty="0"/>
        </a:p>
      </dgm:t>
    </dgm:pt>
    <dgm:pt modelId="{B5D9FB86-EEBE-488F-B7DE-B7CF5C9166C5}" type="parTrans" cxnId="{549E804B-410A-4F40-BBEB-FA784362FE93}">
      <dgm:prSet/>
      <dgm:spPr/>
      <dgm:t>
        <a:bodyPr/>
        <a:lstStyle/>
        <a:p>
          <a:endParaRPr lang="zh-CN" altLang="en-US"/>
        </a:p>
      </dgm:t>
    </dgm:pt>
    <dgm:pt modelId="{D7D19B67-C01A-45D3-B5C7-B7E1B18A9F62}" type="sibTrans" cxnId="{549E804B-410A-4F40-BBEB-FA784362FE93}">
      <dgm:prSet/>
      <dgm:spPr/>
      <dgm:t>
        <a:bodyPr/>
        <a:lstStyle/>
        <a:p>
          <a:endParaRPr lang="zh-CN" altLang="en-US"/>
        </a:p>
      </dgm:t>
    </dgm:pt>
    <dgm:pt modelId="{35600F67-42C2-4D1B-B072-DC2A36FCB136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The domain knowledge of the GPT-2 model is limited</a:t>
          </a:r>
          <a:endParaRPr lang="en-US" altLang="zh-CN" sz="1600" dirty="0"/>
        </a:p>
      </dgm:t>
    </dgm:pt>
    <dgm:pt modelId="{B4BC79E1-FDBA-43D1-A988-1BE8090EDA7A}" type="parTrans" cxnId="{E61ABA29-4BB0-401D-AF41-C16B945D0ABD}">
      <dgm:prSet/>
      <dgm:spPr/>
      <dgm:t>
        <a:bodyPr/>
        <a:lstStyle/>
        <a:p>
          <a:endParaRPr lang="zh-CN" altLang="en-US"/>
        </a:p>
      </dgm:t>
    </dgm:pt>
    <dgm:pt modelId="{AD46A0AA-C45A-46D2-89AF-28390F99F9D0}" type="sibTrans" cxnId="{E61ABA29-4BB0-401D-AF41-C16B945D0ABD}">
      <dgm:prSet/>
      <dgm:spPr/>
      <dgm:t>
        <a:bodyPr/>
        <a:lstStyle/>
        <a:p>
          <a:endParaRPr lang="zh-CN" altLang="en-US"/>
        </a:p>
      </dgm:t>
    </dgm:pt>
    <dgm:pt modelId="{B1F67FDF-8CFD-8142-A2B0-4C383A482195}">
      <dgm:prSet phldrT="[文本]" phldr="0" custT="1"/>
      <dgm:spPr/>
      <dgm:t>
        <a:bodyPr vert="horz" wrap="square"/>
        <a:lstStyle/>
        <a:p>
          <a:pPr>
            <a:lnSpc>
              <a:spcPct val="15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limiting the capacity of the mapping network to learn complex associations </a:t>
          </a:r>
          <a:endParaRPr lang="en-US" altLang="zh-CN" sz="1600" dirty="0"/>
        </a:p>
      </dgm:t>
    </dgm:pt>
    <dgm:pt modelId="{F69D7AE8-C928-C44D-8D46-AD967015A7B8}" type="parTrans" cxnId="{7FF5EFEE-A98C-1B40-8745-90ADC52508A5}">
      <dgm:prSet/>
      <dgm:spPr/>
      <dgm:t>
        <a:bodyPr/>
        <a:lstStyle/>
        <a:p>
          <a:endParaRPr lang="zh-CN" altLang="en-US"/>
        </a:p>
      </dgm:t>
    </dgm:pt>
    <dgm:pt modelId="{CF7C0851-17C0-F645-B5F6-8F2EBD3681A7}" type="sibTrans" cxnId="{7FF5EFEE-A98C-1B40-8745-90ADC52508A5}">
      <dgm:prSet/>
      <dgm:spPr/>
      <dgm:t>
        <a:bodyPr/>
        <a:lstStyle/>
        <a:p>
          <a:endParaRPr lang="zh-CN" altLang="en-US"/>
        </a:p>
      </dgm:t>
    </dgm:pt>
    <dgm:pt modelId="{DD1AA865-EB04-4640-8C0A-8FEA535382FA}">
      <dgm:prSet phldrT="[文本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Rather than the biological</a:t>
          </a:r>
          <a:r>
            <a:rPr lang="zh-CN" altLang="en-US" sz="1600" dirty="0"/>
            <a:t> </a:t>
          </a:r>
          <a:r>
            <a:rPr lang="en-US" altLang="zh-CN" sz="1600" dirty="0"/>
            <a:t>knowledge</a:t>
          </a:r>
          <a:r>
            <a:rPr lang="zh-CN" altLang="en-US" sz="1600" dirty="0"/>
            <a:t> </a:t>
          </a:r>
          <a:r>
            <a:rPr lang="en-MY" altLang="zh-CN" sz="1600" dirty="0"/>
            <a:t> models </a:t>
          </a:r>
          <a:r>
            <a:rPr lang="en-MY" altLang="zh-CN" sz="1600" dirty="0" err="1"/>
            <a:t>BioGPT</a:t>
          </a:r>
          <a:r>
            <a:rPr lang="en-MY" altLang="zh-CN" sz="1600" dirty="0"/>
            <a:t> or </a:t>
          </a:r>
          <a:r>
            <a:rPr lang="en-MY" altLang="zh-CN" sz="1600" dirty="0" err="1"/>
            <a:t>BioMedLM</a:t>
          </a:r>
          <a:endParaRPr lang="en-US" altLang="zh-CN" sz="1600" dirty="0"/>
        </a:p>
      </dgm:t>
    </dgm:pt>
    <dgm:pt modelId="{7B57A1E8-78CC-E246-BFBC-51E3A706B808}" type="parTrans" cxnId="{C1DC4FFB-ADD1-5240-9814-D86E4C7309E3}">
      <dgm:prSet/>
      <dgm:spPr/>
      <dgm:t>
        <a:bodyPr/>
        <a:lstStyle/>
        <a:p>
          <a:endParaRPr lang="zh-CN" altLang="en-US"/>
        </a:p>
      </dgm:t>
    </dgm:pt>
    <dgm:pt modelId="{501546B4-7410-B144-8189-72BBAA0E331A}" type="sibTrans" cxnId="{C1DC4FFB-ADD1-5240-9814-D86E4C7309E3}">
      <dgm:prSet/>
      <dgm:spPr/>
      <dgm:t>
        <a:bodyPr/>
        <a:lstStyle/>
        <a:p>
          <a:endParaRPr lang="zh-CN" altLang="en-US"/>
        </a:p>
      </dgm:t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5EB24CCF-928A-4018-A934-89F31F564A83}" type="pres">
      <dgm:prSet presAssocID="{BD5427FF-4EB1-4006-BF7F-42158E0C5129}" presName="composite" presStyleCnt="0"/>
      <dgm:spPr/>
    </dgm:pt>
    <dgm:pt modelId="{5D9704F8-5A95-419F-B794-1E2F82666BDB}" type="pres">
      <dgm:prSet presAssocID="{BD5427FF-4EB1-4006-BF7F-42158E0C5129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0A6D3D8-DBC2-45B6-8DEF-789A72552BB4}" type="pres">
      <dgm:prSet presAssocID="{BD5427FF-4EB1-4006-BF7F-42158E0C5129}" presName="desTx" presStyleLbl="alignAccFollowNode1" presStyleIdx="0" presStyleCnt="2" custLinFactNeighborX="-18814" custLinFactNeighborY="9183">
        <dgm:presLayoutVars>
          <dgm:bulletEnabled val="1"/>
        </dgm:presLayoutVars>
      </dgm:prSet>
      <dgm:spPr/>
    </dgm:pt>
    <dgm:pt modelId="{C4F6D2AE-A2A5-43DC-B705-8E8ECE0E1613}" type="pres">
      <dgm:prSet presAssocID="{D47F9812-1256-4E44-A6BE-BEC559BE8FF3}" presName="space" presStyleCnt="0"/>
      <dgm:spPr/>
    </dgm:pt>
    <dgm:pt modelId="{C1832C44-4F6B-4ABA-88DC-7D5A80779E4B}" type="pres">
      <dgm:prSet presAssocID="{FE969E54-0D5D-4815-BDC4-3309E2F7325D}" presName="composite" presStyleCnt="0"/>
      <dgm:spPr/>
    </dgm:pt>
    <dgm:pt modelId="{3E0BA246-3456-471B-AD87-1436FD251DD8}" type="pres">
      <dgm:prSet presAssocID="{FE969E54-0D5D-4815-BDC4-3309E2F7325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33CF15AD-8A19-4E9A-9BED-239A79CAF737}" type="pres">
      <dgm:prSet presAssocID="{FE969E54-0D5D-4815-BDC4-3309E2F7325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73237A0C-0483-4059-B1C6-3222875F54B2}" type="presOf" srcId="{35600F67-42C2-4D1B-B072-DC2A36FCB136}" destId="{33CF15AD-8A19-4E9A-9BED-239A79CAF737}" srcOrd="0" destOrd="0" presId="urn:microsoft.com/office/officeart/2005/8/layout/hList1"/>
    <dgm:cxn modelId="{4255DC23-8E53-4EEF-934C-24D6C994F5A8}" srcId="{BD5427FF-4EB1-4006-BF7F-42158E0C5129}" destId="{3A7B819B-DBE9-4610-B22A-5573EA6D532D}" srcOrd="0" destOrd="0" parTransId="{DC4BEA23-BF6E-42AD-9BF0-CFBDE86A80F1}" sibTransId="{0BF6ACD3-AE1A-4691-8CBE-DBE77AB8A685}"/>
    <dgm:cxn modelId="{E61ABA29-4BB0-401D-AF41-C16B945D0ABD}" srcId="{FE969E54-0D5D-4815-BDC4-3309E2F7325D}" destId="{35600F67-42C2-4D1B-B072-DC2A36FCB136}" srcOrd="0" destOrd="0" parTransId="{B4BC79E1-FDBA-43D1-A988-1BE8090EDA7A}" sibTransId="{AD46A0AA-C45A-46D2-89AF-28390F99F9D0}"/>
    <dgm:cxn modelId="{78A8AF3B-B5F2-F147-893E-6C216E02D393}" type="presOf" srcId="{DD1AA865-EB04-4640-8C0A-8FEA535382FA}" destId="{33CF15AD-8A19-4E9A-9BED-239A79CAF737}" srcOrd="0" destOrd="1" presId="urn:microsoft.com/office/officeart/2005/8/layout/hList1"/>
    <dgm:cxn modelId="{549E804B-410A-4F40-BBEB-FA784362FE93}" srcId="{468FBB7B-694A-47BF-865D-2F44C1051453}" destId="{FE969E54-0D5D-4815-BDC4-3309E2F7325D}" srcOrd="1" destOrd="0" parTransId="{B5D9FB86-EEBE-488F-B7DE-B7CF5C9166C5}" sibTransId="{D7D19B67-C01A-45D3-B5C7-B7E1B18A9F62}"/>
    <dgm:cxn modelId="{F6A54281-24C3-401D-BF5A-5AFE0E9A9CF9}" type="presOf" srcId="{468FBB7B-694A-47BF-865D-2F44C1051453}" destId="{D5FB6A06-3991-4223-AD64-C4F7F6F4DF69}" srcOrd="0" destOrd="0" presId="urn:microsoft.com/office/officeart/2005/8/layout/hList1"/>
    <dgm:cxn modelId="{B388399E-0520-4464-8C87-DA42790AB011}" srcId="{468FBB7B-694A-47BF-865D-2F44C1051453}" destId="{BD5427FF-4EB1-4006-BF7F-42158E0C5129}" srcOrd="0" destOrd="0" parTransId="{A2F6D805-3B53-408A-A2A3-20BC3BF0D242}" sibTransId="{D47F9812-1256-4E44-A6BE-BEC559BE8FF3}"/>
    <dgm:cxn modelId="{5C12DEC0-A8C3-45B8-8952-D239175C44F8}" type="presOf" srcId="{3A7B819B-DBE9-4610-B22A-5573EA6D532D}" destId="{C0A6D3D8-DBC2-45B6-8DEF-789A72552BB4}" srcOrd="0" destOrd="0" presId="urn:microsoft.com/office/officeart/2005/8/layout/hList1"/>
    <dgm:cxn modelId="{EACFEBC3-DEC0-40B2-AB97-B17C5237FCFA}" type="presOf" srcId="{FE969E54-0D5D-4815-BDC4-3309E2F7325D}" destId="{3E0BA246-3456-471B-AD87-1436FD251DD8}" srcOrd="0" destOrd="0" presId="urn:microsoft.com/office/officeart/2005/8/layout/hList1"/>
    <dgm:cxn modelId="{7FF5EFEE-A98C-1B40-8745-90ADC52508A5}" srcId="{BD5427FF-4EB1-4006-BF7F-42158E0C5129}" destId="{B1F67FDF-8CFD-8142-A2B0-4C383A482195}" srcOrd="1" destOrd="0" parTransId="{F69D7AE8-C928-C44D-8D46-AD967015A7B8}" sibTransId="{CF7C0851-17C0-F645-B5F6-8F2EBD3681A7}"/>
    <dgm:cxn modelId="{467C26F2-E839-4DF5-A9AC-FCF4B6948330}" type="presOf" srcId="{BD5427FF-4EB1-4006-BF7F-42158E0C5129}" destId="{5D9704F8-5A95-419F-B794-1E2F82666BDB}" srcOrd="0" destOrd="0" presId="urn:microsoft.com/office/officeart/2005/8/layout/hList1"/>
    <dgm:cxn modelId="{CD4A2FFA-520E-214C-BD4E-ED9F80A84481}" type="presOf" srcId="{B1F67FDF-8CFD-8142-A2B0-4C383A482195}" destId="{C0A6D3D8-DBC2-45B6-8DEF-789A72552BB4}" srcOrd="0" destOrd="1" presId="urn:microsoft.com/office/officeart/2005/8/layout/hList1"/>
    <dgm:cxn modelId="{C1DC4FFB-ADD1-5240-9814-D86E4C7309E3}" srcId="{FE969E54-0D5D-4815-BDC4-3309E2F7325D}" destId="{DD1AA865-EB04-4640-8C0A-8FEA535382FA}" srcOrd="1" destOrd="0" parTransId="{7B57A1E8-78CC-E246-BFBC-51E3A706B808}" sibTransId="{501546B4-7410-B144-8189-72BBAA0E331A}"/>
    <dgm:cxn modelId="{F6B74F6D-B888-410E-90DB-50E3693BA6B2}" type="presParOf" srcId="{D5FB6A06-3991-4223-AD64-C4F7F6F4DF69}" destId="{5EB24CCF-928A-4018-A934-89F31F564A83}" srcOrd="0" destOrd="0" presId="urn:microsoft.com/office/officeart/2005/8/layout/hList1"/>
    <dgm:cxn modelId="{DC2ACA21-2272-4B30-8ADA-332C91980397}" type="presParOf" srcId="{5EB24CCF-928A-4018-A934-89F31F564A83}" destId="{5D9704F8-5A95-419F-B794-1E2F82666BDB}" srcOrd="0" destOrd="0" presId="urn:microsoft.com/office/officeart/2005/8/layout/hList1"/>
    <dgm:cxn modelId="{FC792F60-6616-4D1F-B9DA-8A2C8A771C96}" type="presParOf" srcId="{5EB24CCF-928A-4018-A934-89F31F564A83}" destId="{C0A6D3D8-DBC2-45B6-8DEF-789A72552BB4}" srcOrd="1" destOrd="0" presId="urn:microsoft.com/office/officeart/2005/8/layout/hList1"/>
    <dgm:cxn modelId="{BE41B782-BD7F-4038-A8E6-A1825FBD147F}" type="presParOf" srcId="{D5FB6A06-3991-4223-AD64-C4F7F6F4DF69}" destId="{C4F6D2AE-A2A5-43DC-B705-8E8ECE0E1613}" srcOrd="1" destOrd="0" presId="urn:microsoft.com/office/officeart/2005/8/layout/hList1"/>
    <dgm:cxn modelId="{FE766D5A-C011-4F18-BB78-D936CCFDC825}" type="presParOf" srcId="{D5FB6A06-3991-4223-AD64-C4F7F6F4DF69}" destId="{C1832C44-4F6B-4ABA-88DC-7D5A80779E4B}" srcOrd="2" destOrd="0" presId="urn:microsoft.com/office/officeart/2005/8/layout/hList1"/>
    <dgm:cxn modelId="{69A693CF-629B-4D6E-A856-D7768CA001B5}" type="presParOf" srcId="{C1832C44-4F6B-4ABA-88DC-7D5A80779E4B}" destId="{3E0BA246-3456-471B-AD87-1436FD251DD8}" srcOrd="0" destOrd="0" presId="urn:microsoft.com/office/officeart/2005/8/layout/hList1"/>
    <dgm:cxn modelId="{5965CA09-1B92-4F10-BC55-54E5D55555DE}" type="presParOf" srcId="{C1832C44-4F6B-4ABA-88DC-7D5A80779E4B}" destId="{33CF15AD-8A19-4E9A-9BED-239A79CAF737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FBB7B-694A-47BF-865D-2F44C1051453}" type="doc">
      <dgm:prSet loTypeId="urn:microsoft.com/office/officeart/2005/8/layout/hList1" loCatId="list" qsTypeId="urn:microsoft.com/office/officeart/2005/8/quickstyle/simple5#1" qsCatId="simple" csTypeId="urn:microsoft.com/office/officeart/2005/8/colors/accent5_1#1" csCatId="accent1" phldr="1"/>
      <dgm:spPr/>
      <dgm:t>
        <a:bodyPr/>
        <a:lstStyle/>
        <a:p>
          <a:endParaRPr lang="zh-CN" altLang="en-US"/>
        </a:p>
      </dgm:t>
    </dgm:pt>
    <dgm:pt modelId="{AF265AD3-D9EB-448D-A6CA-62D4F2D1F89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altLang="zh-CN" sz="1600" dirty="0"/>
            <a:t>Without fine-tuning, the responses to open-ended questions are limited.</a:t>
          </a:r>
          <a:endParaRPr lang="en-US" altLang="zh-CN" sz="1600" dirty="0"/>
        </a:p>
      </dgm:t>
    </dgm:pt>
    <dgm:pt modelId="{FCA4E51C-6702-481A-85F2-70EEC8119AE1}" type="parTrans" cxnId="{715EA871-5FE0-400E-B7C1-765A0D4B35B0}">
      <dgm:prSet/>
      <dgm:spPr/>
      <dgm:t>
        <a:bodyPr/>
        <a:lstStyle/>
        <a:p>
          <a:endParaRPr lang="zh-CN" altLang="en-US"/>
        </a:p>
      </dgm:t>
    </dgm:pt>
    <dgm:pt modelId="{A963B2DE-4BD2-436F-9987-2817EB5496F3}" type="sibTrans" cxnId="{715EA871-5FE0-400E-B7C1-765A0D4B35B0}">
      <dgm:prSet/>
      <dgm:spPr/>
      <dgm:t>
        <a:bodyPr/>
        <a:lstStyle/>
        <a:p>
          <a:endParaRPr lang="zh-CN" altLang="en-US"/>
        </a:p>
      </dgm:t>
    </dgm:pt>
    <dgm:pt modelId="{93B070B9-DFC1-4806-8E3D-930FC98F88DD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sz="1800" b="1" dirty="0"/>
            <a:t>Fine-tuning strategy </a:t>
          </a:r>
          <a:endParaRPr lang="en-US" altLang="zh-CN" sz="1800" b="1" dirty="0"/>
        </a:p>
      </dgm:t>
    </dgm:pt>
    <dgm:pt modelId="{B943DC9E-CACD-4959-A9D6-1D0173AA3AED}" type="sibTrans" cxnId="{C85910E5-10A8-4140-AA1B-DDB60ECFBA61}">
      <dgm:prSet/>
      <dgm:spPr/>
      <dgm:t>
        <a:bodyPr/>
        <a:lstStyle/>
        <a:p>
          <a:endParaRPr lang="zh-CN" altLang="en-US"/>
        </a:p>
      </dgm:t>
    </dgm:pt>
    <dgm:pt modelId="{4AB60690-1051-4F1B-BBB6-56A51F58A9EE}" type="parTrans" cxnId="{C85910E5-10A8-4140-AA1B-DDB60ECFBA61}">
      <dgm:prSet/>
      <dgm:spPr/>
      <dgm:t>
        <a:bodyPr/>
        <a:lstStyle/>
        <a:p>
          <a:endParaRPr lang="zh-CN" altLang="en-US"/>
        </a:p>
      </dgm:t>
    </dgm:pt>
    <dgm:pt modelId="{0A79330B-AD8D-6748-AEC8-3C8126EB34E4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endParaRPr lang="en-US" altLang="zh-CN" sz="1600" dirty="0"/>
        </a:p>
      </dgm:t>
    </dgm:pt>
    <dgm:pt modelId="{A55361CA-A40A-DA40-8D01-48FFECCD5F33}" type="parTrans" cxnId="{57D32C57-84F5-4C4B-B0B8-295A624C57AD}">
      <dgm:prSet/>
      <dgm:spPr/>
      <dgm:t>
        <a:bodyPr/>
        <a:lstStyle/>
        <a:p>
          <a:endParaRPr lang="zh-CN" altLang="en-US"/>
        </a:p>
      </dgm:t>
    </dgm:pt>
    <dgm:pt modelId="{57A4F21B-E329-2F49-AE54-6AE384CD8F89}" type="sibTrans" cxnId="{57D32C57-84F5-4C4B-B0B8-295A624C57AD}">
      <dgm:prSet/>
      <dgm:spPr/>
      <dgm:t>
        <a:bodyPr/>
        <a:lstStyle/>
        <a:p>
          <a:endParaRPr lang="zh-CN" altLang="en-US"/>
        </a:p>
      </dgm:t>
    </dgm:pt>
    <dgm:pt modelId="{742024E4-919F-5A46-8074-5493234E0049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en-MY" sz="1600" dirty="0"/>
            <a:t>strict lexical matching underestimates the clinical value </a:t>
          </a:r>
          <a:endParaRPr lang="en-US" altLang="zh-CN" sz="1600" dirty="0"/>
        </a:p>
      </dgm:t>
    </dgm:pt>
    <dgm:pt modelId="{80C9D322-351F-1A4F-9731-4F376612D603}" type="parTrans" cxnId="{625574F9-3BA7-2441-9457-946B769EDB36}">
      <dgm:prSet/>
      <dgm:spPr/>
      <dgm:t>
        <a:bodyPr/>
        <a:lstStyle/>
        <a:p>
          <a:endParaRPr lang="zh-CN" altLang="en-US"/>
        </a:p>
      </dgm:t>
    </dgm:pt>
    <dgm:pt modelId="{9B83A6DF-8672-FF4B-A528-D8EBD780DD42}" type="sibTrans" cxnId="{625574F9-3BA7-2441-9457-946B769EDB36}">
      <dgm:prSet/>
      <dgm:spPr/>
      <dgm:t>
        <a:bodyPr/>
        <a:lstStyle/>
        <a:p>
          <a:endParaRPr lang="zh-CN" altLang="en-US"/>
        </a:p>
      </dgm:t>
    </dgm:pt>
    <dgm:pt modelId="{D5FB6A06-3991-4223-AD64-C4F7F6F4DF69}" type="pres">
      <dgm:prSet presAssocID="{468FBB7B-694A-47BF-865D-2F44C1051453}" presName="Name0" presStyleCnt="0">
        <dgm:presLayoutVars>
          <dgm:dir/>
          <dgm:animLvl val="lvl"/>
          <dgm:resizeHandles val="exact"/>
        </dgm:presLayoutVars>
      </dgm:prSet>
      <dgm:spPr/>
    </dgm:pt>
    <dgm:pt modelId="{18E551E6-1996-754D-9895-AF9E7EDA00FD}" type="pres">
      <dgm:prSet presAssocID="{93B070B9-DFC1-4806-8E3D-930FC98F88DD}" presName="composite" presStyleCnt="0"/>
      <dgm:spPr/>
    </dgm:pt>
    <dgm:pt modelId="{C432FB95-A0B0-004A-AD71-22D5177741A3}" type="pres">
      <dgm:prSet presAssocID="{93B070B9-DFC1-4806-8E3D-930FC98F88DD}" presName="parTx" presStyleLbl="alignNode1" presStyleIdx="0" presStyleCnt="1">
        <dgm:presLayoutVars>
          <dgm:chMax val="0"/>
          <dgm:chPref val="0"/>
          <dgm:bulletEnabled val="1"/>
        </dgm:presLayoutVars>
      </dgm:prSet>
      <dgm:spPr/>
    </dgm:pt>
    <dgm:pt modelId="{D9D7A8FD-E80F-3D46-830B-21559FC5753B}" type="pres">
      <dgm:prSet presAssocID="{93B070B9-DFC1-4806-8E3D-930FC98F88DD}" presName="desTx" presStyleLbl="alignAccFollowNode1" presStyleIdx="0" presStyleCnt="1" custLinFactNeighborX="10428" custLinFactNeighborY="1804">
        <dgm:presLayoutVars>
          <dgm:bulletEnabled val="1"/>
        </dgm:presLayoutVars>
      </dgm:prSet>
      <dgm:spPr/>
    </dgm:pt>
  </dgm:ptLst>
  <dgm:cxnLst>
    <dgm:cxn modelId="{304F311C-9398-6243-8C13-7879C6558599}" type="presOf" srcId="{93B070B9-DFC1-4806-8E3D-930FC98F88DD}" destId="{C432FB95-A0B0-004A-AD71-22D5177741A3}" srcOrd="0" destOrd="0" presId="urn:microsoft.com/office/officeart/2005/8/layout/hList1"/>
    <dgm:cxn modelId="{57D32C57-84F5-4C4B-B0B8-295A624C57AD}" srcId="{93B070B9-DFC1-4806-8E3D-930FC98F88DD}" destId="{0A79330B-AD8D-6748-AEC8-3C8126EB34E4}" srcOrd="2" destOrd="0" parTransId="{A55361CA-A40A-DA40-8D01-48FFECCD5F33}" sibTransId="{57A4F21B-E329-2F49-AE54-6AE384CD8F89}"/>
    <dgm:cxn modelId="{8266EB6C-009D-0D42-8E35-C81BE4D83691}" type="presOf" srcId="{AF265AD3-D9EB-448D-A6CA-62D4F2D1F899}" destId="{D9D7A8FD-E80F-3D46-830B-21559FC5753B}" srcOrd="0" destOrd="0" presId="urn:microsoft.com/office/officeart/2005/8/layout/hList1"/>
    <dgm:cxn modelId="{715EA871-5FE0-400E-B7C1-765A0D4B35B0}" srcId="{93B070B9-DFC1-4806-8E3D-930FC98F88DD}" destId="{AF265AD3-D9EB-448D-A6CA-62D4F2D1F899}" srcOrd="0" destOrd="0" parTransId="{FCA4E51C-6702-481A-85F2-70EEC8119AE1}" sibTransId="{A963B2DE-4BD2-436F-9987-2817EB5496F3}"/>
    <dgm:cxn modelId="{1601D872-828F-1E44-A08C-A59C96F09CB1}" type="presOf" srcId="{0A79330B-AD8D-6748-AEC8-3C8126EB34E4}" destId="{D9D7A8FD-E80F-3D46-830B-21559FC5753B}" srcOrd="0" destOrd="2" presId="urn:microsoft.com/office/officeart/2005/8/layout/hList1"/>
    <dgm:cxn modelId="{F6A54281-24C3-401D-BF5A-5AFE0E9A9CF9}" type="presOf" srcId="{468FBB7B-694A-47BF-865D-2F44C1051453}" destId="{D5FB6A06-3991-4223-AD64-C4F7F6F4DF69}" srcOrd="0" destOrd="0" presId="urn:microsoft.com/office/officeart/2005/8/layout/hList1"/>
    <dgm:cxn modelId="{63C465C3-2ADE-8B4E-9937-F8F24D9F951C}" type="presOf" srcId="{742024E4-919F-5A46-8074-5493234E0049}" destId="{D9D7A8FD-E80F-3D46-830B-21559FC5753B}" srcOrd="0" destOrd="1" presId="urn:microsoft.com/office/officeart/2005/8/layout/hList1"/>
    <dgm:cxn modelId="{C85910E5-10A8-4140-AA1B-DDB60ECFBA61}" srcId="{468FBB7B-694A-47BF-865D-2F44C1051453}" destId="{93B070B9-DFC1-4806-8E3D-930FC98F88DD}" srcOrd="0" destOrd="0" parTransId="{4AB60690-1051-4F1B-BBB6-56A51F58A9EE}" sibTransId="{B943DC9E-CACD-4959-A9D6-1D0173AA3AED}"/>
    <dgm:cxn modelId="{625574F9-3BA7-2441-9457-946B769EDB36}" srcId="{93B070B9-DFC1-4806-8E3D-930FC98F88DD}" destId="{742024E4-919F-5A46-8074-5493234E0049}" srcOrd="1" destOrd="0" parTransId="{80C9D322-351F-1A4F-9731-4F376612D603}" sibTransId="{9B83A6DF-8672-FF4B-A528-D8EBD780DD42}"/>
    <dgm:cxn modelId="{1778ADCC-3BB0-284F-B957-C13B9631FEAD}" type="presParOf" srcId="{D5FB6A06-3991-4223-AD64-C4F7F6F4DF69}" destId="{18E551E6-1996-754D-9895-AF9E7EDA00FD}" srcOrd="0" destOrd="0" presId="urn:microsoft.com/office/officeart/2005/8/layout/hList1"/>
    <dgm:cxn modelId="{420D6AC0-65BC-C44D-B7E2-6880CABD58C7}" type="presParOf" srcId="{18E551E6-1996-754D-9895-AF9E7EDA00FD}" destId="{C432FB95-A0B0-004A-AD71-22D5177741A3}" srcOrd="0" destOrd="0" presId="urn:microsoft.com/office/officeart/2005/8/layout/hList1"/>
    <dgm:cxn modelId="{BC08FC77-0BDB-FF4F-B731-AAB761708D7D}" type="presParOf" srcId="{18E551E6-1996-754D-9895-AF9E7EDA00FD}" destId="{D9D7A8FD-E80F-3D46-830B-21559FC5753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9704F8-5A95-419F-B794-1E2F82666BDB}">
      <dsp:nvSpPr>
        <dsp:cNvPr id="0" name=""/>
        <dsp:cNvSpPr/>
      </dsp:nvSpPr>
      <dsp:spPr bwMode="white">
        <a:xfrm>
          <a:off x="24" y="3305"/>
          <a:ext cx="2328870" cy="93154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800" b="1" kern="1200" dirty="0"/>
            <a:t>Dataset scale </a:t>
          </a:r>
          <a:endParaRPr lang="en-US" altLang="zh-CN" sz="1800" b="1" kern="1200" dirty="0"/>
        </a:p>
      </dsp:txBody>
      <dsp:txXfrm>
        <a:off x="24" y="3305"/>
        <a:ext cx="2328870" cy="931548"/>
      </dsp:txXfrm>
    </dsp:sp>
    <dsp:sp modelId="{C0A6D3D8-DBC2-45B6-8DEF-789A72552BB4}">
      <dsp:nvSpPr>
        <dsp:cNvPr id="0" name=""/>
        <dsp:cNvSpPr/>
      </dsp:nvSpPr>
      <dsp:spPr bwMode="white">
        <a:xfrm>
          <a:off x="0" y="938160"/>
          <a:ext cx="2328870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 dirty="0"/>
            <a:t>Smaller than the Slake dataset</a:t>
          </a:r>
          <a:endParaRPr lang="en-US" altLang="zh-CN" sz="1600" kern="1200" dirty="0"/>
        </a:p>
        <a:p>
          <a:pPr marL="171450" lvl="1" indent="-171450" algn="l" defTabSz="711200">
            <a:lnSpc>
              <a:spcPct val="15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 dirty="0"/>
            <a:t>limiting the capacity of the mapping network to learn complex associations </a:t>
          </a:r>
          <a:endParaRPr lang="en-US" altLang="zh-CN" sz="1600" kern="1200" dirty="0"/>
        </a:p>
      </dsp:txBody>
      <dsp:txXfrm>
        <a:off x="0" y="938160"/>
        <a:ext cx="2328870" cy="2810880"/>
      </dsp:txXfrm>
    </dsp:sp>
    <dsp:sp modelId="{3E0BA246-3456-471B-AD87-1436FD251DD8}">
      <dsp:nvSpPr>
        <dsp:cNvPr id="0" name=""/>
        <dsp:cNvSpPr/>
      </dsp:nvSpPr>
      <dsp:spPr bwMode="white">
        <a:xfrm>
          <a:off x="2654936" y="3305"/>
          <a:ext cx="2328870" cy="931548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600" b="1" kern="1200" dirty="0"/>
            <a:t>Domain knowledge </a:t>
          </a:r>
          <a:endParaRPr lang="en-US" altLang="zh-CN" sz="1600" b="1" kern="1200" dirty="0"/>
        </a:p>
      </dsp:txBody>
      <dsp:txXfrm>
        <a:off x="2654936" y="3305"/>
        <a:ext cx="2328870" cy="931548"/>
      </dsp:txXfrm>
    </dsp:sp>
    <dsp:sp modelId="{33CF15AD-8A19-4E9A-9BED-239A79CAF737}">
      <dsp:nvSpPr>
        <dsp:cNvPr id="0" name=""/>
        <dsp:cNvSpPr/>
      </dsp:nvSpPr>
      <dsp:spPr bwMode="white">
        <a:xfrm>
          <a:off x="2654936" y="934854"/>
          <a:ext cx="2328870" cy="281088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kern="1200" dirty="0"/>
            <a:t>The domain knowledge of the GPT-2 model is limited</a:t>
          </a:r>
          <a:endParaRPr lang="en-US" altLang="zh-CN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kern="1200" dirty="0"/>
            <a:t>Rather than the biological</a:t>
          </a:r>
          <a:r>
            <a:rPr lang="zh-CN" altLang="en-US" sz="1600" kern="1200" dirty="0"/>
            <a:t> </a:t>
          </a:r>
          <a:r>
            <a:rPr lang="en-US" altLang="zh-CN" sz="1600" kern="1200" dirty="0"/>
            <a:t>knowledge</a:t>
          </a:r>
          <a:r>
            <a:rPr lang="zh-CN" altLang="en-US" sz="1600" kern="1200" dirty="0"/>
            <a:t> </a:t>
          </a:r>
          <a:r>
            <a:rPr lang="en-MY" altLang="zh-CN" sz="1600" kern="1200" dirty="0"/>
            <a:t> models </a:t>
          </a:r>
          <a:r>
            <a:rPr lang="en-MY" altLang="zh-CN" sz="1600" kern="1200" dirty="0" err="1"/>
            <a:t>BioGPT</a:t>
          </a:r>
          <a:r>
            <a:rPr lang="en-MY" altLang="zh-CN" sz="1600" kern="1200" dirty="0"/>
            <a:t> or </a:t>
          </a:r>
          <a:r>
            <a:rPr lang="en-MY" altLang="zh-CN" sz="1600" kern="1200" dirty="0" err="1"/>
            <a:t>BioMedLM</a:t>
          </a:r>
          <a:endParaRPr lang="en-US" altLang="zh-CN" sz="1600" kern="1200" dirty="0"/>
        </a:p>
      </dsp:txBody>
      <dsp:txXfrm>
        <a:off x="2654936" y="934854"/>
        <a:ext cx="2328870" cy="2810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32FB95-A0B0-004A-AD71-22D5177741A3}">
      <dsp:nvSpPr>
        <dsp:cNvPr id="0" name=""/>
        <dsp:cNvSpPr/>
      </dsp:nvSpPr>
      <dsp:spPr>
        <a:xfrm>
          <a:off x="0" y="2182"/>
          <a:ext cx="2224687" cy="889874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MY" sz="1800" b="1" kern="1200" dirty="0"/>
            <a:t>Fine-tuning strategy </a:t>
          </a:r>
          <a:endParaRPr lang="en-US" altLang="zh-CN" sz="1800" b="1" kern="1200" dirty="0"/>
        </a:p>
      </dsp:txBody>
      <dsp:txXfrm>
        <a:off x="0" y="2182"/>
        <a:ext cx="2224687" cy="889874"/>
      </dsp:txXfrm>
    </dsp:sp>
    <dsp:sp modelId="{D9D7A8FD-E80F-3D46-830B-21559FC5753B}">
      <dsp:nvSpPr>
        <dsp:cNvPr id="0" name=""/>
        <dsp:cNvSpPr/>
      </dsp:nvSpPr>
      <dsp:spPr>
        <a:xfrm>
          <a:off x="0" y="894240"/>
          <a:ext cx="2224687" cy="2854800"/>
        </a:xfrm>
        <a:prstGeom prst="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altLang="zh-CN" sz="1600" kern="1200" dirty="0"/>
            <a:t>Without fine-tuning, the responses to open-ended questions are limited.</a:t>
          </a:r>
          <a:endParaRPr lang="en-US" altLang="zh-CN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MY" sz="1600" kern="1200" dirty="0"/>
            <a:t>strict lexical matching underestimates the clinical value </a:t>
          </a:r>
          <a:endParaRPr lang="en-US" altLang="zh-CN" sz="1600" kern="1200" dirty="0"/>
        </a:p>
        <a:p>
          <a:pPr marL="171450" lvl="1" indent="-171450" algn="l" defTabSz="711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altLang="zh-CN" sz="1600" kern="1200" dirty="0"/>
        </a:p>
      </dsp:txBody>
      <dsp:txXfrm>
        <a:off x="0" y="894240"/>
        <a:ext cx="2224687" cy="2854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#1">
  <dgm:title val=""/>
  <dgm:desc val=""/>
  <dgm:catLst>
    <dgm:cat type="simple" pri="105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F49C3EFC-1F33-52A0-A93D-870026F1F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>
            <a:extLst>
              <a:ext uri="{FF2B5EF4-FFF2-40B4-BE49-F238E27FC236}">
                <a16:creationId xmlns:a16="http://schemas.microsoft.com/office/drawing/2014/main" id="{E16B7F51-D048-6EFF-9512-D14EEB565E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>
            <a:extLst>
              <a:ext uri="{FF2B5EF4-FFF2-40B4-BE49-F238E27FC236}">
                <a16:creationId xmlns:a16="http://schemas.microsoft.com/office/drawing/2014/main" id="{43DA59A0-CBD5-1C24-9C41-41B5C7F7BA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  <p:extLst>
      <p:ext uri="{BB962C8B-B14F-4D97-AF65-F5344CB8AC3E}">
        <p14:creationId xmlns:p14="http://schemas.microsoft.com/office/powerpoint/2010/main" val="3361509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920B9257-230C-228D-C83A-66EA4D33D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>
            <a:extLst>
              <a:ext uri="{FF2B5EF4-FFF2-40B4-BE49-F238E27FC236}">
                <a16:creationId xmlns:a16="http://schemas.microsoft.com/office/drawing/2014/main" id="{6FC909AC-D35C-DF9A-374C-A4E8D753CF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>
            <a:extLst>
              <a:ext uri="{FF2B5EF4-FFF2-40B4-BE49-F238E27FC236}">
                <a16:creationId xmlns:a16="http://schemas.microsoft.com/office/drawing/2014/main" id="{FC7C5A39-75F5-454C-9318-7C609298A6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  <p:extLst>
      <p:ext uri="{BB962C8B-B14F-4D97-AF65-F5344CB8AC3E}">
        <p14:creationId xmlns:p14="http://schemas.microsoft.com/office/powerpoint/2010/main" val="28469821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34BD4B38-E849-5248-0C8A-A478191FC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>
            <a:extLst>
              <a:ext uri="{FF2B5EF4-FFF2-40B4-BE49-F238E27FC236}">
                <a16:creationId xmlns:a16="http://schemas.microsoft.com/office/drawing/2014/main" id="{ED9405EB-B1E9-FE7B-763C-8F5C6B5BE6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:notes">
            <a:extLst>
              <a:ext uri="{FF2B5EF4-FFF2-40B4-BE49-F238E27FC236}">
                <a16:creationId xmlns:a16="http://schemas.microsoft.com/office/drawing/2014/main" id="{8B7C6EDE-3800-B90A-5EFB-F455B9D2C5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altLang="zh-CN" dirty="0"/>
              <a:t>we will address this topic through the following four aspects, and will discuss several key questions among them.</a:t>
            </a:r>
          </a:p>
        </p:txBody>
      </p:sp>
    </p:spTree>
    <p:extLst>
      <p:ext uri="{BB962C8B-B14F-4D97-AF65-F5344CB8AC3E}">
        <p14:creationId xmlns:p14="http://schemas.microsoft.com/office/powerpoint/2010/main" val="17763334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68" name="Google Shape;6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7" name="Google Shape;27;p3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8" name="Google Shape;28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1" name="Google Shape;3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9" name="Google Shape;39;p3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" name="Google Shape;4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7" name="Google Shape;47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3" name="Google Shape;53;p4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4" name="Google Shape;54;p4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5" name="Google Shape;55;p4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9" name="Google Shape;59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4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p3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3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None/>
              <a:defRPr sz="1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3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i.org/10.48550/arXiv.2303.05977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70;p1"/>
          <p:cNvPicPr preferRelativeResize="0"/>
          <p:nvPr/>
        </p:nvPicPr>
        <p:blipFill rotWithShape="1">
          <a:blip r:embed="rId3"/>
          <a:srcRect b="8619"/>
          <a:stretch>
            <a:fillRect/>
          </a:stretch>
        </p:blipFill>
        <p:spPr>
          <a:xfrm>
            <a:off x="0" y="-6985"/>
            <a:ext cx="9144000" cy="3009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表格 2"/>
          <p:cNvGraphicFramePr/>
          <p:nvPr/>
        </p:nvGraphicFramePr>
        <p:xfrm>
          <a:off x="986155" y="3310255"/>
          <a:ext cx="6399530" cy="14108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9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ea typeface="Arial MT"/>
                          <a:sym typeface="+mn-ea"/>
                        </a:rPr>
                        <a:t>Name (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Matric Number)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sym typeface="+mn-ea"/>
                        </a:rPr>
                        <a:t>ZOU TING (</a:t>
                      </a: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24201617)</a:t>
                      </a:r>
                    </a:p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ZHONG JUNPEI(24214748)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Course 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WOA7015 – Advanced Machine Learning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66675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solidFill>
                            <a:schemeClr val="tx1"/>
                          </a:solidFill>
                          <a:latin typeface="Arial" panose="020B0604020202020204"/>
                          <a:ea typeface="Arial MT"/>
                        </a:rPr>
                        <a:t>Lecturer Name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ct val="18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 dirty="0">
                          <a:solidFill>
                            <a:schemeClr val="tx1"/>
                          </a:solidFill>
                          <a:latin typeface="Arial" panose="020B0604020202020204"/>
                          <a:ea typeface="Arial" panose="020B0604020202020204"/>
                        </a:rPr>
                        <a:t>Dr. SAW SHIER NEE (OCC1)</a:t>
                      </a:r>
                    </a:p>
                  </a:txBody>
                  <a:tcPr marL="0" marR="0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Google Shape;71;p1"/>
          <p:cNvSpPr txBox="1"/>
          <p:nvPr/>
        </p:nvSpPr>
        <p:spPr>
          <a:xfrm>
            <a:off x="986118" y="306189"/>
            <a:ext cx="7540500" cy="219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lvl="0">
              <a:lnSpc>
                <a:spcPct val="90000"/>
              </a:lnSpc>
              <a:buClr>
                <a:srgbClr val="FFFFFF"/>
              </a:buClr>
              <a:buSzPts val="3600"/>
            </a:pPr>
            <a:r>
              <a:rPr lang="en-US" altLang="zh-CN" sz="2800" b="1" i="0" u="none" strike="noStrike" cap="none" dirty="0">
                <a:solidFill>
                  <a:schemeClr val="bg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Comparative Study of CNN Baseline Classifier and LLM-Based Model for Medical Visual Question Answersing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Introduction</a:t>
            </a:r>
          </a:p>
        </p:txBody>
      </p:sp>
      <p:pic>
        <p:nvPicPr>
          <p:cNvPr id="4" name="图片 3"/>
          <p:cNvPicPr/>
          <p:nvPr/>
        </p:nvPicPr>
        <p:blipFill>
          <a:blip r:embed="rId4"/>
          <a:stretch>
            <a:fillRect/>
          </a:stretch>
        </p:blipFill>
        <p:spPr>
          <a:xfrm>
            <a:off x="245428" y="945198"/>
            <a:ext cx="8486775" cy="13239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34060" y="2517140"/>
            <a:ext cx="7270115" cy="608330"/>
          </a:xfrm>
          <a:prstGeom prst="rect">
            <a:avLst/>
          </a:prstGeom>
        </p:spPr>
        <p:txBody>
          <a:bodyPr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0" i="0" dirty="0">
                <a:solidFill>
                  <a:srgbClr val="2E3033"/>
                </a:solidFill>
                <a:latin typeface="Arial" panose="020B0604020202020204"/>
                <a:ea typeface="Arial" panose="020B0604020202020204"/>
              </a:rPr>
              <a:t>Demands for </a:t>
            </a:r>
            <a:r>
              <a:rPr lang="en-US" altLang="zh-CN" sz="2400" b="1" i="0" dirty="0">
                <a:solidFill>
                  <a:srgbClr val="2E3033"/>
                </a:solidFill>
                <a:latin typeface="Arial" panose="020B0604020202020204"/>
                <a:ea typeface="Arial" panose="020B0604020202020204"/>
              </a:rPr>
              <a:t>"understanding medical images"</a:t>
            </a:r>
          </a:p>
        </p:txBody>
      </p:sp>
      <p:sp>
        <p:nvSpPr>
          <p:cNvPr id="6" name="下箭头 5"/>
          <p:cNvSpPr/>
          <p:nvPr/>
        </p:nvSpPr>
        <p:spPr>
          <a:xfrm>
            <a:off x="3869690" y="3077210"/>
            <a:ext cx="702310" cy="5238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65125" y="3791585"/>
            <a:ext cx="8438515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800" b="1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how to evaluate the performance</a:t>
            </a:r>
            <a:r>
              <a:rPr lang="en-US" altLang="zh-CN" sz="2800" b="0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 of closed-ended and open-ended questions</a:t>
            </a:r>
            <a:r>
              <a:rPr lang="zh-CN" altLang="en-US" sz="2800" b="0" i="0" dirty="0">
                <a:solidFill>
                  <a:srgbClr val="000000"/>
                </a:solidFill>
                <a:latin typeface="Arial" panose="020B0604020202020204"/>
                <a:ea typeface="Arial" panose="020B0604020202020204"/>
              </a:rPr>
              <a:t>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RQs/ROs</a:t>
            </a:r>
          </a:p>
        </p:txBody>
      </p:sp>
      <p:sp>
        <p:nvSpPr>
          <p:cNvPr id="9" name="圆角矩形 8"/>
          <p:cNvSpPr/>
          <p:nvPr/>
        </p:nvSpPr>
        <p:spPr>
          <a:xfrm>
            <a:off x="287020" y="1085850"/>
            <a:ext cx="3915410" cy="18072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b="1" dirty="0">
                <a:solidFill>
                  <a:schemeClr val="tx1"/>
                </a:solidFill>
              </a:rPr>
              <a:t>RQ1 (Closed-Ended Performance):</a:t>
            </a:r>
            <a:r>
              <a:rPr lang="en-MY" altLang="zh-CN" dirty="0">
                <a:solidFill>
                  <a:schemeClr val="tx1"/>
                </a:solidFill>
              </a:rPr>
              <a:t>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Which model </a:t>
            </a:r>
            <a:r>
              <a:rPr lang="en-MY" altLang="zh-CN" dirty="0">
                <a:solidFill>
                  <a:schemeClr val="tx1"/>
                </a:solidFill>
              </a:rPr>
              <a:t>that we choose to compare performs better on closed-ended questions in radiology and how large is the performance gap?</a:t>
            </a:r>
          </a:p>
        </p:txBody>
      </p:sp>
      <p:sp>
        <p:nvSpPr>
          <p:cNvPr id="10" name="圆角矩形 9"/>
          <p:cNvSpPr/>
          <p:nvPr/>
        </p:nvSpPr>
        <p:spPr>
          <a:xfrm>
            <a:off x="252094" y="3018155"/>
            <a:ext cx="3916045" cy="184023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b="1" dirty="0">
                <a:solidFill>
                  <a:schemeClr val="tx1"/>
                </a:solidFill>
              </a:rPr>
              <a:t>RQ2 (Open-Ended Quality and Safety):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How well </a:t>
            </a:r>
            <a:r>
              <a:rPr lang="en-MY" altLang="zh-CN" dirty="0">
                <a:solidFill>
                  <a:schemeClr val="tx1"/>
                </a:solidFill>
              </a:rPr>
              <a:t>do generative VLMs perform on open-ended medical questions, and what is the risk of hallucinated answers?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4674870" y="1028701"/>
            <a:ext cx="4119245" cy="186436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dirty="0">
                <a:solidFill>
                  <a:schemeClr val="tx1"/>
                </a:solidFill>
              </a:rPr>
              <a:t>To evaluate the traditional CNN-based baseline and a generative Vision-Language Model (VLM) using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accuracy metric for closed-end questions </a:t>
            </a:r>
            <a:r>
              <a:rPr lang="en-MY" altLang="zh-CN" dirty="0">
                <a:solidFill>
                  <a:schemeClr val="tx1"/>
                </a:solidFill>
              </a:rPr>
              <a:t>and critically discuss the gap of these two model.</a:t>
            </a:r>
          </a:p>
        </p:txBody>
      </p:sp>
      <p:sp>
        <p:nvSpPr>
          <p:cNvPr id="12" name="圆角矩形 11"/>
          <p:cNvSpPr/>
          <p:nvPr/>
        </p:nvSpPr>
        <p:spPr>
          <a:xfrm>
            <a:off x="4645024" y="3018155"/>
            <a:ext cx="4177665" cy="1840230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MY" altLang="zh-CN" dirty="0">
                <a:solidFill>
                  <a:schemeClr val="tx1"/>
                </a:solidFill>
              </a:rPr>
              <a:t>To evaluate answer quality using automated language similarity metrics such as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BLEU-1, BLEU-4, </a:t>
            </a:r>
            <a:r>
              <a:rPr lang="en-MY" altLang="zh-CN" dirty="0" err="1">
                <a:solidFill>
                  <a:schemeClr val="accent4">
                    <a:lumMod val="75000"/>
                  </a:schemeClr>
                </a:solidFill>
              </a:rPr>
              <a:t>BERTScore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MY" altLang="zh-CN" dirty="0">
                <a:solidFill>
                  <a:schemeClr val="tx1"/>
                </a:solidFill>
              </a:rPr>
              <a:t>and qualitative analysis and compare the results with benchmarks. 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05305" y="697865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/>
              <a:t>RQs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329045" y="697865"/>
            <a:ext cx="809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/>
              <a:t>ROs</a:t>
            </a:r>
          </a:p>
        </p:txBody>
      </p:sp>
      <p:sp>
        <p:nvSpPr>
          <p:cNvPr id="15" name="右箭头 14"/>
          <p:cNvSpPr/>
          <p:nvPr/>
        </p:nvSpPr>
        <p:spPr>
          <a:xfrm>
            <a:off x="4202430" y="1722120"/>
            <a:ext cx="583565" cy="428625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4202430" y="3646805"/>
            <a:ext cx="583565" cy="428625"/>
          </a:xfrm>
          <a:prstGeom prst="rightArrow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下弧形箭头 17"/>
          <p:cNvSpPr/>
          <p:nvPr/>
        </p:nvSpPr>
        <p:spPr>
          <a:xfrm rot="5400000">
            <a:off x="3100705" y="2851785"/>
            <a:ext cx="2065020" cy="671830"/>
          </a:xfrm>
          <a:prstGeom prst="curvedUpArrow">
            <a:avLst>
              <a:gd name="adj1" fmla="val 25000"/>
              <a:gd name="adj2" fmla="val 68862"/>
              <a:gd name="adj3" fmla="val 45085"/>
            </a:avLst>
          </a:prstGeom>
        </p:spPr>
        <p:style>
          <a:lnRef idx="0">
            <a:srgbClr val="FFFFFF"/>
          </a:lnRef>
          <a:fillRef idx="1">
            <a:schemeClr val="accent6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87190" y="3216275"/>
            <a:ext cx="4770120" cy="1383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defTabSz="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 Unicode MS" panose="020B0604020202020204" charset="-122"/>
                <a:ea typeface="Arial Unicode MS" panose="020B0604020202020204" charset="-122"/>
              </a:rPr>
              <a:t>Vocabulary construction</a:t>
            </a:r>
          </a:p>
          <a:p>
            <a:pPr marL="457200" indent="-457200" defTabSz="2667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800">
                <a:latin typeface="Arial Unicode MS" panose="020B0604020202020204" charset="-122"/>
                <a:ea typeface="Arial Unicode MS" panose="020B0604020202020204" charset="-122"/>
              </a:rPr>
              <a:t>Answer mapping </a:t>
            </a:r>
          </a:p>
        </p:txBody>
      </p:sp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</a:p>
        </p:txBody>
      </p:sp>
      <p:pic>
        <p:nvPicPr>
          <p:cNvPr id="2" name="图片 1" descr="报告用图-第 2 页.drawio"/>
          <p:cNvPicPr>
            <a:picLocks noChangeAspect="1"/>
          </p:cNvPicPr>
          <p:nvPr/>
        </p:nvPicPr>
        <p:blipFill>
          <a:blip r:embed="rId4"/>
          <a:srcRect l="8260"/>
          <a:stretch>
            <a:fillRect/>
          </a:stretch>
        </p:blipFill>
        <p:spPr>
          <a:xfrm>
            <a:off x="107315" y="847090"/>
            <a:ext cx="3568700" cy="4147185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4269740" y="1668145"/>
            <a:ext cx="1272540" cy="127190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3600" b="1">
                <a:solidFill>
                  <a:schemeClr val="tx1"/>
                </a:solidFill>
              </a:rPr>
              <a:t>70%</a:t>
            </a:r>
          </a:p>
        </p:txBody>
      </p:sp>
      <p:sp>
        <p:nvSpPr>
          <p:cNvPr id="5" name="圆角矩形 4"/>
          <p:cNvSpPr/>
          <p:nvPr/>
        </p:nvSpPr>
        <p:spPr>
          <a:xfrm>
            <a:off x="5851525" y="1668145"/>
            <a:ext cx="1261110" cy="1271905"/>
          </a:xfrm>
          <a:prstGeom prst="roundRect">
            <a:avLst/>
          </a:prstGeom>
          <a:solidFill>
            <a:schemeClr val="tx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7421880" y="1668145"/>
            <a:ext cx="1261110" cy="127190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chemeClr val="tx1"/>
                </a:solidFill>
              </a:rPr>
              <a:t>15%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606290" y="1299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train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951855" y="1299845"/>
            <a:ext cx="105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validate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682865" y="1299845"/>
            <a:ext cx="739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/>
              <a:t>test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4957445" y="883920"/>
            <a:ext cx="3048000" cy="306705"/>
          </a:xfrm>
          <a:prstGeom prst="rect">
            <a:avLst/>
          </a:prstGeom>
          <a:solidFill>
            <a:srgbClr val="D5E8D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A. Data Preprocessing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85470" y="810260"/>
            <a:ext cx="3450590" cy="306705"/>
          </a:xfrm>
          <a:prstGeom prst="rect">
            <a:avLst/>
          </a:prstGeom>
          <a:solidFill>
            <a:srgbClr val="E1D5E7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B. Data Transformation and Loading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75970" y="2895600"/>
            <a:ext cx="2247900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Arial" panose="020B0604020202020204" pitchFamily="34" charset="0"/>
                <a:ea typeface="Arial Unicode MS" panose="020B0604020202020204" charset="-122"/>
                <a:cs typeface="Arial" panose="020B0604020202020204" pitchFamily="34" charset="0"/>
                <a:sym typeface="+mn-ea"/>
              </a:rPr>
              <a:t>2. Text serialization</a:t>
            </a:r>
            <a:endParaRPr lang="en-US" altLang="zh-CN" sz="16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93445" y="1383030"/>
            <a:ext cx="2575560" cy="1445260"/>
            <a:chOff x="700" y="2492"/>
            <a:chExt cx="4056" cy="227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0" y="2492"/>
              <a:ext cx="4056" cy="2277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89" y="4145"/>
              <a:ext cx="1067" cy="288"/>
            </a:xfrm>
            <a:prstGeom prst="rect">
              <a:avLst/>
            </a:prstGeom>
          </p:spPr>
        </p:pic>
      </p:grpSp>
      <p:sp>
        <p:nvSpPr>
          <p:cNvPr id="13" name="流程图: 预定义过程 12"/>
          <p:cNvSpPr/>
          <p:nvPr/>
        </p:nvSpPr>
        <p:spPr>
          <a:xfrm>
            <a:off x="775970" y="3290570"/>
            <a:ext cx="2810510" cy="471805"/>
          </a:xfrm>
          <a:prstGeom prst="flowChartPredefinedProcess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D5E8D4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max_seq_len=25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5970" y="3820160"/>
            <a:ext cx="164782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Arial Unicode MS" panose="020B0604020202020204" charset="-122"/>
                <a:ea typeface="Arial Unicode MS" panose="020B0604020202020204" charset="-122"/>
                <a:sym typeface="+mn-ea"/>
              </a:rPr>
              <a:t>3. DataLoader </a:t>
            </a:r>
            <a:endParaRPr lang="en-US" altLang="zh-CN" sz="1600">
              <a:latin typeface="Arial" panose="020B0604020202020204" pitchFamily="34" charset="0"/>
              <a:ea typeface="Times New Roman" panose="02020603050405020304"/>
              <a:cs typeface="Arial" panose="020B0604020202020204" pitchFamily="34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65370" y="800100"/>
            <a:ext cx="3935095" cy="306705"/>
          </a:xfrm>
          <a:prstGeom prst="rect">
            <a:avLst/>
          </a:prstGeom>
          <a:solidFill>
            <a:srgbClr val="DAE8F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C. Model Building(MedVQA_ResNet_LSTM)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75970" y="1151573"/>
            <a:ext cx="5080000" cy="33718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16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1. Image transformations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970" y="4157345"/>
            <a:ext cx="828675" cy="7620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604645" y="4224020"/>
            <a:ext cx="24314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batch = 32</a:t>
            </a:r>
          </a:p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processes = 2(GPU)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22" name="图片 21" descr="报告用图-第 1 页.drawi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7505" y="1209040"/>
            <a:ext cx="2790825" cy="3705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Methods-baseline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architecture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31520" y="775335"/>
            <a:ext cx="7562215" cy="306705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D. Training Pipeline</a:t>
            </a:r>
          </a:p>
        </p:txBody>
      </p:sp>
      <p:pic>
        <p:nvPicPr>
          <p:cNvPr id="4" name="图片 4" descr="报告用图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6400" y="1334770"/>
            <a:ext cx="6197600" cy="33629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82575" y="147034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1. training stage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82575" y="257143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2. validation stage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41240" y="1159510"/>
            <a:ext cx="2769870" cy="479425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all batch procceed</a:t>
            </a:r>
          </a:p>
        </p:txBody>
      </p:sp>
      <p:cxnSp>
        <p:nvCxnSpPr>
          <p:cNvPr id="7" name="直接箭头连接符 6"/>
          <p:cNvCxnSpPr>
            <a:stCxn id="3" idx="3"/>
          </p:cNvCxnSpPr>
          <p:nvPr/>
        </p:nvCxnSpPr>
        <p:spPr>
          <a:xfrm>
            <a:off x="7611110" y="1399540"/>
            <a:ext cx="645160" cy="27876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212205" y="2150110"/>
            <a:ext cx="1398905" cy="4343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ACC,F1</a:t>
            </a:r>
            <a:endParaRPr lang="zh-CN" alt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>
            <a:off x="6965950" y="2571750"/>
            <a:ext cx="517525" cy="21209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928610" y="2150110"/>
            <a:ext cx="846455" cy="4216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sz="24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LR</a:t>
            </a:r>
            <a:endParaRPr lang="en-US" sz="240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8293735" y="2584450"/>
            <a:ext cx="191770" cy="2457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82575" y="3827463"/>
            <a:ext cx="5080000" cy="583565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266700"/>
            <a:r>
              <a:rPr lang="en-US" altLang="zh-CN" sz="3200">
                <a:latin typeface="Arial" panose="020B0604020202020204" pitchFamily="34" charset="0"/>
                <a:ea typeface="Times New Roman" panose="02020603050405020304"/>
                <a:cs typeface="Arial" panose="020B0604020202020204" pitchFamily="34" charset="0"/>
              </a:rPr>
              <a:t>3. early stop mechanism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053840" y="3274060"/>
            <a:ext cx="2273935" cy="434340"/>
          </a:xfrm>
          <a:prstGeom prst="rect">
            <a:avLst/>
          </a:prstGeom>
          <a:solidFill>
            <a:schemeClr val="tx2">
              <a:lumMod val="9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defTabSz="266700"/>
            <a:r>
              <a:rPr lang="en-US" altLang="zh-CN" sz="240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patience check</a:t>
            </a:r>
          </a:p>
        </p:txBody>
      </p:sp>
      <p:sp>
        <p:nvSpPr>
          <p:cNvPr id="15" name="椭圆 14"/>
          <p:cNvSpPr/>
          <p:nvPr/>
        </p:nvSpPr>
        <p:spPr>
          <a:xfrm>
            <a:off x="6550660" y="3532505"/>
            <a:ext cx="1842770" cy="1105535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箭头连接符 15"/>
          <p:cNvCxnSpPr/>
          <p:nvPr/>
        </p:nvCxnSpPr>
        <p:spPr>
          <a:xfrm>
            <a:off x="6327775" y="3532505"/>
            <a:ext cx="517525" cy="21209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8EF1592-A89F-AFA4-4F24-9DEC3787F02B}"/>
              </a:ext>
            </a:extLst>
          </p:cNvPr>
          <p:cNvSpPr txBox="1"/>
          <p:nvPr/>
        </p:nvSpPr>
        <p:spPr>
          <a:xfrm>
            <a:off x="230909" y="905164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Dataset</a:t>
            </a:r>
            <a:r>
              <a:rPr kumimoji="1" lang="en-US" altLang="zh-CN" sz="1800" b="1" dirty="0"/>
              <a:t>: </a:t>
            </a:r>
            <a:r>
              <a:rPr kumimoji="1" lang="en-US" altLang="zh-CN" sz="1800" dirty="0"/>
              <a:t>80% training, 20% testing</a:t>
            </a:r>
            <a:endParaRPr kumimoji="1" lang="zh-CN" altLang="en-US" sz="1800" b="1" dirty="0"/>
          </a:p>
        </p:txBody>
      </p:sp>
      <p:pic>
        <p:nvPicPr>
          <p:cNvPr id="4" name="Picture 1" descr="A diagram of a model&#10;&#10;AI-generated content may be incorrect.">
            <a:extLst>
              <a:ext uri="{FF2B5EF4-FFF2-40B4-BE49-F238E27FC236}">
                <a16:creationId xmlns:a16="http://schemas.microsoft.com/office/drawing/2014/main" id="{C89C81E8-7A65-E444-4747-A4092AD602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929" r="23509" b="24396"/>
          <a:stretch>
            <a:fillRect/>
          </a:stretch>
        </p:blipFill>
        <p:spPr>
          <a:xfrm>
            <a:off x="4304144" y="960437"/>
            <a:ext cx="4387631" cy="3876606"/>
          </a:xfrm>
          <a:prstGeom prst="rect">
            <a:avLst/>
          </a:prstGeom>
          <a:ln>
            <a:noFill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B419AED-7B59-B540-9427-F77EF2B43648}"/>
              </a:ext>
            </a:extLst>
          </p:cNvPr>
          <p:cNvSpPr txBox="1"/>
          <p:nvPr/>
        </p:nvSpPr>
        <p:spPr>
          <a:xfrm>
            <a:off x="230907" y="1537068"/>
            <a:ext cx="407323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Key Components: </a:t>
            </a:r>
          </a:p>
          <a:p>
            <a:endParaRPr kumimoji="1" lang="en-US" altLang="zh-CN" sz="1800" b="1" dirty="0"/>
          </a:p>
          <a:p>
            <a:r>
              <a:rPr lang="en-MY" altLang="zh-CN" b="1" dirty="0"/>
              <a:t>CLIP Image Encoder </a:t>
            </a:r>
            <a:r>
              <a:rPr lang="en-MY" altLang="zh-CN" dirty="0"/>
              <a:t>(frozen) : outputs 512-d image feature vectors.</a:t>
            </a:r>
          </a:p>
          <a:p>
            <a:endParaRPr lang="en-MY" altLang="zh-CN" dirty="0"/>
          </a:p>
          <a:p>
            <a:r>
              <a:rPr lang="en-MY" altLang="zh-CN" b="1" dirty="0"/>
              <a:t>Mapping Network </a:t>
            </a:r>
            <a:r>
              <a:rPr lang="en-MY" altLang="zh-CN" dirty="0"/>
              <a:t>(trainable) :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two-layer linear network with </a:t>
            </a:r>
            <a:r>
              <a:rPr lang="en-MY" altLang="zh-CN" dirty="0" err="1">
                <a:solidFill>
                  <a:schemeClr val="accent4">
                    <a:lumMod val="75000"/>
                  </a:schemeClr>
                </a:solidFill>
              </a:rPr>
              <a:t>ReLU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 activation </a:t>
            </a:r>
            <a:r>
              <a:rPr lang="en-MY" altLang="zh-CN" dirty="0"/>
              <a:t>projecting CLIP features to GPT-2 embedding space, generating </a:t>
            </a:r>
            <a:r>
              <a:rPr lang="en-MY" altLang="zh-CN" dirty="0">
                <a:solidFill>
                  <a:schemeClr val="accent4">
                    <a:lumMod val="75000"/>
                  </a:schemeClr>
                </a:solidFill>
              </a:rPr>
              <a:t>10 visual prefix tokens</a:t>
            </a:r>
            <a:r>
              <a:rPr lang="en-MY" altLang="zh-CN" dirty="0"/>
              <a:t>.</a:t>
            </a:r>
          </a:p>
          <a:p>
            <a:endParaRPr lang="en-MY" altLang="zh-CN" dirty="0"/>
          </a:p>
          <a:p>
            <a:r>
              <a:rPr lang="en-MY" altLang="zh-CN" b="1" dirty="0"/>
              <a:t>GPT-2 Language Model </a:t>
            </a:r>
            <a:r>
              <a:rPr lang="en-MY" altLang="zh-CN" dirty="0"/>
              <a:t>(frozen) : receives concatenated visual prefixes and question embeddings for answer generation.</a:t>
            </a:r>
          </a:p>
          <a:p>
            <a:endParaRPr kumimoji="1" lang="zh-CN" altLang="en-US" sz="18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2505688-9CD8-29A7-7F72-2D2BCD98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>
            <a:extLst>
              <a:ext uri="{FF2B5EF4-FFF2-40B4-BE49-F238E27FC236}">
                <a16:creationId xmlns:a16="http://schemas.microsoft.com/office/drawing/2014/main" id="{3321D368-ABF7-E31A-BA65-5DB3FC1B9095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>
            <a:extLst>
              <a:ext uri="{FF2B5EF4-FFF2-40B4-BE49-F238E27FC236}">
                <a16:creationId xmlns:a16="http://schemas.microsoft.com/office/drawing/2014/main" id="{ACAC9775-BF7E-1117-D07A-8CF97B1324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FF46A87-667C-4C23-DBE3-CF2F567D4D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76031"/>
              </p:ext>
            </p:extLst>
          </p:nvPr>
        </p:nvGraphicFramePr>
        <p:xfrm>
          <a:off x="167956" y="1259090"/>
          <a:ext cx="8808085" cy="1729736"/>
        </p:xfrm>
        <a:graphic>
          <a:graphicData uri="http://schemas.openxmlformats.org/drawingml/2006/table">
            <a:tbl>
              <a:tblPr/>
              <a:tblGrid>
                <a:gridCol w="24022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4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241200" algn="l">
                        <a:lnSpc>
                          <a:spcPts val="1875"/>
                        </a:lnSpc>
                      </a:pPr>
                      <a:r>
                        <a:rPr lang="en-US" altLang="zh-CN" sz="1600" b="1" i="0" dirty="0" err="1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Mertic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Question Type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</a:pPr>
                      <a:r>
                        <a:rPr lang="en-US" altLang="zh-CN" sz="16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Focus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41200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Accuracy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Closed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MY" altLang="zh-CN" sz="14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Diagnostic correctness</a:t>
                      </a:r>
                      <a:r>
                        <a:rPr lang="en-MY" altLang="zh-CN" sz="160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41200">
                        <a:lnSpc>
                          <a:spcPts val="1875"/>
                        </a:lnSpc>
                      </a:pPr>
                      <a:r>
                        <a:rPr lang="en-US" altLang="zh-CN" sz="16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BLUE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Language quality</a:t>
                      </a:r>
                      <a:r>
                        <a:rPr lang="en-MY" altLang="zh-CN" sz="1600" dirty="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241200">
                        <a:lnSpc>
                          <a:spcPts val="1875"/>
                        </a:lnSpc>
                      </a:pPr>
                      <a:r>
                        <a:rPr lang="en-US" altLang="zh-CN" sz="1600" b="1" i="0" dirty="0" err="1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BERTScore</a:t>
                      </a:r>
                      <a:endParaRPr lang="en-US" altLang="zh-CN" sz="1600" b="1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US" altLang="zh-CN" sz="16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Semantic similarity</a:t>
                      </a:r>
                      <a:r>
                        <a:rPr lang="en-MY" altLang="zh-CN" sz="1600" dirty="0">
                          <a:effectLst/>
                        </a:rPr>
                        <a:t> </a:t>
                      </a:r>
                      <a:endParaRPr lang="en-US" altLang="zh-CN" sz="1600" b="0" i="0" dirty="0">
                        <a:solidFill>
                          <a:srgbClr val="0F1115"/>
                        </a:solidFill>
                        <a:latin typeface="Arial" panose="020B0604020202020204" pitchFamily="34" charset="0"/>
                        <a:ea typeface="quote-cjk-patch"/>
                        <a:cs typeface="Arial" panose="020B0604020202020204" pitchFamily="34" charset="0"/>
                      </a:endParaRP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6E41E787-149F-88A8-CB30-3BD1B4F69F97}"/>
              </a:ext>
            </a:extLst>
          </p:cNvPr>
          <p:cNvSpPr txBox="1"/>
          <p:nvPr/>
        </p:nvSpPr>
        <p:spPr>
          <a:xfrm>
            <a:off x="167955" y="3084773"/>
            <a:ext cx="5189135" cy="36022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Why Accuracy is not used </a:t>
            </a:r>
            <a:r>
              <a:rPr lang="en-US" altLang="zh-CN" sz="1600" b="0" i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for Open-end questions ?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7B8D29-E965-BBE8-A2B3-B26B196ABDC7}"/>
              </a:ext>
            </a:extLst>
          </p:cNvPr>
          <p:cNvSpPr txBox="1"/>
          <p:nvPr/>
        </p:nvSpPr>
        <p:spPr>
          <a:xfrm>
            <a:off x="92365" y="79381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Metric used for analyzing generative model</a:t>
            </a:r>
            <a:endParaRPr kumimoji="1" lang="zh-CN" altLang="en-US" sz="1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C14AD2-7B77-46B7-E1A8-7FA2519EC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765798"/>
              </p:ext>
            </p:extLst>
          </p:nvPr>
        </p:nvGraphicFramePr>
        <p:xfrm>
          <a:off x="167955" y="3564903"/>
          <a:ext cx="891139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7848">
                  <a:extLst>
                    <a:ext uri="{9D8B030D-6E8A-4147-A177-3AD203B41FA5}">
                      <a16:colId xmlns:a16="http://schemas.microsoft.com/office/drawing/2014/main" val="3020301841"/>
                    </a:ext>
                  </a:extLst>
                </a:gridCol>
                <a:gridCol w="2217405">
                  <a:extLst>
                    <a:ext uri="{9D8B030D-6E8A-4147-A177-3AD203B41FA5}">
                      <a16:colId xmlns:a16="http://schemas.microsoft.com/office/drawing/2014/main" val="277210204"/>
                    </a:ext>
                  </a:extLst>
                </a:gridCol>
                <a:gridCol w="2295592">
                  <a:extLst>
                    <a:ext uri="{9D8B030D-6E8A-4147-A177-3AD203B41FA5}">
                      <a16:colId xmlns:a16="http://schemas.microsoft.com/office/drawing/2014/main" val="1413454032"/>
                    </a:ext>
                  </a:extLst>
                </a:gridCol>
                <a:gridCol w="2170545">
                  <a:extLst>
                    <a:ext uri="{9D8B030D-6E8A-4147-A177-3AD203B41FA5}">
                      <a16:colId xmlns:a16="http://schemas.microsoft.com/office/drawing/2014/main" val="1423490395"/>
                    </a:ext>
                  </a:extLst>
                </a:gridCol>
              </a:tblGrid>
              <a:tr h="391186"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Reference Answer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Model Prediction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Accuracy Result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b="1" dirty="0">
                          <a:solidFill>
                            <a:schemeClr val="tx1"/>
                          </a:solidFill>
                        </a:rPr>
                        <a:t>Reality</a:t>
                      </a:r>
                      <a:br>
                        <a:rPr lang="en-MY" altLang="zh-CN" dirty="0">
                          <a:solidFill>
                            <a:schemeClr val="tx1"/>
                          </a:solidFill>
                        </a:rPr>
                      </a:b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192281"/>
                  </a:ext>
                </a:extLst>
              </a:tr>
              <a:tr h="163329"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"the brain"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altLang="zh-CN" dirty="0">
                          <a:solidFill>
                            <a:schemeClr val="tx1"/>
                          </a:solidFill>
                        </a:rPr>
                        <a:t>"brain"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Incorrect (0)</a:t>
                      </a:r>
                      <a:endParaRPr lang="zh-CN" alt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</a:pPr>
                      <a:r>
                        <a:rPr lang="en-MY" altLang="zh-CN" sz="1400" b="0" i="0" u="none" strike="noStrike" cap="none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Same clinical meaning</a:t>
                      </a:r>
                      <a:endParaRPr lang="zh-CN" altLang="en-US" sz="1400" b="0" i="0" u="none" strike="noStrike" cap="none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  <a:sym typeface="Arial" panose="020B0604020202020204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3346657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3A416A75-D419-911C-6475-10491087D0A3}"/>
              </a:ext>
            </a:extLst>
          </p:cNvPr>
          <p:cNvGrpSpPr/>
          <p:nvPr/>
        </p:nvGrpSpPr>
        <p:grpSpPr>
          <a:xfrm>
            <a:off x="1496291" y="3953584"/>
            <a:ext cx="5361707" cy="554182"/>
            <a:chOff x="1496291" y="3953584"/>
            <a:chExt cx="5361707" cy="554182"/>
          </a:xfrm>
        </p:grpSpPr>
        <p:sp>
          <p:nvSpPr>
            <p:cNvPr id="5" name="圆角矩形 4">
              <a:extLst>
                <a:ext uri="{FF2B5EF4-FFF2-40B4-BE49-F238E27FC236}">
                  <a16:creationId xmlns:a16="http://schemas.microsoft.com/office/drawing/2014/main" id="{D0CFD8D7-327B-65BD-7CD4-7452AFD86BC9}"/>
                </a:ext>
              </a:extLst>
            </p:cNvPr>
            <p:cNvSpPr/>
            <p:nvPr/>
          </p:nvSpPr>
          <p:spPr>
            <a:xfrm>
              <a:off x="4378036" y="3953584"/>
              <a:ext cx="1625600" cy="554182"/>
            </a:xfrm>
            <a:prstGeom prst="roundRect">
              <a:avLst/>
            </a:prstGeom>
            <a:no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D92E2C67-025F-8F23-3FDA-E544D8BFA2FF}"/>
                </a:ext>
              </a:extLst>
            </p:cNvPr>
            <p:cNvSpPr/>
            <p:nvPr/>
          </p:nvSpPr>
          <p:spPr>
            <a:xfrm>
              <a:off x="1496291" y="4045527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五边形 6">
              <a:extLst>
                <a:ext uri="{FF2B5EF4-FFF2-40B4-BE49-F238E27FC236}">
                  <a16:creationId xmlns:a16="http://schemas.microsoft.com/office/drawing/2014/main" id="{2C9A46C8-C60E-D6B4-111E-13CC73D5F850}"/>
                </a:ext>
              </a:extLst>
            </p:cNvPr>
            <p:cNvSpPr/>
            <p:nvPr/>
          </p:nvSpPr>
          <p:spPr>
            <a:xfrm>
              <a:off x="3389745" y="4048902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五边形 7">
              <a:extLst>
                <a:ext uri="{FF2B5EF4-FFF2-40B4-BE49-F238E27FC236}">
                  <a16:creationId xmlns:a16="http://schemas.microsoft.com/office/drawing/2014/main" id="{F1995657-48BA-E296-48F5-1204C3095EC7}"/>
                </a:ext>
              </a:extLst>
            </p:cNvPr>
            <p:cNvSpPr/>
            <p:nvPr/>
          </p:nvSpPr>
          <p:spPr>
            <a:xfrm>
              <a:off x="6146798" y="4067849"/>
              <a:ext cx="711200" cy="342336"/>
            </a:xfrm>
            <a:prstGeom prst="homePlate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B78E976-8BE3-1519-D149-29D9244C7155}"/>
              </a:ext>
            </a:extLst>
          </p:cNvPr>
          <p:cNvGrpSpPr/>
          <p:nvPr/>
        </p:nvGrpSpPr>
        <p:grpSpPr>
          <a:xfrm>
            <a:off x="6668655" y="1751494"/>
            <a:ext cx="2307386" cy="1693505"/>
            <a:chOff x="6668655" y="1751494"/>
            <a:chExt cx="2307386" cy="1693505"/>
          </a:xfrm>
        </p:grpSpPr>
        <p:sp>
          <p:nvSpPr>
            <p:cNvPr id="11" name="圆角矩形 10">
              <a:extLst>
                <a:ext uri="{FF2B5EF4-FFF2-40B4-BE49-F238E27FC236}">
                  <a16:creationId xmlns:a16="http://schemas.microsoft.com/office/drawing/2014/main" id="{ECBDDE16-601F-1D19-E4D5-8751F8DA01F7}"/>
                </a:ext>
              </a:extLst>
            </p:cNvPr>
            <p:cNvSpPr/>
            <p:nvPr/>
          </p:nvSpPr>
          <p:spPr>
            <a:xfrm>
              <a:off x="6668655" y="1751494"/>
              <a:ext cx="2307386" cy="1693505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405A2FE-7B98-8EF2-F33E-61C19091030B}"/>
                </a:ext>
              </a:extLst>
            </p:cNvPr>
            <p:cNvSpPr txBox="1"/>
            <p:nvPr/>
          </p:nvSpPr>
          <p:spPr>
            <a:xfrm>
              <a:off x="6668655" y="1905748"/>
              <a:ext cx="230738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altLang="zh-CN" dirty="0"/>
                <a:t>Accuracy </a:t>
              </a:r>
              <a:r>
                <a:rPr lang="en-MY" altLang="zh-CN" dirty="0">
                  <a:solidFill>
                    <a:schemeClr val="accent4">
                      <a:lumMod val="75000"/>
                    </a:schemeClr>
                  </a:solidFill>
                </a:rPr>
                <a:t>fails</a:t>
              </a:r>
              <a:r>
                <a:rPr lang="en-MY" altLang="zh-CN" dirty="0"/>
                <a:t> for open-ended questions because semantically correct answers with different wording are treated as completely wrong.</a:t>
              </a:r>
              <a:endParaRPr kumimoji="1"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45830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 Methods-Generative Model A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rchitecture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08585" y="697865"/>
            <a:ext cx="8752840" cy="4081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23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Internal Comparison: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Comparison with baseline model (classifier), Focusing on:</a:t>
            </a:r>
          </a:p>
          <a:p>
            <a:pPr marL="576000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about the gap of performance for closed questions?</a:t>
            </a:r>
          </a:p>
          <a:p>
            <a:pPr marL="0" indent="0">
              <a:lnSpc>
                <a:spcPct val="150000"/>
              </a:lnSpc>
              <a:spcBef>
                <a:spcPts val="2400"/>
              </a:spcBef>
              <a:spcAft>
                <a:spcPts val="1200"/>
              </a:spcAft>
            </a:pPr>
            <a:r>
              <a:rPr lang="en-US" altLang="zh-CN" sz="23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External Comparison:</a:t>
            </a:r>
          </a:p>
          <a:p>
            <a:pPr marL="0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Comparison with results from </a:t>
            </a:r>
            <a:r>
              <a:rPr lang="en-US" altLang="zh-CN" sz="1600" b="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Sonsbeek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et al. (2023), </a:t>
            </a:r>
            <a:r>
              <a:rPr lang="en-US" altLang="zh-CN" sz="1600" b="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Foucusing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on:</a:t>
            </a:r>
          </a:p>
          <a:p>
            <a:pPr marL="576000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en-US" altLang="zh-CN" sz="160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What is the gap of ours with </a:t>
            </a:r>
            <a:r>
              <a:rPr lang="en-US" altLang="zh-CN" sz="1600" i="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Sonsbeek</a:t>
            </a:r>
            <a:r>
              <a:rPr lang="en-US" altLang="zh-CN" sz="160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et al. ?</a:t>
            </a:r>
          </a:p>
          <a:p>
            <a:pPr marL="576000" lvl="3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itchFamily="2" charset="2"/>
              <a:buChar char="n"/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Why is the gap ?</a:t>
            </a:r>
            <a:endParaRPr lang="en-US" altLang="zh-CN" sz="160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marL="0" lvl="1" inden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endParaRPr lang="en-US" altLang="zh-CN" sz="2300" b="1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Result-baseline 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194310" y="775335"/>
          <a:ext cx="1898650" cy="4022725"/>
        </p:xfrm>
        <a:graphic>
          <a:graphicData uri="http://schemas.openxmlformats.org/drawingml/2006/table">
            <a:tbl>
              <a:tblPr/>
              <a:tblGrid>
                <a:gridCol w="94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Parameter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Value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Epochs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35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Batch Size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Optimizer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Adam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9350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Learning Rate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10^(-4)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Dropout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2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2832100" y="775335"/>
          <a:ext cx="5866130" cy="1891665"/>
        </p:xfrm>
        <a:graphic>
          <a:graphicData uri="http://schemas.openxmlformats.org/drawingml/2006/table">
            <a:tbl>
              <a:tblPr/>
              <a:tblGrid>
                <a:gridCol w="989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2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Metric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Training Set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Validation Set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Test Set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Accuracy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78.65%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44.21%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33.83%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F1 Score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16.21%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13.64%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Precision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16.04%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14.54%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78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Recall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13.27%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405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Loss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0.6623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3.8041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>
                          <a:latin typeface="Times New Roman" panose="02020603050405020304"/>
                          <a:ea typeface="Times New Roman" panose="02020603050405020304"/>
                        </a:rPr>
                        <a:t>-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9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3790" y="2738755"/>
            <a:ext cx="6496685" cy="180721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" name="直接箭头连接符 2"/>
          <p:cNvCxnSpPr/>
          <p:nvPr/>
        </p:nvCxnSpPr>
        <p:spPr>
          <a:xfrm>
            <a:off x="2832100" y="3903345"/>
            <a:ext cx="690880" cy="33401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V="1">
            <a:off x="4939665" y="3016885"/>
            <a:ext cx="979170" cy="55245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7611745" y="3408045"/>
            <a:ext cx="736600" cy="64516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540760" y="4545965"/>
            <a:ext cx="1943100" cy="52197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Learnable</a:t>
            </a: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3365500" y="3693795"/>
            <a:ext cx="943610" cy="254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4516755" y="1217930"/>
            <a:ext cx="967105" cy="114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6268085" y="1229360"/>
            <a:ext cx="805180" cy="1143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6071870" y="4545965"/>
            <a:ext cx="2104390" cy="52197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Overfitting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Result-baseline 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18" name="图片 3" descr="IMG_25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55" y="775335"/>
            <a:ext cx="8638540" cy="36696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文本框 18"/>
          <p:cNvSpPr txBox="1"/>
          <p:nvPr/>
        </p:nvSpPr>
        <p:spPr>
          <a:xfrm>
            <a:off x="775335" y="1092835"/>
            <a:ext cx="4653915" cy="521970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  <a:sym typeface="+mn-ea"/>
              </a:rPr>
              <a:t>better </a:t>
            </a:r>
            <a:r>
              <a:rPr lang="en-US" altLang="zh-CN" sz="2800" b="1">
                <a:solidFill>
                  <a:schemeClr val="bg1"/>
                </a:solidFill>
              </a:rPr>
              <a:t>CLOSED question </a:t>
            </a:r>
          </a:p>
        </p:txBody>
      </p:sp>
      <p:cxnSp>
        <p:nvCxnSpPr>
          <p:cNvPr id="20" name="直接箭头连接符 19"/>
          <p:cNvCxnSpPr/>
          <p:nvPr/>
        </p:nvCxnSpPr>
        <p:spPr>
          <a:xfrm flipH="1">
            <a:off x="1282065" y="1600835"/>
            <a:ext cx="420370" cy="87249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787775" y="2221865"/>
            <a:ext cx="4855845" cy="52197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Low generalization ability</a:t>
            </a:r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832475" y="3338830"/>
            <a:ext cx="2654935" cy="0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headEnd type="arrow" w="med" len="med"/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451350" y="4445000"/>
            <a:ext cx="4542155" cy="5588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zh-CN" sz="2800" b="1">
                <a:solidFill>
                  <a:schemeClr val="bg1"/>
                </a:solidFill>
              </a:rPr>
              <a:t>Category imbalance</a:t>
            </a:r>
          </a:p>
        </p:txBody>
      </p:sp>
      <p:cxnSp>
        <p:nvCxnSpPr>
          <p:cNvPr id="24" name="直接箭头连接符 23"/>
          <p:cNvCxnSpPr>
            <a:stCxn id="23" idx="0"/>
          </p:cNvCxnSpPr>
          <p:nvPr/>
        </p:nvCxnSpPr>
        <p:spPr>
          <a:xfrm flipH="1" flipV="1">
            <a:off x="6380480" y="3731895"/>
            <a:ext cx="342265" cy="713105"/>
          </a:xfrm>
          <a:prstGeom prst="straightConnector1">
            <a:avLst/>
          </a:prstGeom>
          <a:ln>
            <a:solidFill>
              <a:srgbClr val="4E75A3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Generative Model</a:t>
            </a:r>
          </a:p>
        </p:txBody>
      </p:sp>
      <p:pic>
        <p:nvPicPr>
          <p:cNvPr id="93595450" name="Picture 1" descr="A graph with a line&#10;&#10;AI-generated content may be incorrect.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04" y="857568"/>
            <a:ext cx="2705100" cy="2028825"/>
          </a:xfrm>
          <a:prstGeom prst="rect">
            <a:avLst/>
          </a:prstGeom>
        </p:spPr>
      </p:pic>
      <p:cxnSp>
        <p:nvCxnSpPr>
          <p:cNvPr id="2" name="直接箭头连接符 1"/>
          <p:cNvCxnSpPr/>
          <p:nvPr/>
        </p:nvCxnSpPr>
        <p:spPr>
          <a:xfrm>
            <a:off x="902104" y="1397318"/>
            <a:ext cx="48895" cy="859790"/>
          </a:xfrm>
          <a:prstGeom prst="straightConnector1">
            <a:avLst/>
          </a:prstGeom>
          <a:ln>
            <a:solidFill>
              <a:schemeClr val="accent3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1183409" y="2436178"/>
            <a:ext cx="1476375" cy="635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086504" y="1073153"/>
            <a:ext cx="573116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1600" b="1" i="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Finding</a:t>
            </a:r>
            <a:r>
              <a:rPr lang="en-US" altLang="zh-CN" sz="1600" b="0" i="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: 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rapid decline in the initial stage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loss curve enters a plateau</a:t>
            </a:r>
            <a:r>
              <a:rPr lang="zh-CN" altLang="en-US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after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en-MY" altLang="zh-CN" sz="1600" dirty="0" err="1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poch</a:t>
            </a: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5</a:t>
            </a:r>
            <a:endParaRPr lang="en-US" altLang="zh-CN" sz="1600" b="0" i="0" dirty="0">
              <a:solidFill>
                <a:srgbClr val="0F1115"/>
              </a:solidFill>
              <a:latin typeface="Arial" panose="020B0604020202020204" pitchFamily="34" charset="0"/>
              <a:ea typeface="quote-cjk-patch"/>
              <a:cs typeface="Arial" panose="020B0604020202020204" pitchFamily="34" charset="0"/>
            </a:endParaRPr>
          </a:p>
          <a:p>
            <a:pPr lvl="1">
              <a:spcBef>
                <a:spcPct val="0"/>
              </a:spcBef>
              <a:spcAft>
                <a:spcPct val="0"/>
              </a:spcAft>
              <a:buSzTx/>
            </a:pP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quote-cjk-patch"/>
              </a:rPr>
              <a:t>Why quickly decline ?</a:t>
            </a:r>
          </a:p>
          <a:p>
            <a:pPr lvl="1">
              <a:spcBef>
                <a:spcPct val="0"/>
              </a:spcBef>
              <a:spcAft>
                <a:spcPct val="0"/>
              </a:spcAft>
              <a:buSzTx/>
            </a:pPr>
            <a:r>
              <a:rPr lang="en-MY" altLang="zh-CN" sz="1600" dirty="0">
                <a:solidFill>
                  <a:srgbClr val="0F111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CLIP and GPT-2 are pre-trained and frozen</a:t>
            </a:r>
            <a:endParaRPr lang="en-US" altLang="zh-CN" sz="1600" dirty="0">
              <a:solidFill>
                <a:srgbClr val="0F111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800" b="1" dirty="0">
                <a:solidFill>
                  <a:schemeClr val="accent4">
                    <a:lumMod val="75000"/>
                  </a:schemeClr>
                </a:solidFill>
                <a:latin typeface="quote-cjk-patch"/>
                <a:ea typeface="quote-cjk-patch"/>
              </a:rPr>
              <a:t>What has been proved? </a:t>
            </a:r>
          </a:p>
          <a:p>
            <a:pPr lvl="1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Learning rate (1e-4) and </a:t>
            </a:r>
            <a:r>
              <a:rPr lang="en-US" altLang="zh-CN" sz="1600" dirty="0" err="1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AdamW</a:t>
            </a:r>
            <a:r>
              <a:rPr lang="en-US" altLang="zh-CN" sz="1600" dirty="0">
                <a:solidFill>
                  <a:srgbClr val="0F1115"/>
                </a:solidFill>
                <a:latin typeface="Arial" panose="020B0604020202020204" pitchFamily="34" charset="0"/>
                <a:ea typeface="quote-cjk-patch"/>
                <a:cs typeface="Arial" panose="020B0604020202020204" pitchFamily="34" charset="0"/>
              </a:rPr>
              <a:t> optimizer appropriately set</a:t>
            </a: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3407392"/>
              </p:ext>
            </p:extLst>
          </p:nvPr>
        </p:nvGraphicFramePr>
        <p:xfrm>
          <a:off x="381404" y="3200328"/>
          <a:ext cx="8381192" cy="1617976"/>
        </p:xfrm>
        <a:graphic>
          <a:graphicData uri="http://schemas.openxmlformats.org/drawingml/2006/table">
            <a:tbl>
              <a:tblPr/>
              <a:tblGrid>
                <a:gridCol w="2779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0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6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5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803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Question Type</a:t>
                      </a: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BLEU-1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BERTScore-F1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Closed-Ended Questions</a:t>
                      </a: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63.03%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Open-Ended Questions</a:t>
                      </a: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0.084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1" i="0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0.911</a:t>
                      </a: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0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Overall</a:t>
                      </a:r>
                    </a:p>
                  </a:txBody>
                  <a:tcPr marL="0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36.00%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</a:p>
                  </a:txBody>
                  <a:tcPr marL="152717" marR="152717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zh-CN" sz="1400" b="0" i="0" dirty="0">
                          <a:solidFill>
                            <a:srgbClr val="0F1115"/>
                          </a:solidFill>
                          <a:latin typeface="Arial" panose="020B0604020202020204" pitchFamily="34" charset="0"/>
                          <a:ea typeface="quote-cjk-patch"/>
                          <a:cs typeface="Arial" panose="020B0604020202020204" pitchFamily="34" charset="0"/>
                        </a:rPr>
                        <a:t>–</a:t>
                      </a:r>
                    </a:p>
                  </a:txBody>
                  <a:tcPr marL="152717" marR="0" marT="95567" marB="9556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文本框 35"/>
          <p:cNvSpPr txBox="1"/>
          <p:nvPr/>
        </p:nvSpPr>
        <p:spPr>
          <a:xfrm>
            <a:off x="6590638" y="-692388"/>
            <a:ext cx="2158365" cy="394335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 anchor="t">
            <a:noAutofit/>
          </a:bodyPr>
          <a:lstStyle/>
          <a:p>
            <a:r>
              <a:rPr lang="en-US" altLang="zh-CN" sz="1600" b="1">
                <a:solidFill>
                  <a:schemeClr val="bg1"/>
                </a:solidFill>
              </a:rPr>
              <a:t>Core Contradiction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0" y="-76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</a:rPr>
              <a:t>Result-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Generative Model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75335"/>
            <a:ext cx="9144000" cy="4016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Experimental Differences and Impact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MY" altLang="zh-CN" sz="1600" b="1" dirty="0"/>
              <a:t>Longer and fixed-length sequences </a:t>
            </a:r>
            <a:r>
              <a:rPr lang="en-MY" altLang="zh-CN" sz="1600" dirty="0"/>
              <a:t>(lx = 10, </a:t>
            </a:r>
            <a:r>
              <a:rPr lang="en-MY" altLang="zh-CN" sz="1600" dirty="0" err="1"/>
              <a:t>lq</a:t>
            </a:r>
            <a:r>
              <a:rPr lang="en-MY" altLang="zh-CN" sz="1600" dirty="0"/>
              <a:t>/la = 128)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dilute the injection of visual information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MY" altLang="zh-CN" sz="1600" b="1" dirty="0">
                <a:solidFill>
                  <a:schemeClr val="accent4">
                    <a:lumMod val="75000"/>
                  </a:schemeClr>
                </a:solidFill>
              </a:rPr>
              <a:t>GPT2-base</a:t>
            </a:r>
            <a:r>
              <a:rPr lang="en-MY" altLang="zh-CN" sz="1600" b="1" dirty="0"/>
              <a:t> rather than </a:t>
            </a:r>
            <a:r>
              <a:rPr lang="en-MY" altLang="zh-CN" sz="1600" b="1" dirty="0">
                <a:solidFill>
                  <a:schemeClr val="accent4">
                    <a:lumMod val="75000"/>
                  </a:schemeClr>
                </a:solidFill>
              </a:rPr>
              <a:t>GPT2-XL</a:t>
            </a: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en-MY" altLang="zh-CN" sz="1600" dirty="0"/>
              <a:t>restrict the model’s ability to produce precise lexical forms</a:t>
            </a:r>
            <a:endParaRPr lang="en-US" altLang="zh-CN" sz="1600" dirty="0">
              <a:solidFill>
                <a:schemeClr val="accent4">
                  <a:lumMod val="75000"/>
                </a:schemeClr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MY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F</a:t>
            </a:r>
            <a:r>
              <a:rPr lang="en-MY" altLang="zh-CN" sz="1600" b="1" dirty="0"/>
              <a:t>rozen rather than fine-tuning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constrains surface-form accuracy 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MY" altLang="zh-CN" sz="2000" b="1" dirty="0" err="1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nteresting</a:t>
            </a:r>
            <a:r>
              <a:rPr lang="en-MY" altLang="zh-CN" sz="2000" b="1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findings 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High BERTScore-F1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captures the clinically </a:t>
            </a:r>
            <a:r>
              <a:rPr lang="en-MY" altLang="zh-CN" sz="1600" dirty="0">
                <a:solidFill>
                  <a:schemeClr val="accent4">
                    <a:lumMod val="75000"/>
                  </a:schemeClr>
                </a:solidFill>
              </a:rPr>
              <a:t>relevant meaning </a:t>
            </a:r>
            <a:r>
              <a:rPr lang="en-MY" altLang="zh-CN" sz="1600" dirty="0"/>
              <a:t>of answers 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  <a:ea typeface="JetBrains Mono"/>
              <a:cs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Lower </a:t>
            </a:r>
            <a:r>
              <a:rPr lang="en-MY" altLang="zh-CN" b="1" dirty="0"/>
              <a:t>BLEU</a:t>
            </a:r>
            <a:r>
              <a:rPr lang="en-MY" altLang="zh-CN" dirty="0"/>
              <a:t>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</a:t>
            </a:r>
            <a:r>
              <a:rPr lang="en-MY" altLang="zh-CN" sz="1600" dirty="0"/>
              <a:t>highly </a:t>
            </a:r>
            <a:r>
              <a:rPr lang="en-MY" altLang="zh-CN" sz="1600" dirty="0">
                <a:solidFill>
                  <a:schemeClr val="accent4">
                    <a:lumMod val="75000"/>
                  </a:schemeClr>
                </a:solidFill>
              </a:rPr>
              <a:t>sensitive</a:t>
            </a:r>
            <a:r>
              <a:rPr lang="en-MY" altLang="zh-CN" sz="1600" dirty="0"/>
              <a:t> to free-form answers</a:t>
            </a:r>
            <a:endParaRPr lang="en-US" altLang="zh-CN" sz="1600" dirty="0"/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n"/>
            </a:pP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Closed Question Robustness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: The binary classification task </a:t>
            </a:r>
            <a:r>
              <a:rPr lang="en-US" altLang="zh-CN" sz="16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meets the basic benchmark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JetBrains Mono"/>
                <a:cs typeface="Arial" panose="020B0604020202020204" pitchFamily="34" charset="0"/>
              </a:rPr>
              <a:t>of generative models.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;p2">
            <a:extLst>
              <a:ext uri="{FF2B5EF4-FFF2-40B4-BE49-F238E27FC236}">
                <a16:creationId xmlns:a16="http://schemas.microsoft.com/office/drawing/2014/main" id="{0ABFCDBE-7CA7-5C64-5B84-FBD79EDF7D93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2">
            <a:extLst>
              <a:ext uri="{FF2B5EF4-FFF2-40B4-BE49-F238E27FC236}">
                <a16:creationId xmlns:a16="http://schemas.microsoft.com/office/drawing/2014/main" id="{58A0E081-0E98-3F08-3712-2C5CD6A950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76"/>
            <a:ext cx="8083685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Discussion</a:t>
            </a:r>
            <a:r>
              <a:rPr lang="zh-CN" altLang="en-US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Baseline vs. </a:t>
            </a:r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Generative Model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0BB678C-F47E-5FCF-4289-CC6AABF89A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83329"/>
              </p:ext>
            </p:extLst>
          </p:nvPr>
        </p:nvGraphicFramePr>
        <p:xfrm>
          <a:off x="640404" y="942475"/>
          <a:ext cx="786319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1064">
                  <a:extLst>
                    <a:ext uri="{9D8B030D-6E8A-4147-A177-3AD203B41FA5}">
                      <a16:colId xmlns:a16="http://schemas.microsoft.com/office/drawing/2014/main" val="1752045859"/>
                    </a:ext>
                  </a:extLst>
                </a:gridCol>
                <a:gridCol w="2621064">
                  <a:extLst>
                    <a:ext uri="{9D8B030D-6E8A-4147-A177-3AD203B41FA5}">
                      <a16:colId xmlns:a16="http://schemas.microsoft.com/office/drawing/2014/main" val="219998825"/>
                    </a:ext>
                  </a:extLst>
                </a:gridCol>
                <a:gridCol w="2621064">
                  <a:extLst>
                    <a:ext uri="{9D8B030D-6E8A-4147-A177-3AD203B41FA5}">
                      <a16:colId xmlns:a16="http://schemas.microsoft.com/office/drawing/2014/main" val="36096795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Acc(only Closed Questions)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Overall Acc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210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altLang="zh-C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CNN–LSTM baseline</a:t>
                      </a:r>
                      <a:r>
                        <a:rPr lang="en-MY" altLang="zh-CN" dirty="0">
                          <a:effectLst/>
                        </a:rPr>
                        <a:t> 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48%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33.8%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8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Generative Model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63.03%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36.0%</a:t>
                      </a:r>
                      <a:endParaRPr lang="zh-CN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755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Gap</a:t>
                      </a:r>
                      <a:endParaRPr lang="zh-CN" altLang="en-US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~15%</a:t>
                      </a:r>
                      <a:endParaRPr lang="zh-CN" alt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accent4">
                              <a:lumMod val="75000"/>
                            </a:schemeClr>
                          </a:solidFill>
                        </a:rPr>
                        <a:t>~3%</a:t>
                      </a:r>
                      <a:endParaRPr lang="zh-CN" altLang="en-US" dirty="0">
                        <a:solidFill>
                          <a:schemeClr val="accent4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6059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74B3D26D-419B-70A1-55E7-FF71142FDA44}"/>
              </a:ext>
            </a:extLst>
          </p:cNvPr>
          <p:cNvSpPr txBox="1"/>
          <p:nvPr/>
        </p:nvSpPr>
        <p:spPr>
          <a:xfrm>
            <a:off x="175098" y="2717666"/>
            <a:ext cx="882460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Quantitative analysis </a:t>
            </a:r>
            <a:r>
              <a:rPr lang="en-MY" altLang="zh-CN" sz="1800" dirty="0"/>
              <a:t>:  Notable improvement of around </a:t>
            </a:r>
            <a:r>
              <a:rPr lang="en-MY" altLang="zh-CN" sz="1800" dirty="0">
                <a:solidFill>
                  <a:schemeClr val="accent4">
                    <a:lumMod val="75000"/>
                  </a:schemeClr>
                </a:solidFill>
              </a:rPr>
              <a:t>15% </a:t>
            </a:r>
            <a:r>
              <a:rPr lang="en-MY" altLang="zh-CN" sz="1800" dirty="0"/>
              <a:t>points in diagnostic correctness for closed-end questions</a:t>
            </a:r>
          </a:p>
          <a:p>
            <a:endParaRPr kumimoji="1" lang="en-MY" altLang="zh-CN" sz="1800" dirty="0"/>
          </a:p>
          <a:p>
            <a:r>
              <a:rPr kumimoji="1"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Limitation of Baseline</a:t>
            </a:r>
            <a:r>
              <a:rPr kumimoji="1" lang="en-MY" altLang="zh-CN" sz="1800" dirty="0"/>
              <a:t>: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overfitting</a:t>
            </a:r>
            <a:r>
              <a:rPr kumimoji="1" lang="en-MY" altLang="zh-CN" sz="1800" dirty="0"/>
              <a:t>, limited generalization</a:t>
            </a:r>
          </a:p>
          <a:p>
            <a:endParaRPr kumimoji="1" lang="en-MY" altLang="zh-CN" sz="1800" dirty="0"/>
          </a:p>
          <a:p>
            <a:r>
              <a:rPr kumimoji="1" lang="en-US" altLang="zh-CN" sz="1800" b="1" dirty="0">
                <a:solidFill>
                  <a:schemeClr val="accent4">
                    <a:lumMod val="75000"/>
                  </a:schemeClr>
                </a:solidFill>
              </a:rPr>
              <a:t>Improvement of Generative Model</a:t>
            </a:r>
            <a:r>
              <a:rPr kumimoji="1" lang="en-US" altLang="zh-CN" sz="1800" dirty="0"/>
              <a:t>:</a:t>
            </a:r>
            <a:r>
              <a:rPr kumimoji="1" lang="en-MY" altLang="zh-CN" sz="1800" dirty="0"/>
              <a:t> better generalization without updating the large-scale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pre-trained</a:t>
            </a:r>
            <a:r>
              <a:rPr kumimoji="1" lang="en-MY" altLang="zh-CN" sz="1800" dirty="0"/>
              <a:t> backbones </a:t>
            </a:r>
            <a:endParaRPr kumimoji="1" lang="zh-CN" alt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5FD59E1A-AB5F-BC84-5850-510CBDA6B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8;p2">
            <a:extLst>
              <a:ext uri="{FF2B5EF4-FFF2-40B4-BE49-F238E27FC236}">
                <a16:creationId xmlns:a16="http://schemas.microsoft.com/office/drawing/2014/main" id="{B9E25A06-2137-0432-B89D-74CEF298FA8C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79;p2">
            <a:extLst>
              <a:ext uri="{FF2B5EF4-FFF2-40B4-BE49-F238E27FC236}">
                <a16:creationId xmlns:a16="http://schemas.microsoft.com/office/drawing/2014/main" id="{1628F800-A3DD-B760-165D-86D023FA3B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76"/>
            <a:ext cx="8824608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lvl="0"/>
            <a:r>
              <a:rPr lang="en-US" altLang="zh-CN" sz="3600" b="1" dirty="0">
                <a:solidFill>
                  <a:schemeClr val="bg1"/>
                </a:solidFill>
                <a:sym typeface="+mn-ea"/>
              </a:rPr>
              <a:t>Discussion</a:t>
            </a:r>
            <a:r>
              <a:rPr lang="zh-CN" altLang="en-US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：</a:t>
            </a: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Language</a:t>
            </a:r>
            <a:r>
              <a:rPr lang="en-MY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 Quality &amp; Hallucination Risk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E0AE385-3872-037F-6DE0-66EC35AE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729385"/>
              </p:ext>
            </p:extLst>
          </p:nvPr>
        </p:nvGraphicFramePr>
        <p:xfrm>
          <a:off x="319392" y="775176"/>
          <a:ext cx="85035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2">
                  <a:extLst>
                    <a:ext uri="{9D8B030D-6E8A-4147-A177-3AD203B41FA5}">
                      <a16:colId xmlns:a16="http://schemas.microsoft.com/office/drawing/2014/main" val="1752045859"/>
                    </a:ext>
                  </a:extLst>
                </a:gridCol>
                <a:gridCol w="1089498">
                  <a:extLst>
                    <a:ext uri="{9D8B030D-6E8A-4147-A177-3AD203B41FA5}">
                      <a16:colId xmlns:a16="http://schemas.microsoft.com/office/drawing/2014/main" val="1178558262"/>
                    </a:ext>
                  </a:extLst>
                </a:gridCol>
                <a:gridCol w="2067127">
                  <a:extLst>
                    <a:ext uri="{9D8B030D-6E8A-4147-A177-3AD203B41FA5}">
                      <a16:colId xmlns:a16="http://schemas.microsoft.com/office/drawing/2014/main" val="48647289"/>
                    </a:ext>
                  </a:extLst>
                </a:gridCol>
                <a:gridCol w="3401438">
                  <a:extLst>
                    <a:ext uri="{9D8B030D-6E8A-4147-A177-3AD203B41FA5}">
                      <a16:colId xmlns:a16="http://schemas.microsoft.com/office/drawing/2014/main" val="219998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Truth </a:t>
                      </a:r>
                      <a:r>
                        <a:rPr lang="en-US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Answer</a:t>
                      </a:r>
                      <a:endParaRPr lang="en-MY" sz="1600" b="1" i="0" u="none" strike="noStrike" cap="none" dirty="0">
                        <a:solidFill>
                          <a:srgbClr val="000000"/>
                        </a:solidFill>
                        <a:latin typeface="Arial" panose="020B0604020202020204"/>
                        <a:ea typeface="Times New Roman" panose="02020603050405020304" pitchFamily="18" charset="0"/>
                        <a:cs typeface="Arial" panose="020B0604020202020204"/>
                        <a:sym typeface="Arial" panose="020B0604020202020204"/>
                      </a:endParaRP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Prediction</a:t>
                      </a: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Metric Outcome</a:t>
                      </a:r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b="1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Interpretation</a:t>
                      </a:r>
                      <a:endParaRPr lang="zh-CN" altLang="en-US" dirty="0"/>
                    </a:p>
                  </a:txBody>
                  <a:tcPr marL="9525" marR="9525" marT="68580" marB="6858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210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the </a:t>
                      </a: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brain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brain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BLEU-4 = 0.065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Identical clinical meaning</a:t>
                      </a:r>
                    </a:p>
                  </a:txBody>
                  <a:tcPr marL="9525" marR="9525" marT="68580" marB="6858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183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right</a:t>
                      </a: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 side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right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EM = 0</a:t>
                      </a:r>
                    </a:p>
                  </a:txBody>
                  <a:tcPr marL="9525" marR="9525" marT="68580" marB="68580"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Missing modifier, correct spatial concept</a:t>
                      </a:r>
                    </a:p>
                  </a:txBody>
                  <a:tcPr marL="9525" marR="9525" marT="68580" marB="6858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7755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diffusion weighted </a:t>
                      </a: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MRI</a:t>
                      </a: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MRI</a:t>
                      </a: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EM = 0</a:t>
                      </a: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</a:pPr>
                      <a:r>
                        <a:rPr lang="en-MY" sz="1600" b="0" i="0" u="none" strike="noStrike" cap="none" dirty="0">
                          <a:solidFill>
                            <a:srgbClr val="000000"/>
                          </a:solidFill>
                          <a:latin typeface="Arial" panose="020B0604020202020204"/>
                          <a:ea typeface="Times New Roman" panose="02020603050405020304" pitchFamily="18" charset="0"/>
                          <a:cs typeface="Arial" panose="020B0604020202020204"/>
                          <a:sym typeface="Arial" panose="020B0604020202020204"/>
                        </a:rPr>
                        <a:t>Correct modality, missing specific subtype</a:t>
                      </a:r>
                    </a:p>
                  </a:txBody>
                  <a:tcPr marL="9525" marR="9525" marT="68580" marB="6858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26059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9C9E8118-2D27-3A2F-D592-F4F584AC9092}"/>
              </a:ext>
            </a:extLst>
          </p:cNvPr>
          <p:cNvSpPr txBox="1"/>
          <p:nvPr/>
        </p:nvSpPr>
        <p:spPr>
          <a:xfrm>
            <a:off x="175098" y="3112175"/>
            <a:ext cx="88246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  <a:ea typeface="Times New Roman" panose="02020603050405020304" pitchFamily="18" charset="0"/>
              </a:rPr>
              <a:t>Finding</a:t>
            </a:r>
            <a:r>
              <a:rPr lang="en-MY" altLang="zh-CN" sz="1800" dirty="0"/>
              <a:t>: Generative model performs poorly on BLEU and Extract </a:t>
            </a:r>
            <a:r>
              <a:rPr lang="en-US" altLang="zh-CN" sz="1800" dirty="0"/>
              <a:t>Match(Accuracy)</a:t>
            </a:r>
            <a:endParaRPr lang="en-MY" altLang="zh-CN" sz="1800" dirty="0"/>
          </a:p>
          <a:p>
            <a:endParaRPr kumimoji="1" lang="en-MY" altLang="zh-CN" sz="1800" dirty="0"/>
          </a:p>
          <a:p>
            <a:r>
              <a:rPr kumimoji="1" lang="en-MY" altLang="zh-CN" sz="1800" b="1" dirty="0" err="1">
                <a:solidFill>
                  <a:schemeClr val="accent4">
                    <a:lumMod val="75000"/>
                  </a:schemeClr>
                </a:solidFill>
              </a:rPr>
              <a:t>Acutual</a:t>
            </a:r>
            <a:r>
              <a:rPr kumimoji="1"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 Result</a:t>
            </a:r>
            <a:r>
              <a:rPr kumimoji="1" lang="en-MY" altLang="zh-CN" sz="1800" dirty="0"/>
              <a:t>: Similar expression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but</a:t>
            </a:r>
            <a:r>
              <a:rPr kumimoji="1" lang="zh-CN" altLang="en-US" sz="1800" dirty="0"/>
              <a:t> </a:t>
            </a:r>
            <a:r>
              <a:rPr kumimoji="1" lang="en-MY" altLang="zh-CN" sz="1800" dirty="0"/>
              <a:t>strict criteria </a:t>
            </a:r>
          </a:p>
          <a:p>
            <a:endParaRPr kumimoji="1" lang="en-MY" altLang="zh-CN" sz="1800" dirty="0"/>
          </a:p>
          <a:p>
            <a:r>
              <a:rPr lang="en-MY" altLang="zh-CN" sz="1800" b="1" dirty="0">
                <a:solidFill>
                  <a:schemeClr val="accent4">
                    <a:lumMod val="75000"/>
                  </a:schemeClr>
                </a:solidFill>
              </a:rPr>
              <a:t>Qualitative analysis </a:t>
            </a:r>
            <a:r>
              <a:rPr kumimoji="1" lang="en-US" altLang="zh-CN" sz="1800" dirty="0"/>
              <a:t>: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M</a:t>
            </a:r>
            <a:r>
              <a:rPr kumimoji="1" lang="en-MY" altLang="zh-CN" sz="1800" dirty="0" err="1"/>
              <a:t>ost</a:t>
            </a:r>
            <a:r>
              <a:rPr kumimoji="1" lang="en-MY" altLang="zh-CN" sz="1800" dirty="0"/>
              <a:t>  errors correspond to </a:t>
            </a:r>
            <a:r>
              <a:rPr kumimoji="1" lang="en-MY" altLang="zh-CN" sz="1800" dirty="0">
                <a:solidFill>
                  <a:schemeClr val="accent4">
                    <a:lumMod val="75000"/>
                  </a:schemeClr>
                </a:solidFill>
              </a:rPr>
              <a:t>soft hallucinations</a:t>
            </a:r>
            <a:r>
              <a:rPr kumimoji="1" lang="zh-CN" altLang="en-US" sz="1800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kumimoji="1" lang="en-US" altLang="zh-CN" sz="1800" dirty="0"/>
              <a:t>rather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than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hard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hallucination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involving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fabricating</a:t>
            </a:r>
            <a:endParaRPr kumimoji="1"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80485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/>
          <p:cNvSpPr txBox="1">
            <a:spLocks noGrp="1"/>
          </p:cNvSpPr>
          <p:nvPr>
            <p:ph type="title"/>
          </p:nvPr>
        </p:nvSpPr>
        <p:spPr>
          <a:xfrm>
            <a:off x="200025" y="0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Limitation</a:t>
            </a:r>
            <a:endParaRPr lang="en-US" altLang="zh-CN" sz="3600" b="1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12" name="图示 11"/>
          <p:cNvGraphicFramePr/>
          <p:nvPr>
            <p:extLst>
              <p:ext uri="{D42A27DB-BD31-4B8C-83A1-F6EECF244321}">
                <p14:modId xmlns:p14="http://schemas.microsoft.com/office/powerpoint/2010/main" val="4122345838"/>
              </p:ext>
            </p:extLst>
          </p:nvPr>
        </p:nvGraphicFramePr>
        <p:xfrm>
          <a:off x="3457575" y="1061085"/>
          <a:ext cx="4983832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AA224BD7-D89D-D829-6C4D-A3BEACB6D1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7018818"/>
              </p:ext>
            </p:extLst>
          </p:nvPr>
        </p:nvGraphicFramePr>
        <p:xfrm>
          <a:off x="899513" y="1061085"/>
          <a:ext cx="2224687" cy="3749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07AAE4BD-CD2F-4787-3066-A428F66F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2">
            <a:extLst>
              <a:ext uri="{FF2B5EF4-FFF2-40B4-BE49-F238E27FC236}">
                <a16:creationId xmlns:a16="http://schemas.microsoft.com/office/drawing/2014/main" id="{CC999B6F-2ECF-703B-75A0-BA518837D90D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69786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2">
            <a:extLst>
              <a:ext uri="{FF2B5EF4-FFF2-40B4-BE49-F238E27FC236}">
                <a16:creationId xmlns:a16="http://schemas.microsoft.com/office/drawing/2014/main" id="{5F298A97-CD47-699A-A37A-AD8A173241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6862" y="0"/>
            <a:ext cx="7421963" cy="775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altLang="zh-CN" sz="3600" b="1" dirty="0">
                <a:solidFill>
                  <a:schemeClr val="bg1"/>
                </a:solidFill>
                <a:ea typeface="宋体" panose="02010600030101010101" pitchFamily="2" charset="-122"/>
              </a:rPr>
              <a:t>Key References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B7B4647-A0CF-F447-0692-748675DD90B9}"/>
              </a:ext>
            </a:extLst>
          </p:cNvPr>
          <p:cNvSpPr txBox="1"/>
          <p:nvPr/>
        </p:nvSpPr>
        <p:spPr>
          <a:xfrm>
            <a:off x="146862" y="696940"/>
            <a:ext cx="876322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Hartsock, I., &amp; Rasool, G. (2024). Vision-language models for medical report generation and visual question answering: A review. </a:t>
            </a:r>
            <a:r>
              <a:rPr lang="en-US" altLang="zh-CN" i="1" dirty="0"/>
              <a:t>Frontiers in Artificial Intelligence</a:t>
            </a:r>
            <a:r>
              <a:rPr lang="en-US" altLang="zh-CN" dirty="0"/>
              <a:t>, </a:t>
            </a:r>
            <a:r>
              <a:rPr lang="en-US" altLang="zh-CN" i="1" dirty="0"/>
              <a:t>7</a:t>
            </a:r>
            <a:r>
              <a:rPr lang="en-US" altLang="zh-CN" dirty="0"/>
              <a:t>, 1430984. https://</a:t>
            </a:r>
            <a:r>
              <a:rPr lang="en-US" altLang="zh-CN" dirty="0" err="1"/>
              <a:t>doi.org</a:t>
            </a:r>
            <a:r>
              <a:rPr lang="en-US" altLang="zh-CN" dirty="0"/>
              <a:t>/10.3389/frai.2024.1430984</a:t>
            </a:r>
            <a:endParaRPr lang="en-MY" altLang="zh-CN" dirty="0"/>
          </a:p>
          <a:p>
            <a:endParaRPr lang="en-US" altLang="zh-CN" dirty="0"/>
          </a:p>
          <a:p>
            <a:r>
              <a:rPr lang="en-US" altLang="zh-CN" dirty="0"/>
              <a:t>Lau, J. J., Gayen, S., Ben Abacha, A., &amp; </a:t>
            </a:r>
            <a:r>
              <a:rPr lang="en-US" altLang="zh-CN" dirty="0" err="1"/>
              <a:t>Demner</a:t>
            </a:r>
            <a:r>
              <a:rPr lang="en-US" altLang="zh-CN" dirty="0"/>
              <a:t>-Fushman, D. (2018). A dataset of clinically generated visual questions and answers about radiology images. </a:t>
            </a:r>
            <a:r>
              <a:rPr lang="en-US" altLang="zh-CN" i="1" dirty="0"/>
              <a:t>Scientific Data</a:t>
            </a:r>
            <a:r>
              <a:rPr lang="en-US" altLang="zh-CN" dirty="0"/>
              <a:t>, </a:t>
            </a:r>
            <a:r>
              <a:rPr lang="en-US" altLang="zh-CN" i="1" dirty="0"/>
              <a:t>5</a:t>
            </a:r>
            <a:r>
              <a:rPr lang="en-US" altLang="zh-CN" dirty="0"/>
              <a:t>(1), 180251. https://</a:t>
            </a:r>
            <a:r>
              <a:rPr lang="en-US" altLang="zh-CN" dirty="0" err="1"/>
              <a:t>doi.org</a:t>
            </a:r>
            <a:r>
              <a:rPr lang="en-US" altLang="zh-CN" dirty="0"/>
              <a:t>/10.1038/sdata.2018.251</a:t>
            </a:r>
            <a:endParaRPr lang="en-MY" altLang="zh-CN" dirty="0"/>
          </a:p>
          <a:p>
            <a:endParaRPr lang="en-US" altLang="zh-CN" dirty="0"/>
          </a:p>
          <a:p>
            <a:r>
              <a:rPr lang="en-US" altLang="zh-CN" dirty="0" err="1"/>
              <a:t>Papineni</a:t>
            </a:r>
            <a:r>
              <a:rPr lang="en-US" altLang="zh-CN" dirty="0"/>
              <a:t>, K., </a:t>
            </a:r>
            <a:r>
              <a:rPr lang="en-US" altLang="zh-CN" dirty="0" err="1"/>
              <a:t>Roukos</a:t>
            </a:r>
            <a:r>
              <a:rPr lang="en-US" altLang="zh-CN" dirty="0"/>
              <a:t>, S., Ward, T., &amp; Zhu, W.-J. (2001). BLEU: A method for automatic evaluation of machine translation. </a:t>
            </a:r>
            <a:r>
              <a:rPr lang="en-US" altLang="zh-CN" i="1" dirty="0"/>
              <a:t>Proceedings of the 40th Annual Meeting on Association for Computational Linguistics  - ACL ’02</a:t>
            </a:r>
            <a:r>
              <a:rPr lang="en-US" altLang="zh-CN" dirty="0"/>
              <a:t>, 311. https://</a:t>
            </a:r>
            <a:r>
              <a:rPr lang="en-US" altLang="zh-CN" dirty="0" err="1"/>
              <a:t>doi.org</a:t>
            </a:r>
            <a:r>
              <a:rPr lang="en-US" altLang="zh-CN" dirty="0"/>
              <a:t>/10.3115/1073083.1073135</a:t>
            </a:r>
            <a:endParaRPr lang="en-MY" altLang="zh-CN" dirty="0"/>
          </a:p>
          <a:p>
            <a:endParaRPr lang="en-US" altLang="zh-CN" dirty="0"/>
          </a:p>
          <a:p>
            <a:r>
              <a:rPr lang="en-US" altLang="zh-CN" dirty="0" err="1"/>
              <a:t>Sonsbeek</a:t>
            </a:r>
            <a:r>
              <a:rPr lang="en-US" altLang="zh-CN" dirty="0"/>
              <a:t>, T. van, Derakhshani, M. M., </a:t>
            </a:r>
            <a:r>
              <a:rPr lang="en-US" altLang="zh-CN" dirty="0" err="1"/>
              <a:t>Najdenkoska</a:t>
            </a:r>
            <a:r>
              <a:rPr lang="en-US" altLang="zh-CN" dirty="0"/>
              <a:t>, I., Snoek, C. G. M., &amp; Worring, M. (2023). </a:t>
            </a:r>
            <a:r>
              <a:rPr lang="en-US" altLang="zh-CN" i="1" dirty="0"/>
              <a:t>Open-Ended Medical Visual Question Answering Through Prefix Tuning of Language Models</a:t>
            </a:r>
            <a:r>
              <a:rPr lang="en-US" altLang="zh-CN" dirty="0"/>
              <a:t> (No. arXiv:2303.05977). </a:t>
            </a:r>
            <a:r>
              <a:rPr lang="en-US" altLang="zh-CN" dirty="0" err="1"/>
              <a:t>arXiv</a:t>
            </a:r>
            <a:r>
              <a:rPr lang="en-US" altLang="zh-CN" dirty="0"/>
              <a:t>. </a:t>
            </a:r>
            <a:r>
              <a:rPr lang="en-US" altLang="zh-CN" dirty="0">
                <a:hlinkClick r:id="rId4"/>
              </a:rPr>
              <a:t>https://doi.org/10.48550/arXiv.2303.05977</a:t>
            </a:r>
            <a:endParaRPr lang="en-US" altLang="zh-CN" dirty="0"/>
          </a:p>
          <a:p>
            <a:endParaRPr lang="en-MY" altLang="zh-CN" dirty="0"/>
          </a:p>
          <a:p>
            <a:r>
              <a:rPr lang="en-US" altLang="zh-CN" dirty="0"/>
              <a:t>Zhang, T., Kishore, V., Wu, F., Weinberger, K. Q., &amp; Artzi, Y. (2020). </a:t>
            </a:r>
            <a:r>
              <a:rPr lang="en-US" altLang="zh-CN" i="1" dirty="0" err="1"/>
              <a:t>BERTScore</a:t>
            </a:r>
            <a:r>
              <a:rPr lang="en-US" altLang="zh-CN" i="1" dirty="0"/>
              <a:t>: Evaluating text generation with BERT</a:t>
            </a:r>
            <a:r>
              <a:rPr lang="en-US" altLang="zh-CN" dirty="0"/>
              <a:t> (No. arXiv:1904.09675). </a:t>
            </a:r>
            <a:r>
              <a:rPr lang="en-US" altLang="zh-CN" dirty="0" err="1"/>
              <a:t>arXiv</a:t>
            </a:r>
            <a:r>
              <a:rPr lang="en-US" altLang="zh-CN" dirty="0"/>
              <a:t>. https://</a:t>
            </a:r>
            <a:r>
              <a:rPr lang="en-US" altLang="zh-CN" dirty="0" err="1"/>
              <a:t>doi.org</a:t>
            </a:r>
            <a:r>
              <a:rPr lang="en-US" altLang="zh-CN" dirty="0"/>
              <a:t>/10.48550/arXiv.1904.09675</a:t>
            </a:r>
            <a:endParaRPr lang="en-MY" altLang="zh-CN" dirty="0"/>
          </a:p>
        </p:txBody>
      </p:sp>
    </p:spTree>
    <p:extLst>
      <p:ext uri="{BB962C8B-B14F-4D97-AF65-F5344CB8AC3E}">
        <p14:creationId xmlns:p14="http://schemas.microsoft.com/office/powerpoint/2010/main" val="36267778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"/>
          <p:cNvPicPr preferRelativeResize="0"/>
          <p:nvPr/>
        </p:nvPicPr>
        <p:blipFill rotWithShape="1">
          <a:blip r:embed="rId3"/>
          <a:srcRect b="8619"/>
          <a:stretch>
            <a:fillRect/>
          </a:stretch>
        </p:blipFill>
        <p:spPr>
          <a:xfrm>
            <a:off x="0" y="-6985"/>
            <a:ext cx="9144000" cy="300926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"/>
          <p:cNvSpPr txBox="1"/>
          <p:nvPr/>
        </p:nvSpPr>
        <p:spPr>
          <a:xfrm>
            <a:off x="2498071" y="1131106"/>
            <a:ext cx="3957357" cy="1016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 panose="020F0502020204030204"/>
              <a:buNone/>
            </a:pPr>
            <a:r>
              <a:rPr lang="en-US" sz="3600" b="1" dirty="0">
                <a:solidFill>
                  <a:srgbClr val="FFFFFF"/>
                </a:solidFill>
              </a:rPr>
              <a:t>THAN</a:t>
            </a:r>
            <a:r>
              <a:rPr lang="en-US" altLang="zh-CN" sz="3600" b="1" dirty="0">
                <a:solidFill>
                  <a:srgbClr val="FFFFFF"/>
                </a:solidFill>
              </a:rPr>
              <a:t>K</a:t>
            </a:r>
            <a:r>
              <a:rPr lang="en-US" sz="3600" b="1" dirty="0">
                <a:solidFill>
                  <a:srgbClr val="FFFFFF"/>
                </a:solidFill>
              </a:rPr>
              <a:t> YOU</a:t>
            </a:r>
            <a:endParaRPr sz="1100" b="1" i="0" u="none" strike="noStrike" cap="none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61*148"/>
  <p:tag name="TABLE_ENDDRAG_RECT" val="202*60*461*14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81*188"/>
  <p:tag name="TABLE_ENDDRAG_RECT" val="44*219*581*188"/>
</p:tagLst>
</file>

<file path=ppt/theme/theme1.xml><?xml version="1.0" encoding="utf-8"?>
<a:theme xmlns:a="http://schemas.openxmlformats.org/drawingml/2006/main" name="Office Theme">
  <a:themeElements>
    <a:clrScheme name="Paper">
      <a:dk1>
        <a:srgbClr val="000000"/>
      </a:dk1>
      <a:lt1>
        <a:srgbClr val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1507</Words>
  <Application>Microsoft Macintosh PowerPoint</Application>
  <PresentationFormat>全屏显示(16:9)</PresentationFormat>
  <Paragraphs>239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宋体</vt:lpstr>
      <vt:lpstr>Arial MT</vt:lpstr>
      <vt:lpstr>Arial Unicode MS</vt:lpstr>
      <vt:lpstr>quote-cjk-patch</vt:lpstr>
      <vt:lpstr>Arial</vt:lpstr>
      <vt:lpstr>Calibri</vt:lpstr>
      <vt:lpstr>Times New Roman</vt:lpstr>
      <vt:lpstr>Wingdings</vt:lpstr>
      <vt:lpstr>Office Theme</vt:lpstr>
      <vt:lpstr>Simple Light</vt:lpstr>
      <vt:lpstr>PowerPoint 演示文稿</vt:lpstr>
      <vt:lpstr> Introduction</vt:lpstr>
      <vt:lpstr> RQs/ROs</vt:lpstr>
      <vt:lpstr> Methods-baseline architecture</vt:lpstr>
      <vt:lpstr> Methods-baseline architecture</vt:lpstr>
      <vt:lpstr> Methods-baseline architecture</vt:lpstr>
      <vt:lpstr> Methods-Generative Model Architecture</vt:lpstr>
      <vt:lpstr> Methods-Generative Model Architecture</vt:lpstr>
      <vt:lpstr> Methods-Generative Model Architecture</vt:lpstr>
      <vt:lpstr>Result-baseline </vt:lpstr>
      <vt:lpstr>Result-baseline </vt:lpstr>
      <vt:lpstr>Result-Generative Model</vt:lpstr>
      <vt:lpstr>Result-Generative Model</vt:lpstr>
      <vt:lpstr>Discussion：Baseline vs.  Generative Model</vt:lpstr>
      <vt:lpstr>Discussion：Language Quality &amp; Hallucination Risk</vt:lpstr>
      <vt:lpstr>Limitation</vt:lpstr>
      <vt:lpstr>Key References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shiernee saw</dc:creator>
  <cp:lastModifiedBy>ZHONG JUN PEI</cp:lastModifiedBy>
  <cp:revision>230</cp:revision>
  <dcterms:created xsi:type="dcterms:W3CDTF">2026-01-11T04:44:00Z</dcterms:created>
  <dcterms:modified xsi:type="dcterms:W3CDTF">2026-01-16T05:33:00Z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oAppVersion">
    <vt:lpwstr>0.17.1.1417</vt:lpwstr>
  </property>
  <property fmtid="{D5CDD505-2E9C-101B-9397-08002B2CF9AE}" pid="3" name="KSOProductBuildVer">
    <vt:lpwstr>2052-12.1.0.24657</vt:lpwstr>
  </property>
  <property fmtid="{D5CDD505-2E9C-101B-9397-08002B2CF9AE}" pid="4" name="ICV">
    <vt:lpwstr>BB7536458E3B41899896659986F44323_12</vt:lpwstr>
  </property>
</Properties>
</file>