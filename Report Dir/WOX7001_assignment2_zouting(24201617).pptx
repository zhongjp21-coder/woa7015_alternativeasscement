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50" r:id="rId3"/>
  </p:sldMasterIdLst>
  <p:notesMasterIdLst>
    <p:notesMasterId r:id="rId5"/>
  </p:notesMasterIdLst>
  <p:sldIdLst>
    <p:sldId id="256" r:id="rId4"/>
    <p:sldId id="257" r:id="rId6"/>
    <p:sldId id="319" r:id="rId7"/>
    <p:sldId id="320" r:id="rId8"/>
    <p:sldId id="321" r:id="rId9"/>
    <p:sldId id="322" r:id="rId10"/>
    <p:sldId id="330" r:id="rId11"/>
    <p:sldId id="331" r:id="rId12"/>
    <p:sldId id="323" r:id="rId13"/>
    <p:sldId id="324" r:id="rId14"/>
    <p:sldId id="325" r:id="rId15"/>
    <p:sldId id="326" r:id="rId16"/>
    <p:sldId id="327" r:id="rId17"/>
    <p:sldId id="328" r:id="rId18"/>
    <p:sldId id="329" r:id="rId19"/>
    <p:sldId id="296" r:id="rId20"/>
  </p:sldIdLst>
  <p:sldSz cx="9144000" cy="5143500" type="screen16x9"/>
  <p:notesSz cx="6858000" cy="9144000"/>
  <p:embeddedFontLst>
    <p:embeddedFont>
      <p:font typeface="Calibri" panose="020F0502020204030204"/>
      <p:regular r:id="rId24"/>
    </p:embeddedFont>
    <p:embeddedFont>
      <p:font typeface="Arial Unicode MS" panose="020B0604020202020204" charset="-122"/>
      <p:regular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521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E6CC"/>
    <a:srgbClr val="DAE8FC"/>
    <a:srgbClr val="E1D5E7"/>
    <a:srgbClr val="D5E8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vertBarState="maximized">
    <p:restoredLeft sz="15620"/>
    <p:restoredTop sz="72325" autoAdjust="0"/>
  </p:normalViewPr>
  <p:slideViewPr>
    <p:cSldViewPr snapToGrid="0" showGuides="1">
      <p:cViewPr>
        <p:scale>
          <a:sx n="75" d="100"/>
          <a:sy n="75" d="100"/>
        </p:scale>
        <p:origin x="-1002" y="-72"/>
      </p:cViewPr>
      <p:guideLst>
        <p:guide orient="horz" pos="1521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5" Type="http://schemas.openxmlformats.org/officeDocument/2006/relationships/font" Target="fonts/font2.fntdata"/><Relationship Id="rId24" Type="http://schemas.openxmlformats.org/officeDocument/2006/relationships/font" Target="fonts/font1.fntdata"/><Relationship Id="rId23" Type="http://schemas.openxmlformats.org/officeDocument/2006/relationships/tableStyles" Target="tableStyles.xml"/><Relationship Id="rId22" Type="http://schemas.openxmlformats.org/officeDocument/2006/relationships/viewProps" Target="viewProps.xml"/><Relationship Id="rId21" Type="http://schemas.openxmlformats.org/officeDocument/2006/relationships/presProps" Target="presProps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●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○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■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●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○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■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●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○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■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68" name="Google Shape;6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 smtClean="0"/>
              <a:t>we </a:t>
            </a:r>
            <a:r>
              <a:rPr lang="en-US" altLang="zh-CN" dirty="0" smtClean="0"/>
              <a:t>will address this topic through the following four aspects, and will </a:t>
            </a:r>
            <a:r>
              <a:rPr lang="en-US" altLang="zh-CN" dirty="0" smtClean="0"/>
              <a:t>discuss several </a:t>
            </a:r>
            <a:r>
              <a:rPr lang="en-US" altLang="zh-CN" dirty="0" smtClean="0"/>
              <a:t>key questions among them.</a:t>
            </a:r>
            <a:endParaRPr lang="en-US" altLang="zh-CN" dirty="0" smtClean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 smtClean="0"/>
              <a:t>we </a:t>
            </a:r>
            <a:r>
              <a:rPr lang="en-US" altLang="zh-CN" dirty="0" smtClean="0"/>
              <a:t>will address this topic through the following four aspects, and will </a:t>
            </a:r>
            <a:r>
              <a:rPr lang="en-US" altLang="zh-CN" dirty="0" smtClean="0"/>
              <a:t>discuss several </a:t>
            </a:r>
            <a:r>
              <a:rPr lang="en-US" altLang="zh-CN" dirty="0" smtClean="0"/>
              <a:t>key questions among them.</a:t>
            </a:r>
            <a:endParaRPr lang="en-US" altLang="zh-CN" dirty="0" smtClean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 smtClean="0"/>
              <a:t>we </a:t>
            </a:r>
            <a:r>
              <a:rPr lang="en-US" altLang="zh-CN" dirty="0" smtClean="0"/>
              <a:t>will address this topic through the following four aspects, and will </a:t>
            </a:r>
            <a:r>
              <a:rPr lang="en-US" altLang="zh-CN" dirty="0" smtClean="0"/>
              <a:t>discuss several </a:t>
            </a:r>
            <a:r>
              <a:rPr lang="en-US" altLang="zh-CN" dirty="0" smtClean="0"/>
              <a:t>key questions among them.</a:t>
            </a:r>
            <a:endParaRPr lang="en-US" altLang="zh-CN" dirty="0" smtClean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 smtClean="0"/>
              <a:t>we </a:t>
            </a:r>
            <a:r>
              <a:rPr lang="en-US" altLang="zh-CN" dirty="0" smtClean="0"/>
              <a:t>will address this topic through the following four aspects, and will </a:t>
            </a:r>
            <a:r>
              <a:rPr lang="en-US" altLang="zh-CN" dirty="0" smtClean="0"/>
              <a:t>discuss several </a:t>
            </a:r>
            <a:r>
              <a:rPr lang="en-US" altLang="zh-CN" dirty="0" smtClean="0"/>
              <a:t>key questions among them.</a:t>
            </a:r>
            <a:endParaRPr lang="en-US" altLang="zh-CN" dirty="0" smtClean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 smtClean="0"/>
              <a:t>we </a:t>
            </a:r>
            <a:r>
              <a:rPr lang="en-US" altLang="zh-CN" dirty="0" smtClean="0"/>
              <a:t>will address this topic through the following four aspects, and will </a:t>
            </a:r>
            <a:r>
              <a:rPr lang="en-US" altLang="zh-CN" dirty="0" smtClean="0"/>
              <a:t>discuss several </a:t>
            </a:r>
            <a:r>
              <a:rPr lang="en-US" altLang="zh-CN" dirty="0" smtClean="0"/>
              <a:t>key questions among them.</a:t>
            </a:r>
            <a:endParaRPr lang="en-US" altLang="zh-CN" dirty="0" smtClean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 smtClean="0"/>
              <a:t>we </a:t>
            </a:r>
            <a:r>
              <a:rPr lang="en-US" altLang="zh-CN" dirty="0" smtClean="0"/>
              <a:t>will address this topic through the following four aspects, and will </a:t>
            </a:r>
            <a:r>
              <a:rPr lang="en-US" altLang="zh-CN" dirty="0" smtClean="0"/>
              <a:t>discuss several </a:t>
            </a:r>
            <a:r>
              <a:rPr lang="en-US" altLang="zh-CN" dirty="0" smtClean="0"/>
              <a:t>key questions among them.</a:t>
            </a:r>
            <a:endParaRPr lang="en-US" altLang="zh-CN" dirty="0" smtClean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 smtClean="0"/>
              <a:t>we </a:t>
            </a:r>
            <a:r>
              <a:rPr lang="en-US" altLang="zh-CN" dirty="0" smtClean="0"/>
              <a:t>will address this topic through the following four aspects, and will </a:t>
            </a:r>
            <a:r>
              <a:rPr lang="en-US" altLang="zh-CN" dirty="0" smtClean="0"/>
              <a:t>discuss several </a:t>
            </a:r>
            <a:r>
              <a:rPr lang="en-US" altLang="zh-CN" dirty="0" smtClean="0"/>
              <a:t>key questions among them.</a:t>
            </a:r>
            <a:endParaRPr lang="en-US" altLang="zh-CN" dirty="0" smtClean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 smtClean="0"/>
              <a:t>we </a:t>
            </a:r>
            <a:r>
              <a:rPr lang="en-US" altLang="zh-CN" dirty="0" smtClean="0"/>
              <a:t>will address this topic through the following four aspects, and will </a:t>
            </a:r>
            <a:r>
              <a:rPr lang="en-US" altLang="zh-CN" dirty="0" smtClean="0"/>
              <a:t>discuss several </a:t>
            </a:r>
            <a:r>
              <a:rPr lang="en-US" altLang="zh-CN" dirty="0" smtClean="0"/>
              <a:t>key questions among them.</a:t>
            </a:r>
            <a:endParaRPr lang="en-US" altLang="zh-CN" dirty="0" smtClean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 smtClean="0"/>
              <a:t>we </a:t>
            </a:r>
            <a:r>
              <a:rPr lang="en-US" altLang="zh-CN" dirty="0" smtClean="0"/>
              <a:t>will address this topic through the following four aspects, and will </a:t>
            </a:r>
            <a:r>
              <a:rPr lang="en-US" altLang="zh-CN" dirty="0" smtClean="0"/>
              <a:t>discuss several </a:t>
            </a:r>
            <a:r>
              <a:rPr lang="en-US" altLang="zh-CN" dirty="0" smtClean="0"/>
              <a:t>key questions among them.</a:t>
            </a:r>
            <a:endParaRPr lang="en-US" altLang="zh-CN" dirty="0" smtClean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 smtClean="0"/>
              <a:t>we </a:t>
            </a:r>
            <a:r>
              <a:rPr lang="en-US" altLang="zh-CN" dirty="0" smtClean="0"/>
              <a:t>will address this topic through the following four aspects, and will </a:t>
            </a:r>
            <a:r>
              <a:rPr lang="en-US" altLang="zh-CN" dirty="0" smtClean="0"/>
              <a:t>discuss several </a:t>
            </a:r>
            <a:r>
              <a:rPr lang="en-US" altLang="zh-CN" dirty="0" smtClean="0"/>
              <a:t>key questions among them.</a:t>
            </a:r>
            <a:endParaRPr lang="en-US" altLang="zh-CN" dirty="0" smtClean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 smtClean="0"/>
              <a:t>we </a:t>
            </a:r>
            <a:r>
              <a:rPr lang="en-US" altLang="zh-CN" dirty="0" smtClean="0"/>
              <a:t>will address this topic through the following four aspects, and will </a:t>
            </a:r>
            <a:r>
              <a:rPr lang="en-US" altLang="zh-CN" dirty="0" smtClean="0"/>
              <a:t>discuss several </a:t>
            </a:r>
            <a:r>
              <a:rPr lang="en-US" altLang="zh-CN" dirty="0" smtClean="0"/>
              <a:t>key questions among them.</a:t>
            </a:r>
            <a:endParaRPr lang="en-US" altLang="zh-CN" dirty="0" smtClean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 smtClean="0"/>
              <a:t>we </a:t>
            </a:r>
            <a:r>
              <a:rPr lang="en-US" altLang="zh-CN" dirty="0" smtClean="0"/>
              <a:t>will address this topic through the following four aspects, and will </a:t>
            </a:r>
            <a:r>
              <a:rPr lang="en-US" altLang="zh-CN" dirty="0" smtClean="0"/>
              <a:t>discuss several </a:t>
            </a:r>
            <a:r>
              <a:rPr lang="en-US" altLang="zh-CN" dirty="0" smtClean="0"/>
              <a:t>key questions among them.</a:t>
            </a:r>
            <a:endParaRPr lang="en-US" altLang="zh-CN" dirty="0" smtClean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 smtClean="0"/>
              <a:t>we </a:t>
            </a:r>
            <a:r>
              <a:rPr lang="en-US" altLang="zh-CN" dirty="0" smtClean="0"/>
              <a:t>will address this topic through the following four aspects, and will </a:t>
            </a:r>
            <a:r>
              <a:rPr lang="en-US" altLang="zh-CN" dirty="0" smtClean="0"/>
              <a:t>discuss several </a:t>
            </a:r>
            <a:r>
              <a:rPr lang="en-US" altLang="zh-CN" dirty="0" smtClean="0"/>
              <a:t>key questions among them.</a:t>
            </a:r>
            <a:endParaRPr lang="en-US" altLang="zh-CN" dirty="0" smtClean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 smtClean="0"/>
              <a:t>we </a:t>
            </a:r>
            <a:r>
              <a:rPr lang="en-US" altLang="zh-CN" dirty="0" smtClean="0"/>
              <a:t>will address this topic through the following four aspects, and will </a:t>
            </a:r>
            <a:r>
              <a:rPr lang="en-US" altLang="zh-CN" dirty="0" smtClean="0"/>
              <a:t>discuss several </a:t>
            </a:r>
            <a:r>
              <a:rPr lang="en-US" altLang="zh-CN" dirty="0" smtClean="0"/>
              <a:t>key questions among them.</a:t>
            </a:r>
            <a:endParaRPr lang="en-US" altLang="zh-CN" dirty="0" smtClean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  <p:sp>
        <p:nvSpPr>
          <p:cNvPr id="68" name="Google Shape;6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Title and Content">
  <p:cSld name="OBJECT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3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Google Shape;13;p33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4" name="Google Shape;14;p3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Google Shape;15;p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Google Shape;16;p3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36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27" name="Google Shape;27;p36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28" name="Google Shape;28;p3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3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31" name="Google Shape;31;p3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 matchingName="Title and body">
  <p:cSld name="TITLE_AND_BODY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3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4" name="Google Shape;34;p3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5" name="Google Shape;35;p3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matchingName="Title and two columns">
  <p:cSld name="TITLE_AND_TWO_COLUMN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3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8" name="Google Shape;38;p3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9" name="Google Shape;39;p39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0" name="Google Shape;40;p3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4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3" name="Google Shape;43;p4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41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6" name="Google Shape;46;p41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7" name="Google Shape;47;p4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2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50" name="Google Shape;50;p4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4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3" name="Google Shape;53;p43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54" name="Google Shape;54;p43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55" name="Google Shape;55;p43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6" name="Google Shape;56;p4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44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59" name="Google Shape;59;p4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45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62" name="Google Shape;62;p45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3" name="Google Shape;63;p4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4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0.xml"/><Relationship Id="rId8" Type="http://schemas.openxmlformats.org/officeDocument/2006/relationships/slideLayout" Target="../slideLayouts/slideLayout9.xml"/><Relationship Id="rId7" Type="http://schemas.openxmlformats.org/officeDocument/2006/relationships/slideLayout" Target="../slideLayouts/slideLayout8.xml"/><Relationship Id="rId6" Type="http://schemas.openxmlformats.org/officeDocument/2006/relationships/slideLayout" Target="../slideLayouts/slideLayout7.xml"/><Relationship Id="rId5" Type="http://schemas.openxmlformats.org/officeDocument/2006/relationships/slideLayout" Target="../slideLayouts/slideLayout6.xml"/><Relationship Id="rId4" Type="http://schemas.openxmlformats.org/officeDocument/2006/relationships/slideLayout" Target="../slideLayouts/slideLayout5.xml"/><Relationship Id="rId3" Type="http://schemas.openxmlformats.org/officeDocument/2006/relationships/slideLayout" Target="../slideLayouts/slideLayout4.xml"/><Relationship Id="rId2" Type="http://schemas.openxmlformats.org/officeDocument/2006/relationships/slideLayout" Target="../slideLayouts/slideLayout3.xml"/><Relationship Id="rId12" Type="http://schemas.openxmlformats.org/officeDocument/2006/relationships/theme" Target="../theme/theme2.xml"/><Relationship Id="rId11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1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2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 panose="020F0502020204030204"/>
              <a:buNone/>
              <a:defRPr sz="33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7" name="Google Shape;7;p3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/>
              <a:buChar char="•"/>
              <a:defRPr sz="21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Char char="•"/>
              <a:defRPr sz="1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8" name="Google Shape;8;p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9" name="Google Shape;9;p3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0" name="Google Shape;10;p3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23" name="Google Shape;23;p3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20204"/>
              <a:buChar char="●"/>
              <a:defRPr sz="18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○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■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●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○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■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●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○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■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24" name="Google Shape;24;p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5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9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0.png"/><Relationship Id="rId2" Type="http://schemas.openxmlformats.org/officeDocument/2006/relationships/tags" Target="../tags/tag1.xml"/><Relationship Id="rId1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1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1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5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1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70;p1"/>
          <p:cNvPicPr preferRelativeResize="0"/>
          <p:nvPr/>
        </p:nvPicPr>
        <p:blipFill rotWithShape="1">
          <a:blip r:embed="rId1"/>
          <a:srcRect b="8619"/>
          <a:stretch>
            <a:fillRect/>
          </a:stretch>
        </p:blipFill>
        <p:spPr>
          <a:xfrm>
            <a:off x="0" y="-6985"/>
            <a:ext cx="9144000" cy="300926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" name="表格 2"/>
          <p:cNvGraphicFramePr/>
          <p:nvPr/>
        </p:nvGraphicFramePr>
        <p:xfrm>
          <a:off x="986155" y="3310255"/>
          <a:ext cx="639953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99765"/>
                <a:gridCol w="3199765"/>
              </a:tblGrid>
              <a:tr h="381000">
                <a:tc>
                  <a:txBody>
                    <a:bodyPr/>
                    <a:p>
                      <a:pPr marL="66675" indent="0" algn="r">
                        <a:lnSpc>
                          <a:spcPct val="18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 b="1">
                          <a:solidFill>
                            <a:schemeClr val="tx1"/>
                          </a:solidFill>
                          <a:ea typeface="Arial MT"/>
                          <a:sym typeface="+mn-ea"/>
                        </a:rPr>
                        <a:t>Name (</a:t>
                      </a:r>
                      <a:r>
                        <a:rPr lang="en-US" altLang="zh-CN" sz="1200" b="1">
                          <a:solidFill>
                            <a:schemeClr val="tx1"/>
                          </a:solidFill>
                          <a:latin typeface="Arial" panose="020B0604020202020204"/>
                          <a:ea typeface="Arial MT"/>
                        </a:rPr>
                        <a:t>Matric Number)</a:t>
                      </a:r>
                      <a:endParaRPr lang="en-US" altLang="zh-CN" sz="1200" b="1">
                        <a:solidFill>
                          <a:schemeClr val="tx1"/>
                        </a:solidFill>
                        <a:latin typeface="Arial" panose="020B0604020202020204"/>
                        <a:ea typeface="Arial MT"/>
                      </a:endParaRPr>
                    </a:p>
                  </a:txBody>
                  <a:tcPr marL="0" marR="0" marT="0" marB="0" anchor="t" anchorCtr="0">
                    <a:noFill/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ct val="18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 b="1">
                          <a:solidFill>
                            <a:schemeClr val="tx1"/>
                          </a:solidFill>
                          <a:sym typeface="+mn-ea"/>
                        </a:rPr>
                        <a:t>ZOU TING (</a:t>
                      </a:r>
                      <a:r>
                        <a:rPr lang="en-US" altLang="zh-CN" sz="1200" b="1">
                          <a:solidFill>
                            <a:schemeClr val="tx1"/>
                          </a:solidFill>
                          <a:latin typeface="Arial" panose="020B0604020202020204"/>
                          <a:ea typeface="Arial" panose="020B0604020202020204"/>
                        </a:rPr>
                        <a:t>24201617)</a:t>
                      </a:r>
                      <a:endParaRPr lang="en-US" altLang="zh-CN" sz="1200" b="1">
                        <a:solidFill>
                          <a:schemeClr val="tx1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  <a:p>
                      <a:pPr marL="0" indent="0" algn="r">
                        <a:lnSpc>
                          <a:spcPct val="18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 b="1">
                          <a:solidFill>
                            <a:schemeClr val="tx1"/>
                          </a:solidFill>
                          <a:latin typeface="Arial" panose="020B0604020202020204"/>
                          <a:ea typeface="Arial" panose="020B0604020202020204"/>
                        </a:rPr>
                        <a:t>ZHONG JUNPEI(24214748)</a:t>
                      </a:r>
                      <a:endParaRPr lang="en-US" altLang="zh-CN" sz="1200" b="1">
                        <a:solidFill>
                          <a:schemeClr val="tx1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0" marR="0" marT="0" marB="0" anchor="t" anchorCtr="0">
                    <a:noFill/>
                  </a:tcPr>
                </a:tc>
              </a:tr>
              <a:tr h="381000">
                <a:tc>
                  <a:txBody>
                    <a:bodyPr/>
                    <a:p>
                      <a:pPr marL="66675" indent="0" algn="r">
                        <a:lnSpc>
                          <a:spcPct val="18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 b="1">
                          <a:solidFill>
                            <a:schemeClr val="tx1"/>
                          </a:solidFill>
                          <a:latin typeface="Arial" panose="020B0604020202020204"/>
                          <a:ea typeface="Arial MT"/>
                        </a:rPr>
                        <a:t>Course </a:t>
                      </a:r>
                      <a:endParaRPr lang="en-US" altLang="zh-CN" sz="1200" b="1">
                        <a:solidFill>
                          <a:schemeClr val="tx1"/>
                        </a:solidFill>
                        <a:latin typeface="Arial" panose="020B0604020202020204"/>
                        <a:ea typeface="Arial MT"/>
                      </a:endParaRPr>
                    </a:p>
                  </a:txBody>
                  <a:tcPr marL="0" marR="0" marT="0" marB="0" anchor="t" anchorCtr="0">
                    <a:noFill/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ct val="18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 b="1">
                          <a:solidFill>
                            <a:schemeClr val="tx1"/>
                          </a:solidFill>
                          <a:latin typeface="Arial" panose="020B0604020202020204"/>
                          <a:ea typeface="Arial" panose="020B0604020202020204"/>
                        </a:rPr>
                        <a:t>WOA7015 – Advanced Machine Learning</a:t>
                      </a:r>
                      <a:endParaRPr lang="en-US" altLang="zh-CN" sz="1200" b="1">
                        <a:solidFill>
                          <a:schemeClr val="tx1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0" marR="0" marT="0" marB="0" anchor="t" anchorCtr="0">
                    <a:noFill/>
                  </a:tcPr>
                </a:tc>
              </a:tr>
              <a:tr h="381000">
                <a:tc>
                  <a:txBody>
                    <a:bodyPr/>
                    <a:p>
                      <a:pPr marL="66675" indent="0" algn="r">
                        <a:lnSpc>
                          <a:spcPct val="18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 b="1">
                          <a:solidFill>
                            <a:schemeClr val="tx1"/>
                          </a:solidFill>
                          <a:latin typeface="Arial" panose="020B0604020202020204"/>
                          <a:ea typeface="Arial MT"/>
                        </a:rPr>
                        <a:t>Lecturer Name</a:t>
                      </a:r>
                      <a:endParaRPr lang="en-US" altLang="zh-CN" sz="1200" b="1">
                        <a:solidFill>
                          <a:schemeClr val="tx1"/>
                        </a:solidFill>
                        <a:latin typeface="Arial" panose="020B0604020202020204"/>
                        <a:ea typeface="Arial MT"/>
                      </a:endParaRPr>
                    </a:p>
                  </a:txBody>
                  <a:tcPr marL="0" marR="0" marT="0" marB="0" anchor="t" anchorCtr="0">
                    <a:noFill/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ct val="18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 b="1">
                          <a:solidFill>
                            <a:schemeClr val="tx1"/>
                          </a:solidFill>
                          <a:latin typeface="Arial" panose="020B0604020202020204"/>
                          <a:ea typeface="Arial" panose="020B0604020202020204"/>
                        </a:rPr>
                        <a:t>Dr. SAW SHIER NEE (OCC1)</a:t>
                      </a:r>
                      <a:endParaRPr lang="en-US" altLang="zh-CN" sz="1200" b="1">
                        <a:solidFill>
                          <a:schemeClr val="tx1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0" marR="0" marT="0" marB="0" anchor="t" anchorCtr="0">
                    <a:noFill/>
                  </a:tcPr>
                </a:tc>
              </a:tr>
            </a:tbl>
          </a:graphicData>
        </a:graphic>
      </p:graphicFrame>
      <p:sp>
        <p:nvSpPr>
          <p:cNvPr id="7" name="Google Shape;71;p1"/>
          <p:cNvSpPr txBox="1"/>
          <p:nvPr/>
        </p:nvSpPr>
        <p:spPr>
          <a:xfrm>
            <a:off x="986118" y="306189"/>
            <a:ext cx="7540500" cy="219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FFFFFF"/>
              </a:buClr>
              <a:buSzPts val="3600"/>
            </a:pPr>
            <a:r>
              <a:rPr lang="en-US" altLang="zh-CN" sz="2800" b="1" i="0" u="none" strike="noStrike" cap="none" dirty="0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A Comparative Study of CNN Baseline Classifier and LLM-Based Model for Medical Visual Question Answersing</a:t>
            </a:r>
            <a:endParaRPr lang="en-US" altLang="zh-CN" sz="2800" b="1" i="0" u="none" strike="noStrike" cap="none" dirty="0">
              <a:solidFill>
                <a:schemeClr val="bg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 Introduction</a:t>
            </a:r>
            <a:endParaRPr lang="en-US" altLang="zh-CN" sz="3600" b="1" dirty="0">
              <a:solidFill>
                <a:schemeClr val="bg1"/>
              </a:solidFill>
            </a:endParaRPr>
          </a:p>
        </p:txBody>
      </p:sp>
      <p:pic>
        <p:nvPicPr>
          <p:cNvPr id="4" name="图片 3"/>
          <p:cNvPicPr/>
          <p:nvPr/>
        </p:nvPicPr>
        <p:blipFill>
          <a:blip r:embed="rId2"/>
          <a:stretch>
            <a:fillRect/>
          </a:stretch>
        </p:blipFill>
        <p:spPr>
          <a:xfrm>
            <a:off x="245428" y="945198"/>
            <a:ext cx="8486775" cy="132397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734060" y="2517140"/>
            <a:ext cx="7270115" cy="608330"/>
          </a:xfrm>
          <a:prstGeom prst="rect">
            <a:avLst/>
          </a:prstGeom>
        </p:spPr>
        <p:txBody>
          <a:bodyPr>
            <a:noAutofit/>
          </a:bodyPr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 sz="2400" b="0" i="0">
                <a:solidFill>
                  <a:srgbClr val="2E3033"/>
                </a:solidFill>
                <a:latin typeface="Arial" panose="020B0604020202020204"/>
                <a:ea typeface="Arial" panose="020B0604020202020204"/>
              </a:rPr>
              <a:t>Demands for </a:t>
            </a:r>
            <a:r>
              <a:rPr lang="en-US" altLang="zh-CN" sz="2400" b="1" i="0">
                <a:solidFill>
                  <a:srgbClr val="2E3033"/>
                </a:solidFill>
                <a:latin typeface="Arial" panose="020B0604020202020204"/>
                <a:ea typeface="Arial" panose="020B0604020202020204"/>
              </a:rPr>
              <a:t>"understanding medical images"</a:t>
            </a:r>
            <a:endParaRPr lang="en-US" altLang="zh-CN" sz="2400" b="1" i="0">
              <a:solidFill>
                <a:srgbClr val="2E3033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6" name="下箭头 5"/>
          <p:cNvSpPr/>
          <p:nvPr/>
        </p:nvSpPr>
        <p:spPr>
          <a:xfrm>
            <a:off x="3869690" y="3077210"/>
            <a:ext cx="702310" cy="523875"/>
          </a:xfrm>
          <a:prstGeom prst="down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365125" y="3791585"/>
            <a:ext cx="8438515" cy="953135"/>
          </a:xfrm>
          <a:prstGeom prst="rect">
            <a:avLst/>
          </a:prstGeom>
        </p:spPr>
        <p:txBody>
          <a:bodyPr wrap="square">
            <a:spAutoFit/>
          </a:bodyPr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 sz="2800" b="1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how to evaluate the performance</a:t>
            </a:r>
            <a:r>
              <a:rPr lang="en-US" altLang="zh-CN" sz="28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 of closed-ended and open-ended questions</a:t>
            </a:r>
            <a:r>
              <a:rPr lang="zh-CN" altLang="en-US" sz="28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？</a:t>
            </a:r>
            <a:endParaRPr lang="zh-CN" altLang="en-US" sz="28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 RQs/ROs</a:t>
            </a:r>
            <a:endParaRPr lang="en-US" altLang="zh-CN" sz="3600" b="1" dirty="0">
              <a:solidFill>
                <a:schemeClr val="bg1"/>
              </a:solidFill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365125" y="1066165"/>
            <a:ext cx="3915410" cy="180721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 sz="1800" b="1">
                <a:solidFill>
                  <a:schemeClr val="tx1"/>
                </a:solidFill>
                <a:highlight>
                  <a:srgbClr val="FFFF00"/>
                </a:highlight>
              </a:rPr>
              <a:t>Which model</a:t>
            </a:r>
            <a:r>
              <a:rPr lang="en-US" altLang="zh-CN" sz="1800">
                <a:solidFill>
                  <a:schemeClr val="tx1"/>
                </a:solidFill>
              </a:rPr>
              <a:t>, baseline or VLM, </a:t>
            </a:r>
            <a:r>
              <a:rPr lang="en-US" altLang="zh-CN" sz="1800" b="1">
                <a:solidFill>
                  <a:schemeClr val="tx1"/>
                </a:solidFill>
                <a:highlight>
                  <a:srgbClr val="FFFF00"/>
                </a:highlight>
              </a:rPr>
              <a:t>performs better</a:t>
            </a:r>
            <a:r>
              <a:rPr lang="en-US" altLang="zh-CN" sz="1800">
                <a:solidFill>
                  <a:schemeClr val="tx1"/>
                </a:solidFill>
              </a:rPr>
              <a:t> in answering closed-ended questions about radiology images? How big is the gap between the two models?</a:t>
            </a:r>
            <a:endParaRPr lang="en-US" altLang="zh-CN" sz="1800">
              <a:solidFill>
                <a:schemeClr val="tx1"/>
              </a:solidFill>
            </a:endParaRPr>
          </a:p>
        </p:txBody>
      </p:sp>
      <p:sp>
        <p:nvSpPr>
          <p:cNvPr id="10" name="圆角矩形 9"/>
          <p:cNvSpPr/>
          <p:nvPr/>
        </p:nvSpPr>
        <p:spPr>
          <a:xfrm>
            <a:off x="364490" y="3096895"/>
            <a:ext cx="3916045" cy="184023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800">
                <a:solidFill>
                  <a:schemeClr val="tx1"/>
                </a:solidFill>
              </a:rPr>
              <a:t>How is the expression quality of large visual language models(VLM) in medical </a:t>
            </a:r>
            <a:r>
              <a:rPr lang="en-US" altLang="zh-CN" sz="1800" b="1">
                <a:solidFill>
                  <a:schemeClr val="tx1"/>
                </a:solidFill>
                <a:highlight>
                  <a:srgbClr val="FFFF00"/>
                </a:highlight>
              </a:rPr>
              <a:t>open-ended question answering?</a:t>
            </a:r>
            <a:r>
              <a:rPr lang="en-US" altLang="zh-CN" sz="1800">
                <a:solidFill>
                  <a:schemeClr val="tx1"/>
                </a:solidFill>
              </a:rPr>
              <a:t> What is the risk that the content it generates may cause hallucinations?</a:t>
            </a:r>
            <a:endParaRPr lang="en-US" altLang="zh-CN" sz="1800">
              <a:solidFill>
                <a:schemeClr val="tx1"/>
              </a:solidFill>
            </a:endParaRPr>
          </a:p>
        </p:txBody>
      </p:sp>
      <p:sp>
        <p:nvSpPr>
          <p:cNvPr id="11" name="圆角矩形 10"/>
          <p:cNvSpPr/>
          <p:nvPr/>
        </p:nvSpPr>
        <p:spPr>
          <a:xfrm>
            <a:off x="4674870" y="1028700"/>
            <a:ext cx="4119245" cy="1989455"/>
          </a:xfrm>
          <a:prstGeom prst="roundRect">
            <a:avLst/>
          </a:prstGeom>
          <a:solidFill>
            <a:schemeClr val="tx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800">
                <a:solidFill>
                  <a:schemeClr val="tx1"/>
                </a:solidFill>
              </a:rPr>
              <a:t>Construct a unified evaluation framework, calculate closed classification indicators </a:t>
            </a:r>
            <a:r>
              <a:rPr lang="en-US" altLang="zh-CN" sz="1800" b="1">
                <a:solidFill>
                  <a:schemeClr val="tx1"/>
                </a:solidFill>
              </a:rPr>
              <a:t>(Overall Acc, Macro-F1), calculate the gap</a:t>
            </a:r>
            <a:r>
              <a:rPr lang="en-US" altLang="zh-CN" sz="1800">
                <a:solidFill>
                  <a:schemeClr val="tx1"/>
                </a:solidFill>
              </a:rPr>
              <a:t>, and evaluate and output the classification results under the two routes respectively.</a:t>
            </a:r>
            <a:endParaRPr lang="en-US" altLang="zh-CN" sz="1800">
              <a:solidFill>
                <a:schemeClr val="tx1"/>
              </a:solidFill>
            </a:endParaRPr>
          </a:p>
        </p:txBody>
      </p:sp>
      <p:sp>
        <p:nvSpPr>
          <p:cNvPr id="12" name="圆角矩形 11"/>
          <p:cNvSpPr/>
          <p:nvPr/>
        </p:nvSpPr>
        <p:spPr>
          <a:xfrm>
            <a:off x="4616450" y="3096895"/>
            <a:ext cx="4177665" cy="1916430"/>
          </a:xfrm>
          <a:prstGeom prst="roundRect">
            <a:avLst/>
          </a:prstGeom>
          <a:solidFill>
            <a:schemeClr val="tx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olidFill>
                  <a:schemeClr val="tx1"/>
                </a:solidFill>
              </a:rPr>
              <a:t>Use </a:t>
            </a:r>
            <a:r>
              <a:rPr lang="en-US" altLang="zh-CN" b="1">
                <a:solidFill>
                  <a:schemeClr val="tx1"/>
                </a:solidFill>
              </a:rPr>
              <a:t>language similarity metrics (BLEU, ROUGE-L, METEOR</a:t>
            </a:r>
            <a:r>
              <a:rPr lang="en-US" altLang="zh-CN">
                <a:solidFill>
                  <a:schemeClr val="tx1"/>
                </a:solidFill>
              </a:rPr>
              <a:t>, etc.) and human assistance to evaluate the expression quality of open-ended questions. Conduct sensitivity analysis on repetitive questions, systematically quantify the expression quality and illusion risk of answers generated by vlm, and formulate specific operation guidelines to reduce risks.</a:t>
            </a:r>
            <a:endParaRPr lang="en-US" altLang="zh-CN">
              <a:solidFill>
                <a:schemeClr val="tx1"/>
              </a:solidFill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1805305" y="697865"/>
            <a:ext cx="8096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800" b="1"/>
              <a:t>RQs</a:t>
            </a:r>
            <a:endParaRPr lang="en-US" altLang="zh-CN" sz="1800" b="1"/>
          </a:p>
        </p:txBody>
      </p:sp>
      <p:sp>
        <p:nvSpPr>
          <p:cNvPr id="14" name="文本框 13"/>
          <p:cNvSpPr txBox="1"/>
          <p:nvPr/>
        </p:nvSpPr>
        <p:spPr>
          <a:xfrm>
            <a:off x="6329045" y="697865"/>
            <a:ext cx="8096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800" b="1"/>
              <a:t>ROs</a:t>
            </a:r>
            <a:endParaRPr lang="en-US" altLang="zh-CN" sz="1800" b="1"/>
          </a:p>
        </p:txBody>
      </p:sp>
      <p:sp>
        <p:nvSpPr>
          <p:cNvPr id="15" name="右箭头 14"/>
          <p:cNvSpPr/>
          <p:nvPr/>
        </p:nvSpPr>
        <p:spPr>
          <a:xfrm>
            <a:off x="4202430" y="1722120"/>
            <a:ext cx="583565" cy="428625"/>
          </a:xfrm>
          <a:prstGeom prst="rightArrow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右箭头 15"/>
          <p:cNvSpPr/>
          <p:nvPr/>
        </p:nvSpPr>
        <p:spPr>
          <a:xfrm>
            <a:off x="4202430" y="3646805"/>
            <a:ext cx="583565" cy="428625"/>
          </a:xfrm>
          <a:prstGeom prst="rightArrow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下弧形箭头 17"/>
          <p:cNvSpPr/>
          <p:nvPr/>
        </p:nvSpPr>
        <p:spPr>
          <a:xfrm rot="5400000">
            <a:off x="3100705" y="2851785"/>
            <a:ext cx="2065020" cy="671830"/>
          </a:xfrm>
          <a:prstGeom prst="curvedUpArrow">
            <a:avLst>
              <a:gd name="adj1" fmla="val 25000"/>
              <a:gd name="adj2" fmla="val 68862"/>
              <a:gd name="adj3" fmla="val 45085"/>
            </a:avLst>
          </a:prstGeom>
        </p:spPr>
        <p:style>
          <a:lnRef idx="0">
            <a:srgbClr val="FFFFFF"/>
          </a:lnRef>
          <a:fillRef idx="1">
            <a:schemeClr val="accent6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4187190" y="3216275"/>
            <a:ext cx="4770120" cy="1383665"/>
          </a:xfrm>
          <a:prstGeom prst="rect">
            <a:avLst/>
          </a:prstGeom>
        </p:spPr>
        <p:txBody>
          <a:bodyPr wrap="square">
            <a:spAutoFit/>
          </a:bodyPr>
          <a:p>
            <a:pPr marL="457200" indent="-457200" defTabSz="2667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2800">
                <a:latin typeface="Arial Unicode MS" panose="020B0604020202020204" charset="-122"/>
                <a:ea typeface="Arial Unicode MS" panose="020B0604020202020204" charset="-122"/>
              </a:rPr>
              <a:t>Vocabulary construction</a:t>
            </a:r>
            <a:endParaRPr lang="en-US" altLang="zh-CN" sz="2800">
              <a:latin typeface="Arial Unicode MS" panose="020B0604020202020204" charset="-122"/>
              <a:ea typeface="Arial Unicode MS" panose="020B0604020202020204" charset="-122"/>
            </a:endParaRPr>
          </a:p>
          <a:p>
            <a:pPr marL="457200" indent="-457200" defTabSz="2667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2800">
                <a:latin typeface="Arial Unicode MS" panose="020B0604020202020204" charset="-122"/>
                <a:ea typeface="Arial Unicode MS" panose="020B0604020202020204" charset="-122"/>
              </a:rPr>
              <a:t>Answer mapping </a:t>
            </a:r>
            <a:endParaRPr lang="en-US" altLang="zh-CN" sz="2800">
              <a:latin typeface="Arial Unicode MS" panose="020B0604020202020204" charset="-122"/>
              <a:ea typeface="Arial Unicode MS" panose="020B0604020202020204" charset="-122"/>
            </a:endParaRPr>
          </a:p>
        </p:txBody>
      </p:sp>
      <p:pic>
        <p:nvPicPr>
          <p:cNvPr id="78" name="Google Shape;78;p2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 Methods-baseline </a:t>
            </a:r>
            <a:r>
              <a:rPr lang="en-US" altLang="zh-CN" sz="3600" b="1" dirty="0">
                <a:solidFill>
                  <a:schemeClr val="bg1"/>
                </a:solidFill>
                <a:ea typeface="宋体" panose="02010600030101010101" pitchFamily="2" charset="-122"/>
              </a:rPr>
              <a:t>architecture</a:t>
            </a:r>
            <a:endParaRPr lang="en-US" altLang="zh-CN" sz="3600" b="1" dirty="0">
              <a:solidFill>
                <a:schemeClr val="bg1"/>
              </a:solidFill>
              <a:ea typeface="宋体" panose="02010600030101010101" pitchFamily="2" charset="-122"/>
            </a:endParaRPr>
          </a:p>
        </p:txBody>
      </p:sp>
      <p:pic>
        <p:nvPicPr>
          <p:cNvPr id="2" name="图片 1" descr="报告用图-第 2 页.drawio"/>
          <p:cNvPicPr>
            <a:picLocks noChangeAspect="1"/>
          </p:cNvPicPr>
          <p:nvPr/>
        </p:nvPicPr>
        <p:blipFill>
          <a:blip r:embed="rId2"/>
          <a:srcRect l="8260"/>
          <a:stretch>
            <a:fillRect/>
          </a:stretch>
        </p:blipFill>
        <p:spPr>
          <a:xfrm>
            <a:off x="107315" y="847090"/>
            <a:ext cx="3568700" cy="4147185"/>
          </a:xfrm>
          <a:prstGeom prst="rect">
            <a:avLst/>
          </a:prstGeom>
        </p:spPr>
      </p:pic>
      <p:sp>
        <p:nvSpPr>
          <p:cNvPr id="4" name="圆角矩形 3"/>
          <p:cNvSpPr/>
          <p:nvPr/>
        </p:nvSpPr>
        <p:spPr>
          <a:xfrm>
            <a:off x="4269740" y="1668145"/>
            <a:ext cx="1272540" cy="127190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 sz="3600" b="1">
                <a:solidFill>
                  <a:schemeClr val="tx1"/>
                </a:solidFill>
              </a:rPr>
              <a:t>70%</a:t>
            </a:r>
            <a:endParaRPr lang="en-US" altLang="zh-CN" sz="3600" b="1">
              <a:solidFill>
                <a:schemeClr val="tx1"/>
              </a:solidFill>
            </a:endParaRPr>
          </a:p>
        </p:txBody>
      </p:sp>
      <p:sp>
        <p:nvSpPr>
          <p:cNvPr id="5" name="圆角矩形 4"/>
          <p:cNvSpPr/>
          <p:nvPr/>
        </p:nvSpPr>
        <p:spPr>
          <a:xfrm>
            <a:off x="5851525" y="1668145"/>
            <a:ext cx="1261110" cy="1271905"/>
          </a:xfrm>
          <a:prstGeom prst="roundRect">
            <a:avLst/>
          </a:prstGeom>
          <a:solidFill>
            <a:schemeClr val="tx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3200" b="1">
                <a:solidFill>
                  <a:schemeClr val="tx1"/>
                </a:solidFill>
              </a:rPr>
              <a:t>15%</a:t>
            </a:r>
            <a:endParaRPr lang="en-US" altLang="zh-CN" sz="3200" b="1">
              <a:solidFill>
                <a:schemeClr val="tx1"/>
              </a:solidFill>
            </a:endParaRPr>
          </a:p>
        </p:txBody>
      </p:sp>
      <p:sp>
        <p:nvSpPr>
          <p:cNvPr id="6" name="圆角矩形 5"/>
          <p:cNvSpPr/>
          <p:nvPr/>
        </p:nvSpPr>
        <p:spPr>
          <a:xfrm>
            <a:off x="7421880" y="1668145"/>
            <a:ext cx="1261110" cy="1271905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3200" b="1">
                <a:solidFill>
                  <a:schemeClr val="tx1"/>
                </a:solidFill>
              </a:rPr>
              <a:t>15%</a:t>
            </a:r>
            <a:endParaRPr lang="en-US" altLang="zh-CN" sz="3200" b="1">
              <a:solidFill>
                <a:schemeClr val="tx1"/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4606290" y="1299845"/>
            <a:ext cx="7391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800"/>
              <a:t>train</a:t>
            </a:r>
            <a:endParaRPr lang="en-US" altLang="zh-CN" sz="1800"/>
          </a:p>
        </p:txBody>
      </p:sp>
      <p:sp>
        <p:nvSpPr>
          <p:cNvPr id="8" name="文本框 7"/>
          <p:cNvSpPr txBox="1"/>
          <p:nvPr/>
        </p:nvSpPr>
        <p:spPr>
          <a:xfrm>
            <a:off x="5951855" y="1299845"/>
            <a:ext cx="10598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800"/>
              <a:t>validate</a:t>
            </a:r>
            <a:endParaRPr lang="en-US" altLang="zh-CN" sz="1800"/>
          </a:p>
        </p:txBody>
      </p:sp>
      <p:sp>
        <p:nvSpPr>
          <p:cNvPr id="17" name="文本框 16"/>
          <p:cNvSpPr txBox="1"/>
          <p:nvPr/>
        </p:nvSpPr>
        <p:spPr>
          <a:xfrm>
            <a:off x="7682865" y="1299845"/>
            <a:ext cx="7391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800"/>
              <a:t>test</a:t>
            </a:r>
            <a:endParaRPr lang="en-US" altLang="zh-CN" sz="1800"/>
          </a:p>
        </p:txBody>
      </p:sp>
      <p:sp>
        <p:nvSpPr>
          <p:cNvPr id="23" name="文本框 22"/>
          <p:cNvSpPr txBox="1"/>
          <p:nvPr/>
        </p:nvSpPr>
        <p:spPr>
          <a:xfrm>
            <a:off x="4957445" y="883920"/>
            <a:ext cx="3048000" cy="306705"/>
          </a:xfrm>
          <a:prstGeom prst="rect">
            <a:avLst/>
          </a:prstGeom>
          <a:solidFill>
            <a:srgbClr val="D5E8D4"/>
          </a:solidFill>
        </p:spPr>
        <p:txBody>
          <a:bodyPr wrap="square" rtlCol="0">
            <a:spAutoFit/>
          </a:bodyPr>
          <a:p>
            <a:pPr algn="ctr"/>
            <a:r>
              <a:rPr lang="en-US" altLang="zh-CN" b="1">
                <a:latin typeface="Arial" panose="020B0604020202020204" pitchFamily="34" charset="0"/>
                <a:ea typeface="Arial Unicode MS" panose="020B0604020202020204" charset="-122"/>
                <a:cs typeface="Arial" panose="020B0604020202020204" pitchFamily="34" charset="0"/>
                <a:sym typeface="+mn-ea"/>
              </a:rPr>
              <a:t>A. Data Preprocessing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 Methods-baseline </a:t>
            </a:r>
            <a:r>
              <a:rPr lang="en-US" altLang="zh-CN" sz="3600" b="1" dirty="0">
                <a:solidFill>
                  <a:schemeClr val="bg1"/>
                </a:solidFill>
                <a:ea typeface="宋体" panose="02010600030101010101" pitchFamily="2" charset="-122"/>
              </a:rPr>
              <a:t>architecture</a:t>
            </a:r>
            <a:endParaRPr lang="en-US" altLang="zh-CN" sz="3600" b="1" dirty="0">
              <a:solidFill>
                <a:schemeClr val="bg1"/>
              </a:solidFill>
              <a:ea typeface="宋体" panose="02010600030101010101" pitchFamily="2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585470" y="810260"/>
            <a:ext cx="3450590" cy="306705"/>
          </a:xfrm>
          <a:prstGeom prst="rect">
            <a:avLst/>
          </a:prstGeom>
          <a:solidFill>
            <a:srgbClr val="E1D5E7"/>
          </a:solidFill>
        </p:spPr>
        <p:txBody>
          <a:bodyPr wrap="square" rtlCol="0">
            <a:spAutoFit/>
          </a:bodyPr>
          <a:p>
            <a:pPr algn="ctr"/>
            <a:r>
              <a:rPr lang="en-US" altLang="zh-CN" b="1"/>
              <a:t>B. Data Transformation and Loading</a:t>
            </a:r>
            <a:endParaRPr lang="en-US" altLang="zh-CN" b="1"/>
          </a:p>
        </p:txBody>
      </p:sp>
      <p:sp>
        <p:nvSpPr>
          <p:cNvPr id="11" name="文本框 10"/>
          <p:cNvSpPr txBox="1"/>
          <p:nvPr/>
        </p:nvSpPr>
        <p:spPr>
          <a:xfrm>
            <a:off x="775970" y="2895600"/>
            <a:ext cx="2247900" cy="337185"/>
          </a:xfrm>
          <a:prstGeom prst="rect">
            <a:avLst/>
          </a:prstGeom>
        </p:spPr>
        <p:txBody>
          <a:bodyPr wrap="square">
            <a:spAutoFit/>
          </a:bodyPr>
          <a:p>
            <a:pPr defTabSz="266700"/>
            <a:r>
              <a:rPr lang="en-US" altLang="zh-CN" sz="1600">
                <a:latin typeface="Arial" panose="020B0604020202020204" pitchFamily="34" charset="0"/>
                <a:ea typeface="Arial Unicode MS" panose="020B0604020202020204" charset="-122"/>
                <a:cs typeface="Arial" panose="020B0604020202020204" pitchFamily="34" charset="0"/>
                <a:sym typeface="+mn-ea"/>
              </a:rPr>
              <a:t>2. Text serialization</a:t>
            </a:r>
            <a:endParaRPr lang="en-US" altLang="zh-CN" sz="1600">
              <a:latin typeface="Arial" panose="020B0604020202020204" pitchFamily="34" charset="0"/>
              <a:ea typeface="Times New Roman" panose="02020603050405020304"/>
              <a:cs typeface="Arial" panose="020B0604020202020204" pitchFamily="34" charset="0"/>
            </a:endParaRPr>
          </a:p>
        </p:txBody>
      </p:sp>
      <p:grpSp>
        <p:nvGrpSpPr>
          <p:cNvPr id="15" name="组合 14"/>
          <p:cNvGrpSpPr/>
          <p:nvPr/>
        </p:nvGrpSpPr>
        <p:grpSpPr>
          <a:xfrm>
            <a:off x="893445" y="1383030"/>
            <a:ext cx="2575560" cy="1445260"/>
            <a:chOff x="700" y="2492"/>
            <a:chExt cx="4056" cy="2276"/>
          </a:xfrm>
        </p:grpSpPr>
        <p:pic>
          <p:nvPicPr>
            <p:cNvPr id="9" name="图片 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0" y="2492"/>
              <a:ext cx="4056" cy="2277"/>
            </a:xfrm>
            <a:prstGeom prst="rect">
              <a:avLst/>
            </a:prstGeom>
          </p:spPr>
        </p:pic>
        <p:pic>
          <p:nvPicPr>
            <p:cNvPr id="12" name="图片 1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89" y="4145"/>
              <a:ext cx="1067" cy="288"/>
            </a:xfrm>
            <a:prstGeom prst="rect">
              <a:avLst/>
            </a:prstGeom>
          </p:spPr>
        </p:pic>
      </p:grpSp>
      <p:sp>
        <p:nvSpPr>
          <p:cNvPr id="13" name="流程图: 预定义过程 12"/>
          <p:cNvSpPr/>
          <p:nvPr/>
        </p:nvSpPr>
        <p:spPr>
          <a:xfrm>
            <a:off x="775970" y="3290570"/>
            <a:ext cx="2810510" cy="471805"/>
          </a:xfrm>
          <a:prstGeom prst="flowChartPredefinedProcess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rgbClr val="D5E8D4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olidFill>
                  <a:schemeClr val="tx1"/>
                </a:solidFill>
              </a:rPr>
              <a:t>max_seq_len=25</a:t>
            </a:r>
            <a:endParaRPr lang="en-US" altLang="zh-CN">
              <a:solidFill>
                <a:schemeClr val="tx1"/>
              </a:solidFill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775970" y="3820160"/>
            <a:ext cx="1647825" cy="337185"/>
          </a:xfrm>
          <a:prstGeom prst="rect">
            <a:avLst/>
          </a:prstGeom>
        </p:spPr>
        <p:txBody>
          <a:bodyPr wrap="square">
            <a:spAutoFit/>
          </a:bodyPr>
          <a:p>
            <a:pPr defTabSz="266700"/>
            <a:r>
              <a:rPr lang="en-US" altLang="zh-CN" sz="1600">
                <a:latin typeface="Arial Unicode MS" panose="020B0604020202020204" charset="-122"/>
                <a:ea typeface="Arial Unicode MS" panose="020B0604020202020204" charset="-122"/>
                <a:sym typeface="+mn-ea"/>
              </a:rPr>
              <a:t>3. DataLoader </a:t>
            </a:r>
            <a:endParaRPr lang="en-US" altLang="zh-CN" sz="1600">
              <a:latin typeface="Arial" panose="020B0604020202020204" pitchFamily="34" charset="0"/>
              <a:ea typeface="Times New Roman" panose="02020603050405020304"/>
              <a:cs typeface="Arial" panose="020B0604020202020204" pitchFamily="34" charset="0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4865370" y="800100"/>
            <a:ext cx="3935095" cy="306705"/>
          </a:xfrm>
          <a:prstGeom prst="rect">
            <a:avLst/>
          </a:prstGeom>
          <a:solidFill>
            <a:srgbClr val="DAE8FC"/>
          </a:solidFill>
        </p:spPr>
        <p:txBody>
          <a:bodyPr wrap="square" rtlCol="0">
            <a:spAutoFit/>
          </a:bodyPr>
          <a:p>
            <a:pPr algn="ctr"/>
            <a:r>
              <a:rPr lang="en-US" altLang="zh-CN" b="1"/>
              <a:t>C. Model Building(MedVQA_ResNet_LSTM)</a:t>
            </a:r>
            <a:endParaRPr lang="en-US" altLang="zh-CN" b="1"/>
          </a:p>
        </p:txBody>
      </p:sp>
      <p:sp>
        <p:nvSpPr>
          <p:cNvPr id="10" name="文本框 9"/>
          <p:cNvSpPr txBox="1"/>
          <p:nvPr/>
        </p:nvSpPr>
        <p:spPr>
          <a:xfrm>
            <a:off x="775970" y="1151573"/>
            <a:ext cx="5080000" cy="337185"/>
          </a:xfrm>
          <a:prstGeom prst="rect">
            <a:avLst/>
          </a:prstGeom>
        </p:spPr>
        <p:txBody>
          <a:bodyPr>
            <a:spAutoFit/>
          </a:bodyPr>
          <a:p>
            <a:pPr defTabSz="266700"/>
            <a:r>
              <a:rPr lang="en-US" altLang="zh-CN" sz="1600"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</a:rPr>
              <a:t>1. Image transformations</a:t>
            </a:r>
            <a:endParaRPr lang="en-US" altLang="zh-CN" sz="1600">
              <a:latin typeface="Arial" panose="020B0604020202020204" pitchFamily="34" charset="0"/>
              <a:ea typeface="Times New Roman" panose="02020603050405020304"/>
              <a:cs typeface="Arial" panose="020B0604020202020204" pitchFamily="34" charset="0"/>
            </a:endParaRPr>
          </a:p>
        </p:txBody>
      </p:sp>
      <p:pic>
        <p:nvPicPr>
          <p:cNvPr id="16" name="图片 1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970" y="4157345"/>
            <a:ext cx="828675" cy="762000"/>
          </a:xfrm>
          <a:prstGeom prst="rect">
            <a:avLst/>
          </a:prstGeom>
        </p:spPr>
      </p:pic>
      <p:sp>
        <p:nvSpPr>
          <p:cNvPr id="20" name="文本框 19"/>
          <p:cNvSpPr txBox="1"/>
          <p:nvPr/>
        </p:nvSpPr>
        <p:spPr>
          <a:xfrm>
            <a:off x="1604645" y="4224020"/>
            <a:ext cx="2431415" cy="583565"/>
          </a:xfrm>
          <a:prstGeom prst="rect">
            <a:avLst/>
          </a:prstGeom>
        </p:spPr>
        <p:txBody>
          <a:bodyPr wrap="square">
            <a:spAutoFit/>
          </a:bodyPr>
          <a:p>
            <a:pPr defTabSz="266700"/>
            <a:r>
              <a:rPr lang="en-US" altLang="zh-CN" sz="1600">
                <a:latin typeface="Times New Roman" panose="02020603050405020304"/>
                <a:ea typeface="Times New Roman" panose="02020603050405020304"/>
              </a:rPr>
              <a:t>batch = 32</a:t>
            </a:r>
            <a:endParaRPr lang="en-US" altLang="zh-CN" sz="1600">
              <a:latin typeface="Times New Roman" panose="02020603050405020304"/>
              <a:ea typeface="Times New Roman" panose="02020603050405020304"/>
            </a:endParaRPr>
          </a:p>
          <a:p>
            <a:pPr defTabSz="266700"/>
            <a:r>
              <a:rPr lang="en-US" altLang="zh-CN" sz="1600">
                <a:latin typeface="Times New Roman" panose="02020603050405020304"/>
                <a:ea typeface="Times New Roman" panose="02020603050405020304"/>
              </a:rPr>
              <a:t>processes = 2(GPU)</a:t>
            </a:r>
            <a:endParaRPr lang="zh-CN" altLang="en-US" sz="1600">
              <a:latin typeface="Times New Roman" panose="02020603050405020304"/>
              <a:ea typeface="宋体" panose="02010600030101010101" pitchFamily="2" charset="-122"/>
            </a:endParaRPr>
          </a:p>
        </p:txBody>
      </p:sp>
      <p:pic>
        <p:nvPicPr>
          <p:cNvPr id="22" name="图片 21" descr="报告用图-第 1 页.drawi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7505" y="1209040"/>
            <a:ext cx="2790825" cy="37052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 Methods-baseline </a:t>
            </a:r>
            <a:r>
              <a:rPr lang="en-US" altLang="zh-CN" sz="3600" b="1" dirty="0">
                <a:solidFill>
                  <a:schemeClr val="bg1"/>
                </a:solidFill>
                <a:ea typeface="宋体" panose="02010600030101010101" pitchFamily="2" charset="-122"/>
              </a:rPr>
              <a:t>architecture</a:t>
            </a:r>
            <a:endParaRPr lang="en-US" altLang="zh-CN" sz="3600" b="1" dirty="0">
              <a:solidFill>
                <a:schemeClr val="bg1"/>
              </a:solidFill>
              <a:ea typeface="宋体" panose="02010600030101010101" pitchFamily="2" charset="-122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731520" y="775335"/>
            <a:ext cx="7562215" cy="306705"/>
          </a:xfrm>
          <a:prstGeom prst="rect">
            <a:avLst/>
          </a:prstGeom>
          <a:solidFill>
            <a:srgbClr val="FFE6CC"/>
          </a:solidFill>
        </p:spPr>
        <p:txBody>
          <a:bodyPr wrap="square" rtlCol="0">
            <a:spAutoFit/>
          </a:bodyPr>
          <a:p>
            <a:pPr algn="ctr"/>
            <a:r>
              <a:rPr lang="en-US" altLang="zh-CN" b="1"/>
              <a:t>D. Training Pipeline</a:t>
            </a:r>
            <a:endParaRPr lang="en-US" altLang="zh-CN" b="1"/>
          </a:p>
        </p:txBody>
      </p:sp>
      <p:pic>
        <p:nvPicPr>
          <p:cNvPr id="4" name="图片 4" descr="报告用图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6400" y="1334770"/>
            <a:ext cx="6197600" cy="336296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282575" y="1470343"/>
            <a:ext cx="5080000" cy="583565"/>
          </a:xfrm>
          <a:prstGeom prst="rect">
            <a:avLst/>
          </a:prstGeom>
        </p:spPr>
        <p:txBody>
          <a:bodyPr>
            <a:spAutoFit/>
          </a:bodyPr>
          <a:p>
            <a:pPr defTabSz="266700"/>
            <a:r>
              <a:rPr lang="en-US" altLang="zh-CN" sz="3200"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</a:rPr>
              <a:t>1. training stage</a:t>
            </a:r>
            <a:endParaRPr lang="en-US" altLang="zh-CN" sz="3200">
              <a:latin typeface="Arial" panose="020B0604020202020204" pitchFamily="34" charset="0"/>
              <a:ea typeface="Times New Roman" panose="02020603050405020304"/>
              <a:cs typeface="Arial" panose="020B0604020202020204" pitchFamily="34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282575" y="2571433"/>
            <a:ext cx="5080000" cy="583565"/>
          </a:xfrm>
          <a:prstGeom prst="rect">
            <a:avLst/>
          </a:prstGeom>
        </p:spPr>
        <p:txBody>
          <a:bodyPr>
            <a:spAutoFit/>
          </a:bodyPr>
          <a:p>
            <a:pPr defTabSz="266700"/>
            <a:r>
              <a:rPr lang="en-US" altLang="zh-CN" sz="3200"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</a:rPr>
              <a:t>2. validation stage</a:t>
            </a:r>
            <a:endParaRPr lang="en-US" altLang="zh-CN" sz="3200">
              <a:latin typeface="Arial" panose="020B0604020202020204" pitchFamily="34" charset="0"/>
              <a:ea typeface="Times New Roman" panose="02020603050405020304"/>
              <a:cs typeface="Arial" panose="020B0604020202020204" pitchFamily="3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841240" y="1159510"/>
            <a:ext cx="2769870" cy="479425"/>
          </a:xfrm>
          <a:prstGeom prst="rect">
            <a:avLst/>
          </a:prstGeom>
          <a:solidFill>
            <a:schemeClr val="tx2">
              <a:lumMod val="90000"/>
            </a:schemeClr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dk1"/>
          </a:fontRef>
        </p:style>
        <p:txBody>
          <a:bodyPr wrap="square">
            <a:noAutofit/>
          </a:bodyPr>
          <a:p>
            <a:pPr defTabSz="266700"/>
            <a:r>
              <a:rPr lang="en-US" altLang="zh-CN" sz="2400"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</a:rPr>
              <a:t>all batch procceed</a:t>
            </a:r>
            <a:endParaRPr lang="en-US" altLang="zh-CN" sz="2400">
              <a:latin typeface="Arial" panose="020B0604020202020204" pitchFamily="34" charset="0"/>
              <a:ea typeface="Times New Roman" panose="02020603050405020304"/>
              <a:cs typeface="Arial" panose="020B0604020202020204" pitchFamily="34" charset="0"/>
            </a:endParaRPr>
          </a:p>
        </p:txBody>
      </p:sp>
      <p:cxnSp>
        <p:nvCxnSpPr>
          <p:cNvPr id="7" name="直接箭头连接符 6"/>
          <p:cNvCxnSpPr>
            <a:stCxn id="3" idx="3"/>
          </p:cNvCxnSpPr>
          <p:nvPr/>
        </p:nvCxnSpPr>
        <p:spPr>
          <a:xfrm>
            <a:off x="7611110" y="1399540"/>
            <a:ext cx="645160" cy="278765"/>
          </a:xfrm>
          <a:prstGeom prst="straightConnector1">
            <a:avLst/>
          </a:prstGeom>
          <a:ln>
            <a:solidFill>
              <a:srgbClr val="FF0000"/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6212205" y="2150110"/>
            <a:ext cx="1398905" cy="434340"/>
          </a:xfrm>
          <a:prstGeom prst="rect">
            <a:avLst/>
          </a:prstGeom>
          <a:solidFill>
            <a:schemeClr val="tx2">
              <a:lumMod val="90000"/>
            </a:schemeClr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dk1"/>
          </a:fontRef>
        </p:style>
        <p:txBody>
          <a:bodyPr wrap="square">
            <a:noAutofit/>
          </a:bodyPr>
          <a:p>
            <a:pPr defTabSz="266700"/>
            <a:r>
              <a:rPr lang="en-US" altLang="zh-CN" sz="2400"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</a:rPr>
              <a:t>ACC,F1</a:t>
            </a:r>
            <a:endParaRPr lang="zh-CN" altLang="en-US" sz="2400">
              <a:latin typeface="Arial" panose="020B0604020202020204" pitchFamily="34" charset="0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cxnSp>
        <p:nvCxnSpPr>
          <p:cNvPr id="9" name="直接箭头连接符 8"/>
          <p:cNvCxnSpPr/>
          <p:nvPr/>
        </p:nvCxnSpPr>
        <p:spPr>
          <a:xfrm>
            <a:off x="6965950" y="2571750"/>
            <a:ext cx="517525" cy="212090"/>
          </a:xfrm>
          <a:prstGeom prst="straightConnector1">
            <a:avLst/>
          </a:prstGeom>
          <a:ln>
            <a:solidFill>
              <a:srgbClr val="FF0000"/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" name="文本框 9"/>
          <p:cNvSpPr txBox="1"/>
          <p:nvPr/>
        </p:nvSpPr>
        <p:spPr>
          <a:xfrm>
            <a:off x="7928610" y="2150110"/>
            <a:ext cx="846455" cy="421640"/>
          </a:xfrm>
          <a:prstGeom prst="rect">
            <a:avLst/>
          </a:prstGeom>
          <a:solidFill>
            <a:schemeClr val="tx2">
              <a:lumMod val="90000"/>
            </a:schemeClr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dk1"/>
          </a:fontRef>
        </p:style>
        <p:txBody>
          <a:bodyPr wrap="square">
            <a:noAutofit/>
          </a:bodyPr>
          <a:p>
            <a:pPr defTabSz="266700"/>
            <a:r>
              <a:rPr lang="en-US" sz="2400"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</a:rPr>
              <a:t>LR</a:t>
            </a:r>
            <a:endParaRPr lang="en-US" sz="2400">
              <a:latin typeface="Arial" panose="020B0604020202020204" pitchFamily="34" charset="0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cxnSp>
        <p:nvCxnSpPr>
          <p:cNvPr id="11" name="直接箭头连接符 10"/>
          <p:cNvCxnSpPr/>
          <p:nvPr/>
        </p:nvCxnSpPr>
        <p:spPr>
          <a:xfrm>
            <a:off x="8293735" y="2584450"/>
            <a:ext cx="191770" cy="245745"/>
          </a:xfrm>
          <a:prstGeom prst="straightConnector1">
            <a:avLst/>
          </a:prstGeom>
          <a:ln>
            <a:solidFill>
              <a:srgbClr val="FF0000"/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2" name="文本框 11"/>
          <p:cNvSpPr txBox="1"/>
          <p:nvPr/>
        </p:nvSpPr>
        <p:spPr>
          <a:xfrm>
            <a:off x="282575" y="3827463"/>
            <a:ext cx="5080000" cy="583565"/>
          </a:xfrm>
          <a:prstGeom prst="rect">
            <a:avLst/>
          </a:prstGeom>
        </p:spPr>
        <p:txBody>
          <a:bodyPr>
            <a:spAutoFit/>
          </a:bodyPr>
          <a:p>
            <a:pPr defTabSz="266700"/>
            <a:r>
              <a:rPr lang="en-US" altLang="zh-CN" sz="3200"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</a:rPr>
              <a:t>3. early stop mechanism</a:t>
            </a:r>
            <a:endParaRPr lang="en-US" altLang="zh-CN" sz="3200">
              <a:latin typeface="Arial" panose="020B0604020202020204" pitchFamily="34" charset="0"/>
              <a:ea typeface="Times New Roman" panose="02020603050405020304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4053840" y="3274060"/>
            <a:ext cx="2273935" cy="434340"/>
          </a:xfrm>
          <a:prstGeom prst="rect">
            <a:avLst/>
          </a:prstGeom>
          <a:solidFill>
            <a:schemeClr val="tx2">
              <a:lumMod val="90000"/>
            </a:schemeClr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dk1"/>
          </a:fontRef>
        </p:style>
        <p:txBody>
          <a:bodyPr wrap="square">
            <a:noAutofit/>
          </a:bodyPr>
          <a:p>
            <a:pPr defTabSz="266700"/>
            <a:r>
              <a:rPr lang="en-US" altLang="zh-CN" sz="2400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patience check</a:t>
            </a:r>
            <a:endParaRPr lang="en-US" altLang="zh-CN" sz="2400">
              <a:latin typeface="Arial" panose="020B0604020202020204" pitchFamily="34" charset="0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5" name="椭圆 14"/>
          <p:cNvSpPr/>
          <p:nvPr/>
        </p:nvSpPr>
        <p:spPr>
          <a:xfrm>
            <a:off x="6550660" y="3532505"/>
            <a:ext cx="1842770" cy="1105535"/>
          </a:xfrm>
          <a:prstGeom prst="ellipse">
            <a:avLst/>
          </a:prstGeom>
          <a:noFill/>
          <a:ln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6" name="直接箭头连接符 15"/>
          <p:cNvCxnSpPr/>
          <p:nvPr/>
        </p:nvCxnSpPr>
        <p:spPr>
          <a:xfrm>
            <a:off x="6327775" y="3532505"/>
            <a:ext cx="517525" cy="212090"/>
          </a:xfrm>
          <a:prstGeom prst="straightConnector1">
            <a:avLst/>
          </a:prstGeom>
          <a:ln>
            <a:solidFill>
              <a:srgbClr val="FF0000"/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 Methods-Generative Model A</a:t>
            </a:r>
            <a:r>
              <a:rPr lang="en-US" altLang="zh-CN" sz="3600" b="1" dirty="0">
                <a:solidFill>
                  <a:schemeClr val="bg1"/>
                </a:solidFill>
                <a:ea typeface="宋体" panose="02010600030101010101" pitchFamily="2" charset="-122"/>
              </a:rPr>
              <a:t>rchitecture</a:t>
            </a:r>
            <a:endParaRPr lang="en-US" altLang="zh-CN" sz="3600" b="1" dirty="0">
              <a:solidFill>
                <a:schemeClr val="bg1"/>
              </a:solidFill>
              <a:ea typeface="宋体" panose="02010600030101010101" pitchFamily="2" charset="-122"/>
            </a:endParaRPr>
          </a:p>
        </p:txBody>
      </p:sp>
      <p:graphicFrame>
        <p:nvGraphicFramePr>
          <p:cNvPr id="2" name="表格 1"/>
          <p:cNvGraphicFramePr/>
          <p:nvPr/>
        </p:nvGraphicFramePr>
        <p:xfrm>
          <a:off x="168275" y="775335"/>
          <a:ext cx="8808085" cy="2428875"/>
        </p:xfrm>
        <a:graphic>
          <a:graphicData uri="http://schemas.openxmlformats.org/drawingml/2006/table">
            <a:tbl>
              <a:tblPr/>
              <a:tblGrid>
                <a:gridCol w="2402205"/>
                <a:gridCol w="1860550"/>
                <a:gridCol w="4545330"/>
              </a:tblGrid>
              <a:tr h="0">
                <a:tc>
                  <a:txBody>
                    <a:bodyPr/>
                    <a:p>
                      <a:pPr algn="l"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Component</a:t>
                      </a:r>
                      <a:endParaRPr lang="en-US" altLang="zh-CN" sz="1600" b="0" i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0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l"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Status</a:t>
                      </a:r>
                      <a:endParaRPr lang="en-US" altLang="zh-CN" sz="1600" b="0" i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152717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l"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Function</a:t>
                      </a:r>
                      <a:endParaRPr lang="en-US" altLang="zh-CN" sz="1600" b="0" i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152717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</a:tr>
              <a:tr h="0"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600" b="1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CLIP Image Encoder</a:t>
                      </a:r>
                      <a:endParaRPr lang="en-US" altLang="zh-CN" sz="1600" b="1" i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0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Frozen (ViT-B/32)</a:t>
                      </a:r>
                      <a:endParaRPr lang="en-US" altLang="zh-CN" sz="1600" b="0" i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152717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Extracts 512-dimensional global visual features</a:t>
                      </a:r>
                      <a:endParaRPr lang="en-US" altLang="zh-CN" sz="1600" b="0" i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152717" marR="0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600" b="1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Mapping Network</a:t>
                      </a:r>
                      <a:endParaRPr lang="en-US" altLang="zh-CN" sz="1600" b="1" i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0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Trainable</a:t>
                      </a:r>
                      <a:endParaRPr lang="en-US" altLang="zh-CN" sz="1600" b="0" i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152717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Two-layer linear network + ReLU, maps visual features to 10 visual prefix tokens in GPT-2 embedding space</a:t>
                      </a:r>
                      <a:endParaRPr lang="en-US" altLang="zh-CN" sz="1600" b="0" i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152717" marR="0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600" b="1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GPT-2 Language Model</a:t>
                      </a:r>
                      <a:endParaRPr lang="en-US" altLang="zh-CN" sz="1600" b="1" i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0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Frozen</a:t>
                      </a:r>
                      <a:endParaRPr lang="en-US" altLang="zh-CN" sz="1600" b="0" i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152717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Receives visual prefixes + question embeddings, generates answers autoregressively</a:t>
                      </a:r>
                      <a:endParaRPr lang="en-US" altLang="zh-CN" sz="1600" b="0" i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152717" marR="0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4" name="文本框 13"/>
          <p:cNvSpPr txBox="1"/>
          <p:nvPr/>
        </p:nvSpPr>
        <p:spPr>
          <a:xfrm>
            <a:off x="168275" y="3281680"/>
            <a:ext cx="8684895" cy="127254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p>
            <a:pPr marL="0" indent="0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</a:pPr>
            <a:r>
              <a:rPr lang="en-US" altLang="zh-CN" sz="2000" b="1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Training Strategy and Data Flow</a:t>
            </a:r>
            <a:endParaRPr lang="en-US" altLang="zh-CN" sz="2000" b="1">
              <a:solidFill>
                <a:srgbClr val="0F1115"/>
              </a:solidFill>
              <a:latin typeface="Arial" panose="020B0604020202020204" pitchFamily="34" charset="0"/>
              <a:ea typeface="quote-cjk-patch"/>
              <a:cs typeface="Arial" panose="020B0604020202020204" pitchFamily="34" charset="0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600" b="1" i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Image Encoding</a:t>
            </a:r>
            <a:r>
              <a:rPr lang="en-US" altLang="zh-CN" sz="1600" b="0" i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: Medical image → CLIP encoder → visual features</a:t>
            </a:r>
            <a:endParaRPr lang="en-US" altLang="zh-CN" sz="1600" b="0" i="0">
              <a:solidFill>
                <a:srgbClr val="0F1115"/>
              </a:solidFill>
              <a:latin typeface="Arial" panose="020B0604020202020204" pitchFamily="34" charset="0"/>
              <a:ea typeface="quote-cjk-patch"/>
              <a:cs typeface="Arial" panose="020B0604020202020204" pitchFamily="34" charset="0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600" b="1" i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Feature Mapping</a:t>
            </a:r>
            <a:r>
              <a:rPr lang="en-US" altLang="zh-CN" sz="1600" b="0" i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: Visual features → mapping network → visual prefix tokens</a:t>
            </a:r>
            <a:endParaRPr lang="en-US" altLang="zh-CN" sz="1600" b="0" i="0">
              <a:solidFill>
                <a:srgbClr val="0F1115"/>
              </a:solidFill>
              <a:latin typeface="Arial" panose="020B0604020202020204" pitchFamily="34" charset="0"/>
              <a:ea typeface="quote-cjk-patch"/>
              <a:cs typeface="Arial" panose="020B0604020202020204" pitchFamily="34" charset="0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600" b="1" i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Fusion and Generation</a:t>
            </a:r>
            <a:r>
              <a:rPr lang="en-US" altLang="zh-CN" sz="1600" b="0" i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: Visual prefixes + question tokens → GPT-2 → generated answer</a:t>
            </a:r>
            <a:endParaRPr lang="en-US" altLang="zh-CN" sz="1600" b="0" i="0">
              <a:solidFill>
                <a:srgbClr val="0F1115"/>
              </a:solidFill>
              <a:latin typeface="Arial" panose="020B0604020202020204" pitchFamily="34" charset="0"/>
              <a:ea typeface="quote-cjk-patch"/>
              <a:cs typeface="Arial" panose="020B0604020202020204" pitchFamily="34" charset="0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68275" y="4631690"/>
            <a:ext cx="2637155" cy="394335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txBody>
          <a:bodyPr wrap="square" rtlCol="0" anchor="t">
            <a:noAutofit/>
          </a:bodyPr>
          <a:p>
            <a:r>
              <a:rPr lang="en-US" altLang="zh-CN" sz="1800" b="1">
                <a:solidFill>
                  <a:schemeClr val="bg1"/>
                </a:solidFill>
              </a:rPr>
              <a:t>Parameter Efficiency</a:t>
            </a:r>
            <a:endParaRPr lang="en-US" altLang="zh-CN" sz="1800" b="1">
              <a:solidFill>
                <a:schemeClr val="bg1"/>
              </a:solidFill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3081655" y="4631690"/>
            <a:ext cx="2348230" cy="394335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txBody>
          <a:bodyPr wrap="square" rtlCol="0" anchor="t">
            <a:noAutofit/>
          </a:bodyPr>
          <a:p>
            <a:r>
              <a:rPr lang="en-US" altLang="zh-CN" sz="1800" b="1">
                <a:solidFill>
                  <a:schemeClr val="bg1"/>
                </a:solidFill>
              </a:rPr>
              <a:t>Loss Calculation</a:t>
            </a:r>
            <a:endParaRPr lang="en-US" altLang="zh-CN" sz="1800" b="1">
              <a:solidFill>
                <a:schemeClr val="bg1"/>
              </a:solidFill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5706110" y="4631690"/>
            <a:ext cx="1254760" cy="394335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txBody>
          <a:bodyPr wrap="square" rtlCol="0" anchor="t">
            <a:noAutofit/>
          </a:bodyPr>
          <a:p>
            <a:r>
              <a:rPr lang="en-US" altLang="zh-CN" sz="1800" b="1">
                <a:solidFill>
                  <a:schemeClr val="bg1"/>
                </a:solidFill>
              </a:rPr>
              <a:t>Objective</a:t>
            </a:r>
            <a:endParaRPr lang="en-US" altLang="zh-CN" sz="1800" b="1">
              <a:solidFill>
                <a:schemeClr val="bg1"/>
              </a:solidFill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7237095" y="4631690"/>
            <a:ext cx="1635125" cy="394335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txBody>
          <a:bodyPr wrap="square" rtlCol="0" anchor="t">
            <a:noAutofit/>
          </a:bodyPr>
          <a:p>
            <a:r>
              <a:rPr lang="en-US" altLang="zh-CN" sz="1800" b="1">
                <a:solidFill>
                  <a:schemeClr val="bg1"/>
                </a:solidFill>
              </a:rPr>
              <a:t>Advantages</a:t>
            </a:r>
            <a:endParaRPr lang="en-US" altLang="zh-CN" sz="1800" b="1">
              <a:solidFill>
                <a:schemeClr val="bg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 Methods-Generative Model A</a:t>
            </a:r>
            <a:r>
              <a:rPr lang="en-US" altLang="zh-CN" sz="3600" b="1" dirty="0">
                <a:solidFill>
                  <a:schemeClr val="bg1"/>
                </a:solidFill>
                <a:ea typeface="宋体" panose="02010600030101010101" pitchFamily="2" charset="-122"/>
              </a:rPr>
              <a:t>rchitecture</a:t>
            </a:r>
            <a:endParaRPr lang="en-US" altLang="zh-CN" sz="3600" b="1" dirty="0">
              <a:solidFill>
                <a:schemeClr val="bg1"/>
              </a:solidFill>
              <a:ea typeface="宋体" panose="02010600030101010101" pitchFamily="2" charset="-122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108585" y="697865"/>
            <a:ext cx="8752840" cy="352298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</a:pPr>
            <a:r>
              <a:rPr lang="en-US" altLang="zh-CN" sz="2300" b="1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Internal Comparison:</a:t>
            </a:r>
            <a:endParaRPr lang="en-US" altLang="zh-CN" sz="2300" b="1">
              <a:solidFill>
                <a:srgbClr val="0F1115"/>
              </a:solidFill>
              <a:latin typeface="Arial" panose="020B0604020202020204" pitchFamily="34" charset="0"/>
              <a:ea typeface="quote-cjk-patch"/>
              <a:cs typeface="Arial" panose="020B0604020202020204" pitchFamily="34" charset="0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600" b="0" i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 Performance comparison with baseline model (classifier)</a:t>
            </a:r>
            <a:endParaRPr lang="en-US" altLang="zh-CN" sz="1600" b="0" i="0">
              <a:solidFill>
                <a:srgbClr val="0F1115"/>
              </a:solidFill>
              <a:latin typeface="Arial" panose="020B0604020202020204" pitchFamily="34" charset="0"/>
              <a:ea typeface="quote-cjk-patch"/>
              <a:cs typeface="Arial" panose="020B0604020202020204" pitchFamily="34" charset="0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600" b="0" i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 Analysis of performance differences across different question types</a:t>
            </a:r>
            <a:endParaRPr lang="en-US" altLang="zh-CN" sz="1600" b="0" i="0">
              <a:solidFill>
                <a:srgbClr val="0F1115"/>
              </a:solidFill>
              <a:latin typeface="Arial" panose="020B0604020202020204" pitchFamily="34" charset="0"/>
              <a:ea typeface="quote-cjk-patch"/>
              <a:cs typeface="Arial" panose="020B060402020202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2400"/>
              </a:spcBef>
              <a:spcAft>
                <a:spcPts val="1200"/>
              </a:spcAft>
            </a:pPr>
            <a:r>
              <a:rPr lang="en-US" altLang="zh-CN" sz="2300" b="1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External Comparison:</a:t>
            </a:r>
            <a:endParaRPr lang="en-US" altLang="zh-CN" sz="2300" b="1">
              <a:solidFill>
                <a:srgbClr val="0F1115"/>
              </a:solidFill>
              <a:latin typeface="Arial" panose="020B0604020202020204" pitchFamily="34" charset="0"/>
              <a:ea typeface="quote-cjk-patch"/>
              <a:cs typeface="Arial" panose="020B0604020202020204" pitchFamily="34" charset="0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600" b="0" i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 Comparison with results from Sonsbeek et al. (2023)</a:t>
            </a:r>
            <a:endParaRPr lang="en-US" altLang="zh-CN" sz="1600" b="0" i="0">
              <a:solidFill>
                <a:srgbClr val="0F1115"/>
              </a:solidFill>
              <a:latin typeface="Arial" panose="020B0604020202020204" pitchFamily="34" charset="0"/>
              <a:ea typeface="quote-cjk-patch"/>
              <a:cs typeface="Arial" panose="020B0604020202020204" pitchFamily="34" charset="0"/>
            </a:endParaRPr>
          </a:p>
          <a:p>
            <a:pPr marL="0" indent="0">
              <a:spcBef>
                <a:spcPct val="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en-US" altLang="zh-CN" sz="1600" b="0" i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 Analysis of differences:</a:t>
            </a:r>
            <a:endParaRPr lang="en-US" altLang="zh-CN" sz="1600" b="0" i="0">
              <a:solidFill>
                <a:srgbClr val="0F1115"/>
              </a:solidFill>
              <a:latin typeface="Arial" panose="020B0604020202020204" pitchFamily="34" charset="0"/>
              <a:ea typeface="quote-cjk-patch"/>
              <a:cs typeface="Arial" panose="020B0604020202020204" pitchFamily="34" charset="0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600" b="0" i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Dataset partitioning variations</a:t>
            </a:r>
            <a:endParaRPr lang="en-US" altLang="zh-CN" sz="1600" b="0" i="0">
              <a:solidFill>
                <a:srgbClr val="0F1115"/>
              </a:solidFill>
              <a:latin typeface="Arial" panose="020B0604020202020204" pitchFamily="34" charset="0"/>
              <a:ea typeface="quote-cjk-patch"/>
              <a:cs typeface="Arial" panose="020B0604020202020204" pitchFamily="34" charset="0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600" b="0" i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Hyperparameter settings</a:t>
            </a:r>
            <a:endParaRPr lang="en-US" altLang="zh-CN" sz="1600" b="0" i="0">
              <a:solidFill>
                <a:srgbClr val="0F1115"/>
              </a:solidFill>
              <a:latin typeface="Arial" panose="020B0604020202020204" pitchFamily="34" charset="0"/>
              <a:ea typeface="quote-cjk-patch"/>
              <a:cs typeface="Arial" panose="020B0604020202020204" pitchFamily="34" charset="0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600" b="0" i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Training strategy adjustments</a:t>
            </a:r>
            <a:endParaRPr lang="en-US" altLang="zh-CN" sz="1600" b="0" i="0">
              <a:solidFill>
                <a:srgbClr val="0F1115"/>
              </a:solidFill>
              <a:latin typeface="Arial" panose="020B0604020202020204" pitchFamily="34" charset="0"/>
              <a:ea typeface="quote-cjk-patch"/>
              <a:cs typeface="Arial" panose="020B0604020202020204" pitchFamily="34" charset="0"/>
            </a:endParaRP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None/>
            </a:pPr>
            <a:r>
              <a:rPr lang="en-US" altLang="zh-CN" sz="2300" b="1" i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Evaluation Principles:</a:t>
            </a:r>
            <a:endParaRPr lang="zh-CN" altLang="en-US" sz="2300" b="1" i="0">
              <a:solidFill>
                <a:srgbClr val="0F1115"/>
              </a:solidFill>
              <a:latin typeface="Arial" panose="020B0604020202020204" pitchFamily="34" charset="0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697865" y="4220845"/>
            <a:ext cx="3148965" cy="394335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txBody>
          <a:bodyPr wrap="square" rtlCol="0" anchor="t">
            <a:noAutofit/>
          </a:bodyPr>
          <a:p>
            <a:r>
              <a:rPr lang="en-US" altLang="zh-CN" sz="1800" b="1">
                <a:solidFill>
                  <a:schemeClr val="bg1"/>
                </a:solidFill>
              </a:rPr>
              <a:t>Task Adaptability</a:t>
            </a:r>
            <a:endParaRPr lang="en-US" altLang="zh-CN" sz="1800" b="1">
              <a:solidFill>
                <a:schemeClr val="bg1"/>
              </a:solidFill>
            </a:endParaRPr>
          </a:p>
        </p:txBody>
      </p:sp>
      <p:sp>
        <p:nvSpPr>
          <p:cNvPr id="34" name="文本框 33"/>
          <p:cNvSpPr txBox="1"/>
          <p:nvPr/>
        </p:nvSpPr>
        <p:spPr>
          <a:xfrm>
            <a:off x="4803775" y="4220845"/>
            <a:ext cx="3028315" cy="394335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txBody>
          <a:bodyPr wrap="square" rtlCol="0" anchor="t">
            <a:noAutofit/>
          </a:bodyPr>
          <a:p>
            <a:r>
              <a:rPr lang="en-US" altLang="zh-CN" sz="1800" b="1">
                <a:solidFill>
                  <a:schemeClr val="bg1"/>
                </a:solidFill>
              </a:rPr>
              <a:t>Medical Specificity</a:t>
            </a:r>
            <a:endParaRPr lang="en-US" altLang="zh-CN" sz="1800" b="1">
              <a:solidFill>
                <a:schemeClr val="bg1"/>
              </a:solidFill>
            </a:endParaRPr>
          </a:p>
        </p:txBody>
      </p:sp>
      <p:sp>
        <p:nvSpPr>
          <p:cNvPr id="35" name="文本框 34"/>
          <p:cNvSpPr txBox="1"/>
          <p:nvPr/>
        </p:nvSpPr>
        <p:spPr>
          <a:xfrm>
            <a:off x="697865" y="4680585"/>
            <a:ext cx="3148965" cy="394335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txBody>
          <a:bodyPr wrap="square" rtlCol="0" anchor="t">
            <a:noAutofit/>
          </a:bodyPr>
          <a:p>
            <a:r>
              <a:rPr lang="en-US" altLang="zh-CN" sz="1800" b="1">
                <a:solidFill>
                  <a:schemeClr val="bg1"/>
                </a:solidFill>
              </a:rPr>
              <a:t>Benchmark Consistency</a:t>
            </a:r>
            <a:endParaRPr lang="en-US" altLang="zh-CN" sz="1800" b="1">
              <a:solidFill>
                <a:schemeClr val="bg1"/>
              </a:solidFill>
            </a:endParaRPr>
          </a:p>
        </p:txBody>
      </p:sp>
      <p:sp>
        <p:nvSpPr>
          <p:cNvPr id="36" name="文本框 35"/>
          <p:cNvSpPr txBox="1"/>
          <p:nvPr/>
        </p:nvSpPr>
        <p:spPr>
          <a:xfrm>
            <a:off x="4803775" y="4672330"/>
            <a:ext cx="3028315" cy="394335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txBody>
          <a:bodyPr wrap="square" rtlCol="0" anchor="t">
            <a:noAutofit/>
          </a:bodyPr>
          <a:p>
            <a:r>
              <a:rPr lang="en-US" altLang="zh-CN" sz="1800" b="1">
                <a:solidFill>
                  <a:schemeClr val="bg1"/>
                </a:solidFill>
              </a:rPr>
              <a:t>Comprehensiveness</a:t>
            </a:r>
            <a:endParaRPr lang="en-US" altLang="zh-CN" sz="1800" b="1">
              <a:solidFill>
                <a:schemeClr val="bg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Result-baseline </a:t>
            </a:r>
            <a:endParaRPr lang="en-US" altLang="zh-CN" sz="3600" b="1" dirty="0">
              <a:solidFill>
                <a:schemeClr val="bg1"/>
              </a:solidFill>
              <a:ea typeface="宋体" panose="02010600030101010101" pitchFamily="2" charset="-122"/>
            </a:endParaRPr>
          </a:p>
        </p:txBody>
      </p:sp>
      <p:graphicFrame>
        <p:nvGraphicFramePr>
          <p:cNvPr id="2" name="表格 1"/>
          <p:cNvGraphicFramePr/>
          <p:nvPr/>
        </p:nvGraphicFramePr>
        <p:xfrm>
          <a:off x="194310" y="775335"/>
          <a:ext cx="1898650" cy="4022725"/>
        </p:xfrm>
        <a:graphic>
          <a:graphicData uri="http://schemas.openxmlformats.org/drawingml/2006/table">
            <a:tbl>
              <a:tblPr/>
              <a:tblGrid>
                <a:gridCol w="949325"/>
                <a:gridCol w="949325"/>
              </a:tblGrid>
              <a:tr h="574675">
                <a:tc>
                  <a:txBody>
                    <a:bodyPr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Parameter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Value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74675">
                <a:tc>
                  <a:txBody>
                    <a:bodyPr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Epochs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35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</a:tr>
              <a:tr h="574675">
                <a:tc>
                  <a:txBody>
                    <a:bodyPr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Batch Size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16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74675">
                <a:tc>
                  <a:txBody>
                    <a:bodyPr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Optimizer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Adam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149350">
                <a:tc>
                  <a:txBody>
                    <a:bodyPr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Learning Rate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10^(-4)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74675">
                <a:tc>
                  <a:txBody>
                    <a:bodyPr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Dropout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0.3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8" name="表格 7"/>
          <p:cNvGraphicFramePr/>
          <p:nvPr>
            <p:custDataLst>
              <p:tags r:id="rId2"/>
            </p:custDataLst>
          </p:nvPr>
        </p:nvGraphicFramePr>
        <p:xfrm>
          <a:off x="2832100" y="775335"/>
          <a:ext cx="5866130" cy="1891665"/>
        </p:xfrm>
        <a:graphic>
          <a:graphicData uri="http://schemas.openxmlformats.org/drawingml/2006/table">
            <a:tbl>
              <a:tblPr/>
              <a:tblGrid>
                <a:gridCol w="989330"/>
                <a:gridCol w="1738630"/>
                <a:gridCol w="1505585"/>
                <a:gridCol w="1632585"/>
              </a:tblGrid>
              <a:tr h="309880"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Metric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Training Set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Validation Set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Test Set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9405"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Accuracy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78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.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65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%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44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.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21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%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33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.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83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%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</a:tr>
              <a:tr h="311785"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F1 Score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-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16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.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21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%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13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.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64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%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19405"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Precision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-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16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.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04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%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14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.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54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%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11785"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Recall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-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-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13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.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27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%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19405"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Loss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0.6623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3.8041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-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9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3790" y="2738755"/>
            <a:ext cx="6496685" cy="180721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" name="直接箭头连接符 2"/>
          <p:cNvCxnSpPr/>
          <p:nvPr/>
        </p:nvCxnSpPr>
        <p:spPr>
          <a:xfrm>
            <a:off x="2832100" y="3903345"/>
            <a:ext cx="690880" cy="334010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" name="直接箭头连接符 3"/>
          <p:cNvCxnSpPr/>
          <p:nvPr/>
        </p:nvCxnSpPr>
        <p:spPr>
          <a:xfrm flipV="1">
            <a:off x="4939665" y="3016885"/>
            <a:ext cx="979170" cy="552450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" name="直接箭头连接符 4"/>
          <p:cNvCxnSpPr/>
          <p:nvPr/>
        </p:nvCxnSpPr>
        <p:spPr>
          <a:xfrm flipV="1">
            <a:off x="7611745" y="3408045"/>
            <a:ext cx="736600" cy="645160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" name="文本框 9"/>
          <p:cNvSpPr txBox="1"/>
          <p:nvPr/>
        </p:nvSpPr>
        <p:spPr>
          <a:xfrm>
            <a:off x="3540760" y="4545965"/>
            <a:ext cx="1943100" cy="521970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txBody>
          <a:bodyPr wrap="square" rtlCol="0" anchor="t">
            <a:spAutoFit/>
          </a:bodyPr>
          <a:p>
            <a:r>
              <a:rPr lang="en-US" altLang="zh-CN" sz="2800" b="1">
                <a:solidFill>
                  <a:schemeClr val="bg1"/>
                </a:solidFill>
              </a:rPr>
              <a:t>Learnable</a:t>
            </a:r>
            <a:endParaRPr lang="en-US" altLang="zh-CN" sz="2800" b="1">
              <a:solidFill>
                <a:schemeClr val="bg1"/>
              </a:solidFill>
            </a:endParaRPr>
          </a:p>
        </p:txBody>
      </p:sp>
      <p:cxnSp>
        <p:nvCxnSpPr>
          <p:cNvPr id="11" name="直接箭头连接符 10"/>
          <p:cNvCxnSpPr/>
          <p:nvPr/>
        </p:nvCxnSpPr>
        <p:spPr>
          <a:xfrm flipV="1">
            <a:off x="3365500" y="3693795"/>
            <a:ext cx="943610" cy="254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" name="直接箭头连接符 12"/>
          <p:cNvCxnSpPr/>
          <p:nvPr/>
        </p:nvCxnSpPr>
        <p:spPr>
          <a:xfrm flipV="1">
            <a:off x="4516755" y="1217930"/>
            <a:ext cx="967105" cy="1143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arrow" w="med" len="med"/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直接箭头连接符 13"/>
          <p:cNvCxnSpPr/>
          <p:nvPr/>
        </p:nvCxnSpPr>
        <p:spPr>
          <a:xfrm flipV="1">
            <a:off x="6268085" y="1229360"/>
            <a:ext cx="805180" cy="1143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arrow" w="med" len="med"/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7" name="文本框 16"/>
          <p:cNvSpPr txBox="1"/>
          <p:nvPr/>
        </p:nvSpPr>
        <p:spPr>
          <a:xfrm>
            <a:off x="6071870" y="4545965"/>
            <a:ext cx="2104390" cy="52197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txBody>
          <a:bodyPr wrap="square" rtlCol="0" anchor="t">
            <a:spAutoFit/>
          </a:bodyPr>
          <a:p>
            <a:r>
              <a:rPr lang="en-US" altLang="zh-CN" sz="2800" b="1">
                <a:solidFill>
                  <a:schemeClr val="bg1"/>
                </a:solidFill>
              </a:rPr>
              <a:t>Overfitting</a:t>
            </a:r>
            <a:endParaRPr lang="en-US" altLang="zh-CN" sz="2800" b="1">
              <a:solidFill>
                <a:schemeClr val="bg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Result-baseline </a:t>
            </a:r>
            <a:endParaRPr lang="en-US" altLang="zh-CN" sz="3600" b="1" dirty="0">
              <a:solidFill>
                <a:schemeClr val="bg1"/>
              </a:solidFill>
              <a:ea typeface="宋体" panose="02010600030101010101" pitchFamily="2" charset="-122"/>
            </a:endParaRPr>
          </a:p>
        </p:txBody>
      </p:sp>
      <p:pic>
        <p:nvPicPr>
          <p:cNvPr id="7" name="图片 3" descr="IMG_25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55" y="775335"/>
            <a:ext cx="5779135" cy="245491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" name="文本框 9"/>
          <p:cNvSpPr txBox="1"/>
          <p:nvPr/>
        </p:nvSpPr>
        <p:spPr>
          <a:xfrm>
            <a:off x="4013835" y="895350"/>
            <a:ext cx="4855845" cy="521970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txBody>
          <a:bodyPr wrap="square" rtlCol="0" anchor="t">
            <a:spAutoFit/>
          </a:bodyPr>
          <a:p>
            <a:r>
              <a:rPr lang="en-US" altLang="zh-CN" sz="2800" b="1">
                <a:solidFill>
                  <a:schemeClr val="bg1"/>
                </a:solidFill>
              </a:rPr>
              <a:t>CLOSED questiosn </a:t>
            </a:r>
            <a:r>
              <a:rPr lang="en-US" altLang="zh-CN" sz="2800" b="1">
                <a:solidFill>
                  <a:schemeClr val="bg1"/>
                </a:solidFill>
                <a:sym typeface="+mn-ea"/>
              </a:rPr>
              <a:t>better </a:t>
            </a:r>
            <a:endParaRPr lang="en-US" altLang="zh-CN" sz="2800" b="1">
              <a:solidFill>
                <a:schemeClr val="bg1"/>
              </a:solidFill>
            </a:endParaRPr>
          </a:p>
        </p:txBody>
      </p:sp>
      <p:cxnSp>
        <p:nvCxnSpPr>
          <p:cNvPr id="3" name="直接箭头连接符 2"/>
          <p:cNvCxnSpPr/>
          <p:nvPr/>
        </p:nvCxnSpPr>
        <p:spPr>
          <a:xfrm flipH="1">
            <a:off x="1139190" y="1266190"/>
            <a:ext cx="379730" cy="676910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7" name="文本框 16"/>
          <p:cNvSpPr txBox="1"/>
          <p:nvPr/>
        </p:nvSpPr>
        <p:spPr>
          <a:xfrm>
            <a:off x="4013835" y="1614805"/>
            <a:ext cx="4855845" cy="52197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txBody>
          <a:bodyPr wrap="square" rtlCol="0" anchor="t">
            <a:spAutoFit/>
          </a:bodyPr>
          <a:p>
            <a:r>
              <a:rPr lang="en-US" altLang="zh-CN" sz="2800" b="1">
                <a:solidFill>
                  <a:schemeClr val="bg1"/>
                </a:solidFill>
              </a:rPr>
              <a:t>low generalization ability</a:t>
            </a:r>
            <a:endParaRPr lang="en-US" altLang="zh-CN" sz="2800" b="1">
              <a:solidFill>
                <a:schemeClr val="bg1"/>
              </a:solidFill>
            </a:endParaRPr>
          </a:p>
        </p:txBody>
      </p:sp>
      <p:cxnSp>
        <p:nvCxnSpPr>
          <p:cNvPr id="13" name="直接箭头连接符 12"/>
          <p:cNvCxnSpPr/>
          <p:nvPr/>
        </p:nvCxnSpPr>
        <p:spPr>
          <a:xfrm>
            <a:off x="4013835" y="2461895"/>
            <a:ext cx="1778000" cy="1143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arrow" w="med" len="med"/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Result-</a:t>
            </a:r>
            <a:r>
              <a:rPr lang="en-US" altLang="zh-CN" sz="3600" b="1" dirty="0">
                <a:solidFill>
                  <a:schemeClr val="bg1"/>
                </a:solidFill>
                <a:ea typeface="宋体" panose="02010600030101010101" pitchFamily="2" charset="-122"/>
              </a:rPr>
              <a:t>Generative Model</a:t>
            </a:r>
            <a:endParaRPr lang="en-US" altLang="zh-CN" sz="3600" b="1" dirty="0">
              <a:solidFill>
                <a:schemeClr val="bg1"/>
              </a:solidFill>
              <a:ea typeface="宋体" panose="02010600030101010101" pitchFamily="2" charset="-122"/>
            </a:endParaRPr>
          </a:p>
        </p:txBody>
      </p:sp>
      <p:pic>
        <p:nvPicPr>
          <p:cNvPr id="93595450" name="Picture 1" descr="A graph with a line&#10;&#10;AI-generated content may be incorrect.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535" y="775335"/>
            <a:ext cx="2705100" cy="20288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Result-baseline </a:t>
            </a:r>
            <a:endParaRPr lang="en-US" altLang="zh-CN" sz="3600" b="1" dirty="0">
              <a:solidFill>
                <a:schemeClr val="bg1"/>
              </a:solidFill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Result-baseline </a:t>
            </a:r>
            <a:endParaRPr lang="en-US" altLang="zh-CN" sz="3600" b="1" dirty="0">
              <a:solidFill>
                <a:schemeClr val="bg1"/>
              </a:solidFill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Result-baseline </a:t>
            </a:r>
            <a:endParaRPr lang="en-US" altLang="zh-CN" sz="3600" b="1" dirty="0">
              <a:solidFill>
                <a:schemeClr val="bg1"/>
              </a:solidFill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Result-baseline </a:t>
            </a:r>
            <a:endParaRPr lang="en-US" altLang="zh-CN" sz="3600" b="1" dirty="0">
              <a:solidFill>
                <a:schemeClr val="bg1"/>
              </a:solidFill>
              <a:ea typeface="宋体" panose="02010600030101010101" pitchFamily="2" charset="-122"/>
            </a:endParaRPr>
          </a:p>
        </p:txBody>
      </p:sp>
      <p:pic>
        <p:nvPicPr>
          <p:cNvPr id="7" name="图片 3" descr="IMG_25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55" y="775335"/>
            <a:ext cx="5779135" cy="245491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" name="文本框 9"/>
          <p:cNvSpPr txBox="1"/>
          <p:nvPr/>
        </p:nvSpPr>
        <p:spPr>
          <a:xfrm>
            <a:off x="4013835" y="895350"/>
            <a:ext cx="4855845" cy="521970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txBody>
          <a:bodyPr wrap="square" rtlCol="0" anchor="t">
            <a:spAutoFit/>
          </a:bodyPr>
          <a:p>
            <a:r>
              <a:rPr lang="en-US" altLang="zh-CN" sz="2800" b="1">
                <a:solidFill>
                  <a:schemeClr val="bg1"/>
                </a:solidFill>
              </a:rPr>
              <a:t>CLOSED questiosn </a:t>
            </a:r>
            <a:r>
              <a:rPr lang="en-US" altLang="zh-CN" sz="2800" b="1">
                <a:solidFill>
                  <a:schemeClr val="bg1"/>
                </a:solidFill>
                <a:sym typeface="+mn-ea"/>
              </a:rPr>
              <a:t>better </a:t>
            </a:r>
            <a:endParaRPr lang="en-US" altLang="zh-CN" sz="2800" b="1">
              <a:solidFill>
                <a:schemeClr val="bg1"/>
              </a:solidFill>
            </a:endParaRPr>
          </a:p>
        </p:txBody>
      </p:sp>
      <p:cxnSp>
        <p:nvCxnSpPr>
          <p:cNvPr id="3" name="直接箭头连接符 2"/>
          <p:cNvCxnSpPr/>
          <p:nvPr/>
        </p:nvCxnSpPr>
        <p:spPr>
          <a:xfrm flipH="1">
            <a:off x="1139190" y="1266190"/>
            <a:ext cx="379730" cy="676910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7" name="文本框 16"/>
          <p:cNvSpPr txBox="1"/>
          <p:nvPr/>
        </p:nvSpPr>
        <p:spPr>
          <a:xfrm>
            <a:off x="4013835" y="1614805"/>
            <a:ext cx="4855845" cy="52197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txBody>
          <a:bodyPr wrap="square" rtlCol="0" anchor="t">
            <a:spAutoFit/>
          </a:bodyPr>
          <a:p>
            <a:r>
              <a:rPr lang="en-US" altLang="zh-CN" sz="2800" b="1">
                <a:solidFill>
                  <a:schemeClr val="bg1"/>
                </a:solidFill>
              </a:rPr>
              <a:t>low generalization ability</a:t>
            </a:r>
            <a:endParaRPr lang="en-US" altLang="zh-CN" sz="2800" b="1">
              <a:solidFill>
                <a:schemeClr val="bg1"/>
              </a:solidFill>
            </a:endParaRPr>
          </a:p>
        </p:txBody>
      </p:sp>
      <p:cxnSp>
        <p:nvCxnSpPr>
          <p:cNvPr id="13" name="直接箭头连接符 12"/>
          <p:cNvCxnSpPr/>
          <p:nvPr/>
        </p:nvCxnSpPr>
        <p:spPr>
          <a:xfrm>
            <a:off x="4013835" y="2461895"/>
            <a:ext cx="1778000" cy="1143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arrow" w="med" len="med"/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1"/>
          <p:cNvPicPr preferRelativeResize="0"/>
          <p:nvPr/>
        </p:nvPicPr>
        <p:blipFill rotWithShape="1">
          <a:blip r:embed="rId1"/>
          <a:srcRect b="8619"/>
          <a:stretch>
            <a:fillRect/>
          </a:stretch>
        </p:blipFill>
        <p:spPr>
          <a:xfrm>
            <a:off x="0" y="-6985"/>
            <a:ext cx="9144000" cy="3009265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"/>
          <p:cNvSpPr txBox="1"/>
          <p:nvPr/>
        </p:nvSpPr>
        <p:spPr>
          <a:xfrm>
            <a:off x="2498071" y="1131106"/>
            <a:ext cx="3957357" cy="10168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 panose="020F0502020204030204"/>
              <a:buNone/>
            </a:pPr>
            <a:r>
              <a:rPr lang="en-US" sz="3600" b="1" dirty="0" smtClean="0">
                <a:solidFill>
                  <a:srgbClr val="FFFFFF"/>
                </a:solidFill>
              </a:rPr>
              <a:t>THAN</a:t>
            </a:r>
            <a:r>
              <a:rPr lang="en-US" altLang="zh-CN" sz="3600" b="1" dirty="0" smtClean="0">
                <a:solidFill>
                  <a:srgbClr val="FFFFFF"/>
                </a:solidFill>
              </a:rPr>
              <a:t>K</a:t>
            </a:r>
            <a:r>
              <a:rPr lang="en-US" sz="3600" b="1" dirty="0" smtClean="0">
                <a:solidFill>
                  <a:srgbClr val="FFFFFF"/>
                </a:solidFill>
              </a:rPr>
              <a:t> YOU</a:t>
            </a:r>
            <a:endParaRPr sz="1100" b="1" i="0" u="none" strike="noStrike" cap="none" dirty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TABLE_ENDDRAG_ORIGIN_RECT" val="461*148"/>
  <p:tag name="TABLE_ENDDRAG_RECT" val="202*60*461*148"/>
</p:tagLst>
</file>

<file path=ppt/theme/theme1.xml><?xml version="1.0" encoding="utf-8"?>
<a:theme xmlns:a="http://schemas.openxmlformats.org/drawingml/2006/main" name="Office Theme">
  <a:themeElements>
    <a:clrScheme name="Paper">
      <a:dk1>
        <a:srgbClr val="000000"/>
      </a:dk1>
      <a:lt1>
        <a:srgbClr val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3354</Words>
  <Application>WPS 演示</Application>
  <PresentationFormat>全屏显示(16:9)</PresentationFormat>
  <Paragraphs>249</Paragraphs>
  <Slides>16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16</vt:i4>
      </vt:variant>
    </vt:vector>
  </HeadingPairs>
  <TitlesOfParts>
    <vt:vector size="33" baseType="lpstr">
      <vt:lpstr>Arial</vt:lpstr>
      <vt:lpstr>宋体</vt:lpstr>
      <vt:lpstr>Wingdings</vt:lpstr>
      <vt:lpstr>Arial</vt:lpstr>
      <vt:lpstr>Calibri</vt:lpstr>
      <vt:lpstr>Arial MT</vt:lpstr>
      <vt:lpstr>Arial Unicode MS</vt:lpstr>
      <vt:lpstr>Times New Roman</vt:lpstr>
      <vt:lpstr>微软雅黑</vt:lpstr>
      <vt:lpstr>quote-cjk-patch</vt:lpstr>
      <vt:lpstr>Segoe Print</vt:lpstr>
      <vt:lpstr>Arial MT</vt:lpstr>
      <vt:lpstr>Calibri</vt:lpstr>
      <vt:lpstr>Times New Roman</vt:lpstr>
      <vt:lpstr>quote-cjk-patch</vt:lpstr>
      <vt:lpstr>Office Theme</vt:lpstr>
      <vt:lpstr>Simple Light</vt:lpstr>
      <vt:lpstr>PowerPoint 演示文稿</vt:lpstr>
      <vt:lpstr> Introduction</vt:lpstr>
      <vt:lpstr> RQs/ROs</vt:lpstr>
      <vt:lpstr> Methods-baseline architecture</vt:lpstr>
      <vt:lpstr> Methods-baseline architecture</vt:lpstr>
      <vt:lpstr> Methods-baseline architecture</vt:lpstr>
      <vt:lpstr> Methods-baseline architecture</vt:lpstr>
      <vt:lpstr> Methods-Generative Model Architecture</vt:lpstr>
      <vt:lpstr>Result-baseline </vt:lpstr>
      <vt:lpstr>Result-baseline </vt:lpstr>
      <vt:lpstr>Result-baseline </vt:lpstr>
      <vt:lpstr>Result-baseline </vt:lpstr>
      <vt:lpstr>Result-baseline </vt:lpstr>
      <vt:lpstr>Result-baseline </vt:lpstr>
      <vt:lpstr>Result-baseline 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shiernee saw</dc:creator>
  <cp:lastModifiedBy>石呆子</cp:lastModifiedBy>
  <cp:revision>98</cp:revision>
  <dcterms:created xsi:type="dcterms:W3CDTF">2026-01-11T04:44:00Z</dcterms:created>
  <dcterms:modified xsi:type="dcterms:W3CDTF">2026-01-16T02:01:22Z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lidoAppVersion">
    <vt:lpwstr>0.17.1.1417</vt:lpwstr>
  </property>
  <property fmtid="{D5CDD505-2E9C-101B-9397-08002B2CF9AE}" pid="3" name="KSOProductBuildVer">
    <vt:lpwstr>2052-12.1.0.24657</vt:lpwstr>
  </property>
  <property fmtid="{D5CDD505-2E9C-101B-9397-08002B2CF9AE}" pid="4" name="ICV">
    <vt:lpwstr>BB7536458E3B41899896659986F44323_12</vt:lpwstr>
  </property>
</Properties>
</file>