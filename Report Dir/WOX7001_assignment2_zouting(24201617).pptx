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7" r:id="rId6"/>
    <p:sldId id="319" r:id="rId7"/>
    <p:sldId id="320" r:id="rId8"/>
    <p:sldId id="321" r:id="rId9"/>
    <p:sldId id="322" r:id="rId10"/>
    <p:sldId id="323" r:id="rId11"/>
    <p:sldId id="324" r:id="rId12"/>
    <p:sldId id="296" r:id="rId13"/>
  </p:sldIdLst>
  <p:sldSz cx="9144000" cy="5143500" type="screen16x9"/>
  <p:notesSz cx="6858000" cy="9144000"/>
  <p:embeddedFontLst>
    <p:embeddedFont>
      <p:font typeface="Calibri" panose="020F0502020204030204"/>
      <p:regular r:id="rId17"/>
    </p:embeddedFont>
    <p:embeddedFont>
      <p:font typeface="Arial Unicode MS" panose="020B0604020202020204" charset="-122"/>
      <p:regular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556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6CC"/>
    <a:srgbClr val="DAE8FC"/>
    <a:srgbClr val="E1D5E7"/>
    <a:srgbClr val="D5E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>
    <p:restoredLeft sz="15620"/>
    <p:restoredTop sz="72325" autoAdjust="0"/>
  </p:normalViewPr>
  <p:slideViewPr>
    <p:cSldViewPr snapToGrid="0" showGuides="1">
      <p:cViewPr>
        <p:scale>
          <a:sx n="75" d="100"/>
          <a:sy n="75" d="100"/>
        </p:scale>
        <p:origin x="-1002" y="-72"/>
      </p:cViewPr>
      <p:guideLst>
        <p:guide orient="horz" pos="1556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8" Type="http://schemas.openxmlformats.org/officeDocument/2006/relationships/font" Target="fonts/font2.fntdata"/><Relationship Id="rId17" Type="http://schemas.openxmlformats.org/officeDocument/2006/relationships/font" Target="fonts/font1.fntdata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68" name="Google Shape;6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68" name="Google Shape;6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Google Shape;13;p3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4" name="Google Shape;14;p3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Google Shape;15;p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Google Shape;16;p3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27" name="Google Shape;27;p3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8" name="Google Shape;28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3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1" name="Google Shape;31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4" name="Google Shape;34;p3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5" name="Google Shape;35;p3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Title and two columns">
  <p:cSld name="TITLE_AND_TWO_COLUMN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8" name="Google Shape;38;p3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9" name="Google Shape;39;p39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0" name="Google Shape;40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3" name="Google Shape;43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1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1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7" name="Google Shape;47;p4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2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50" name="Google Shape;50;p4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4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3" name="Google Shape;53;p43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4" name="Google Shape;54;p43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5" name="Google Shape;55;p43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6" name="Google Shape;56;p4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44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59" name="Google Shape;59;p4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45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62" name="Google Shape;62;p45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3" name="Google Shape;63;p4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0.xml"/><Relationship Id="rId8" Type="http://schemas.openxmlformats.org/officeDocument/2006/relationships/slideLayout" Target="../slideLayouts/slideLayout9.xml"/><Relationship Id="rId7" Type="http://schemas.openxmlformats.org/officeDocument/2006/relationships/slideLayout" Target="../slideLayouts/slideLayout8.xml"/><Relationship Id="rId6" Type="http://schemas.openxmlformats.org/officeDocument/2006/relationships/slideLayout" Target="../slideLayouts/slideLayout7.xml"/><Relationship Id="rId5" Type="http://schemas.openxmlformats.org/officeDocument/2006/relationships/slideLayout" Target="../slideLayouts/slideLayout6.xml"/><Relationship Id="rId4" Type="http://schemas.openxmlformats.org/officeDocument/2006/relationships/slideLayout" Target="../slideLayouts/slideLayout5.xml"/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1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2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 panose="020F0502020204030204"/>
              <a:buNone/>
              <a:defRPr sz="3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7" name="Google Shape;7;p3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p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9" name="Google Shape;9;p3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0" name="Google Shape;10;p3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23" name="Google Shape;23;p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/>
              <a:buChar char="●"/>
              <a:defRPr sz="1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24" name="Google Shape;24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70;p1"/>
          <p:cNvPicPr preferRelativeResize="0"/>
          <p:nvPr/>
        </p:nvPicPr>
        <p:blipFill rotWithShape="1">
          <a:blip r:embed="rId1"/>
          <a:srcRect b="8619"/>
          <a:stretch>
            <a:fillRect/>
          </a:stretch>
        </p:blipFill>
        <p:spPr>
          <a:xfrm>
            <a:off x="0" y="-6985"/>
            <a:ext cx="9144000" cy="300926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表格 2"/>
          <p:cNvGraphicFramePr/>
          <p:nvPr/>
        </p:nvGraphicFramePr>
        <p:xfrm>
          <a:off x="986155" y="3310255"/>
          <a:ext cx="639953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99765"/>
                <a:gridCol w="3199765"/>
              </a:tblGrid>
              <a:tr h="381000">
                <a:tc>
                  <a:txBody>
                    <a:bodyPr/>
                    <a:p>
                      <a:pPr marL="66675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ea typeface="Arial MT"/>
                          <a:sym typeface="+mn-ea"/>
                        </a:rPr>
                        <a:t>Name (</a:t>
                      </a: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 MT"/>
                        </a:rPr>
                        <a:t>Matric Number)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 MT"/>
                      </a:endParaRPr>
                    </a:p>
                  </a:txBody>
                  <a:tcPr marL="0" marR="0" marT="0" marB="0" anchor="t" anchorCtr="0">
                    <a:noFill/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sym typeface="+mn-ea"/>
                        </a:rPr>
                        <a:t>ZOU TING (</a:t>
                      </a: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" panose="020B0604020202020204"/>
                        </a:rPr>
                        <a:t>24201617)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  <a:p>
                      <a:pPr marL="0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" panose="020B0604020202020204"/>
                        </a:rPr>
                        <a:t>ZHONG JUNPEI(24214748)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0" marR="0" marT="0" marB="0" anchor="t" anchorCtr="0">
                    <a:noFill/>
                  </a:tcPr>
                </a:tc>
              </a:tr>
              <a:tr h="381000">
                <a:tc>
                  <a:txBody>
                    <a:bodyPr/>
                    <a:p>
                      <a:pPr marL="66675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 MT"/>
                        </a:rPr>
                        <a:t>Course 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 MT"/>
                      </a:endParaRPr>
                    </a:p>
                  </a:txBody>
                  <a:tcPr marL="0" marR="0" marT="0" marB="0" anchor="t" anchorCtr="0">
                    <a:noFill/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" panose="020B0604020202020204"/>
                        </a:rPr>
                        <a:t>WOA7015 – Advanced Machine Learning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0" marR="0" marT="0" marB="0" anchor="t" anchorCtr="0">
                    <a:noFill/>
                  </a:tcPr>
                </a:tc>
              </a:tr>
              <a:tr h="381000">
                <a:tc>
                  <a:txBody>
                    <a:bodyPr/>
                    <a:p>
                      <a:pPr marL="66675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 MT"/>
                        </a:rPr>
                        <a:t>Lecturer Name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 MT"/>
                      </a:endParaRPr>
                    </a:p>
                  </a:txBody>
                  <a:tcPr marL="0" marR="0" marT="0" marB="0" anchor="t" anchorCtr="0">
                    <a:noFill/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" panose="020B0604020202020204"/>
                        </a:rPr>
                        <a:t>Dr. SAW SHIER NEE (OCC1)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0" marR="0" marT="0" marB="0" anchor="t" anchorCtr="0">
                    <a:noFill/>
                  </a:tcPr>
                </a:tc>
              </a:tr>
            </a:tbl>
          </a:graphicData>
        </a:graphic>
      </p:graphicFrame>
      <p:sp>
        <p:nvSpPr>
          <p:cNvPr id="7" name="Google Shape;71;p1"/>
          <p:cNvSpPr txBox="1"/>
          <p:nvPr/>
        </p:nvSpPr>
        <p:spPr>
          <a:xfrm>
            <a:off x="986118" y="306189"/>
            <a:ext cx="7540500" cy="21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FFFFFF"/>
              </a:buClr>
              <a:buSzPts val="3600"/>
            </a:pPr>
            <a:r>
              <a:rPr lang="en-US" altLang="zh-CN" sz="2800" b="1" i="0" u="none" strike="noStrike" cap="none" dirty="0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 Comparative Study of CNN Baseline Classifier and LLM-Based Model for Medical Visual Question Answersing</a:t>
            </a:r>
            <a:endParaRPr lang="en-US" altLang="zh-CN" sz="2800" b="1" i="0" u="none" strike="noStrike" cap="none" dirty="0">
              <a:solidFill>
                <a:schemeClr val="bg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Introduction</a:t>
            </a:r>
            <a:endParaRPr lang="en-US" altLang="zh-CN" sz="3600" b="1" dirty="0">
              <a:solidFill>
                <a:schemeClr val="bg1"/>
              </a:solidFill>
            </a:endParaRPr>
          </a:p>
        </p:txBody>
      </p:sp>
      <p:pic>
        <p:nvPicPr>
          <p:cNvPr id="4" name="图片 3"/>
          <p:cNvPicPr/>
          <p:nvPr/>
        </p:nvPicPr>
        <p:blipFill>
          <a:blip r:embed="rId2"/>
          <a:stretch>
            <a:fillRect/>
          </a:stretch>
        </p:blipFill>
        <p:spPr>
          <a:xfrm>
            <a:off x="245428" y="945198"/>
            <a:ext cx="8486775" cy="132397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734060" y="2517140"/>
            <a:ext cx="7270115" cy="608330"/>
          </a:xfrm>
          <a:prstGeom prst="rect">
            <a:avLst/>
          </a:prstGeom>
        </p:spPr>
        <p:txBody>
          <a:bodyPr>
            <a:noAutofit/>
          </a:bodyPr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2400" b="0" i="0">
                <a:solidFill>
                  <a:srgbClr val="2E3033"/>
                </a:solidFill>
                <a:latin typeface="Arial" panose="020B0604020202020204"/>
                <a:ea typeface="Arial" panose="020B0604020202020204"/>
              </a:rPr>
              <a:t>Demands for </a:t>
            </a:r>
            <a:r>
              <a:rPr lang="en-US" altLang="zh-CN" sz="2400" b="1" i="0">
                <a:solidFill>
                  <a:srgbClr val="2E3033"/>
                </a:solidFill>
                <a:latin typeface="Arial" panose="020B0604020202020204"/>
                <a:ea typeface="Arial" panose="020B0604020202020204"/>
              </a:rPr>
              <a:t>"understanding medical images"</a:t>
            </a:r>
            <a:endParaRPr lang="en-US" altLang="zh-CN" sz="2400" b="1" i="0">
              <a:solidFill>
                <a:srgbClr val="2E3033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6" name="下箭头 5"/>
          <p:cNvSpPr/>
          <p:nvPr/>
        </p:nvSpPr>
        <p:spPr>
          <a:xfrm>
            <a:off x="3869690" y="3077210"/>
            <a:ext cx="702310" cy="523875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365125" y="3791585"/>
            <a:ext cx="8438515" cy="953135"/>
          </a:xfrm>
          <a:prstGeom prst="rect">
            <a:avLst/>
          </a:prstGeom>
        </p:spPr>
        <p:txBody>
          <a:bodyPr wrap="square">
            <a:spAutoFit/>
          </a:bodyPr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28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how to evaluate the performance</a:t>
            </a:r>
            <a:r>
              <a:rPr lang="en-US" altLang="zh-CN" sz="28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 of closed-ended and open-ended questions</a:t>
            </a:r>
            <a:r>
              <a:rPr lang="zh-CN" altLang="en-US" sz="28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？</a:t>
            </a:r>
            <a:endParaRPr lang="zh-CN" altLang="en-US" sz="28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RQs/ROs</a:t>
            </a:r>
            <a:endParaRPr lang="en-US" altLang="zh-CN" sz="3600" b="1" dirty="0">
              <a:solidFill>
                <a:schemeClr val="bg1"/>
              </a:solidFill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365125" y="1066165"/>
            <a:ext cx="3915410" cy="180721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1800" b="1">
                <a:solidFill>
                  <a:schemeClr val="tx1"/>
                </a:solidFill>
                <a:highlight>
                  <a:srgbClr val="FFFF00"/>
                </a:highlight>
              </a:rPr>
              <a:t>Which model</a:t>
            </a:r>
            <a:r>
              <a:rPr lang="en-US" altLang="zh-CN" sz="1800">
                <a:solidFill>
                  <a:schemeClr val="tx1"/>
                </a:solidFill>
              </a:rPr>
              <a:t>, baseline or VLM, </a:t>
            </a:r>
            <a:r>
              <a:rPr lang="en-US" altLang="zh-CN" sz="1800" b="1">
                <a:solidFill>
                  <a:schemeClr val="tx1"/>
                </a:solidFill>
                <a:highlight>
                  <a:srgbClr val="FFFF00"/>
                </a:highlight>
              </a:rPr>
              <a:t>performs better</a:t>
            </a:r>
            <a:r>
              <a:rPr lang="en-US" altLang="zh-CN" sz="1800">
                <a:solidFill>
                  <a:schemeClr val="tx1"/>
                </a:solidFill>
              </a:rPr>
              <a:t> in answering closed-ended questions about radiology images? How big is the gap between the two models?</a:t>
            </a:r>
            <a:endParaRPr lang="en-US" altLang="zh-CN" sz="1800">
              <a:solidFill>
                <a:schemeClr val="tx1"/>
              </a:solidFill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364490" y="3096895"/>
            <a:ext cx="3916045" cy="184023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800">
                <a:solidFill>
                  <a:schemeClr val="tx1"/>
                </a:solidFill>
              </a:rPr>
              <a:t>How is the expression quality of large visual language models(VLM) in medical </a:t>
            </a:r>
            <a:r>
              <a:rPr lang="en-US" altLang="zh-CN" sz="1800" b="1">
                <a:solidFill>
                  <a:schemeClr val="tx1"/>
                </a:solidFill>
                <a:highlight>
                  <a:srgbClr val="FFFF00"/>
                </a:highlight>
              </a:rPr>
              <a:t>open-ended question answering?</a:t>
            </a:r>
            <a:r>
              <a:rPr lang="en-US" altLang="zh-CN" sz="1800">
                <a:solidFill>
                  <a:schemeClr val="tx1"/>
                </a:solidFill>
              </a:rPr>
              <a:t> What is the risk that the content it generates may cause hallucinations?</a:t>
            </a:r>
            <a:endParaRPr lang="en-US" altLang="zh-CN" sz="1800">
              <a:solidFill>
                <a:schemeClr val="tx1"/>
              </a:solidFill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4674870" y="1028700"/>
            <a:ext cx="4119245" cy="1989455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800">
                <a:solidFill>
                  <a:schemeClr val="tx1"/>
                </a:solidFill>
              </a:rPr>
              <a:t>Construct a unified evaluation framework, calculate closed classification indicators </a:t>
            </a:r>
            <a:r>
              <a:rPr lang="en-US" altLang="zh-CN" sz="1800" b="1">
                <a:solidFill>
                  <a:schemeClr val="tx1"/>
                </a:solidFill>
              </a:rPr>
              <a:t>(Overall Acc, Macro-F1), calculate the gap</a:t>
            </a:r>
            <a:r>
              <a:rPr lang="en-US" altLang="zh-CN" sz="1800">
                <a:solidFill>
                  <a:schemeClr val="tx1"/>
                </a:solidFill>
              </a:rPr>
              <a:t>, and evaluate and output the classification results under the two routes respectively.</a:t>
            </a:r>
            <a:endParaRPr lang="en-US" altLang="zh-CN" sz="1800">
              <a:solidFill>
                <a:schemeClr val="tx1"/>
              </a:solidFill>
            </a:endParaRPr>
          </a:p>
        </p:txBody>
      </p:sp>
      <p:sp>
        <p:nvSpPr>
          <p:cNvPr id="12" name="圆角矩形 11"/>
          <p:cNvSpPr/>
          <p:nvPr/>
        </p:nvSpPr>
        <p:spPr>
          <a:xfrm>
            <a:off x="4616450" y="3096895"/>
            <a:ext cx="4177665" cy="1916430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</a:rPr>
              <a:t>Use </a:t>
            </a:r>
            <a:r>
              <a:rPr lang="en-US" altLang="zh-CN" b="1">
                <a:solidFill>
                  <a:schemeClr val="tx1"/>
                </a:solidFill>
              </a:rPr>
              <a:t>language similarity metrics (BLEU, ROUGE-L, METEOR</a:t>
            </a:r>
            <a:r>
              <a:rPr lang="en-US" altLang="zh-CN">
                <a:solidFill>
                  <a:schemeClr val="tx1"/>
                </a:solidFill>
              </a:rPr>
              <a:t>, etc.) and human assistance to evaluate the expression quality of open-ended questions. Conduct sensitivity analysis on repetitive questions, systematically quantify the expression quality and illusion risk of answers generated by vlm, and formulate specific operation guidelines to reduce risks.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805305" y="697865"/>
            <a:ext cx="8096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 b="1"/>
              <a:t>RQs</a:t>
            </a:r>
            <a:endParaRPr lang="en-US" altLang="zh-CN" sz="1800" b="1"/>
          </a:p>
        </p:txBody>
      </p:sp>
      <p:sp>
        <p:nvSpPr>
          <p:cNvPr id="14" name="文本框 13"/>
          <p:cNvSpPr txBox="1"/>
          <p:nvPr/>
        </p:nvSpPr>
        <p:spPr>
          <a:xfrm>
            <a:off x="6329045" y="697865"/>
            <a:ext cx="8096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 b="1"/>
              <a:t>ROs</a:t>
            </a:r>
            <a:endParaRPr lang="en-US" altLang="zh-CN" sz="1800" b="1"/>
          </a:p>
        </p:txBody>
      </p:sp>
      <p:sp>
        <p:nvSpPr>
          <p:cNvPr id="15" name="右箭头 14"/>
          <p:cNvSpPr/>
          <p:nvPr/>
        </p:nvSpPr>
        <p:spPr>
          <a:xfrm>
            <a:off x="4202430" y="1722120"/>
            <a:ext cx="583565" cy="428625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右箭头 15"/>
          <p:cNvSpPr/>
          <p:nvPr/>
        </p:nvSpPr>
        <p:spPr>
          <a:xfrm>
            <a:off x="4202430" y="3646805"/>
            <a:ext cx="583565" cy="428625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下弧形箭头 17"/>
          <p:cNvSpPr/>
          <p:nvPr/>
        </p:nvSpPr>
        <p:spPr>
          <a:xfrm rot="5400000">
            <a:off x="3100705" y="2851785"/>
            <a:ext cx="2065020" cy="671830"/>
          </a:xfrm>
          <a:prstGeom prst="curvedUpArrow">
            <a:avLst>
              <a:gd name="adj1" fmla="val 25000"/>
              <a:gd name="adj2" fmla="val 68862"/>
              <a:gd name="adj3" fmla="val 45085"/>
            </a:avLst>
          </a:prstGeom>
        </p:spPr>
        <p:style>
          <a:lnRef idx="0">
            <a:srgbClr val="FFFFFF"/>
          </a:lnRef>
          <a:fillRef idx="1">
            <a:schemeClr val="accent6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187190" y="3216275"/>
            <a:ext cx="4770120" cy="1383665"/>
          </a:xfrm>
          <a:prstGeom prst="rect">
            <a:avLst/>
          </a:prstGeom>
        </p:spPr>
        <p:txBody>
          <a:bodyPr wrap="square">
            <a:spAutoFit/>
          </a:bodyPr>
          <a:p>
            <a:pPr marL="457200" indent="-457200" defTabSz="2667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800">
                <a:latin typeface="Arial Unicode MS" panose="020B0604020202020204" charset="-122"/>
                <a:ea typeface="Arial Unicode MS" panose="020B0604020202020204" charset="-122"/>
              </a:rPr>
              <a:t>Vocabulary construction</a:t>
            </a:r>
            <a:endParaRPr lang="en-US" altLang="zh-CN" sz="2800">
              <a:latin typeface="Arial Unicode MS" panose="020B0604020202020204" charset="-122"/>
              <a:ea typeface="Arial Unicode MS" panose="020B0604020202020204" charset="-122"/>
            </a:endParaRPr>
          </a:p>
          <a:p>
            <a:pPr marL="457200" indent="-457200" defTabSz="2667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800">
                <a:latin typeface="Arial Unicode MS" panose="020B0604020202020204" charset="-122"/>
                <a:ea typeface="Arial Unicode MS" panose="020B0604020202020204" charset="-122"/>
              </a:rPr>
              <a:t>Answer mapping </a:t>
            </a:r>
            <a:endParaRPr lang="en-US" altLang="zh-CN" sz="2800">
              <a:latin typeface="Arial Unicode MS" panose="020B0604020202020204" charset="-122"/>
              <a:ea typeface="Arial Unicode MS" panose="020B0604020202020204" charset="-122"/>
            </a:endParaRPr>
          </a:p>
        </p:txBody>
      </p:sp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Methods-baseline 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architecture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pic>
        <p:nvPicPr>
          <p:cNvPr id="2" name="图片 1" descr="报告用图-第 2 页.drawio"/>
          <p:cNvPicPr>
            <a:picLocks noChangeAspect="1"/>
          </p:cNvPicPr>
          <p:nvPr/>
        </p:nvPicPr>
        <p:blipFill>
          <a:blip r:embed="rId2"/>
          <a:srcRect l="8260"/>
          <a:stretch>
            <a:fillRect/>
          </a:stretch>
        </p:blipFill>
        <p:spPr>
          <a:xfrm>
            <a:off x="107315" y="847090"/>
            <a:ext cx="3568700" cy="4147185"/>
          </a:xfrm>
          <a:prstGeom prst="rect">
            <a:avLst/>
          </a:prstGeom>
        </p:spPr>
      </p:pic>
      <p:sp>
        <p:nvSpPr>
          <p:cNvPr id="4" name="圆角矩形 3"/>
          <p:cNvSpPr/>
          <p:nvPr/>
        </p:nvSpPr>
        <p:spPr>
          <a:xfrm>
            <a:off x="4269740" y="1668145"/>
            <a:ext cx="1272540" cy="127190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3600" b="1">
                <a:solidFill>
                  <a:schemeClr val="tx1"/>
                </a:solidFill>
              </a:rPr>
              <a:t>70%</a:t>
            </a:r>
            <a:endParaRPr lang="en-US" altLang="zh-CN" sz="3600" b="1">
              <a:solidFill>
                <a:schemeClr val="tx1"/>
              </a:solidFill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5851525" y="1668145"/>
            <a:ext cx="1261110" cy="1271905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3200" b="1">
                <a:solidFill>
                  <a:schemeClr val="tx1"/>
                </a:solidFill>
              </a:rPr>
              <a:t>15%</a:t>
            </a:r>
            <a:endParaRPr lang="en-US" altLang="zh-CN" sz="3200" b="1">
              <a:solidFill>
                <a:schemeClr val="tx1"/>
              </a:solidFill>
            </a:endParaRPr>
          </a:p>
        </p:txBody>
      </p:sp>
      <p:sp>
        <p:nvSpPr>
          <p:cNvPr id="6" name="圆角矩形 5"/>
          <p:cNvSpPr/>
          <p:nvPr/>
        </p:nvSpPr>
        <p:spPr>
          <a:xfrm>
            <a:off x="7421880" y="1668145"/>
            <a:ext cx="1261110" cy="127190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3200" b="1">
                <a:solidFill>
                  <a:schemeClr val="tx1"/>
                </a:solidFill>
              </a:rPr>
              <a:t>15%</a:t>
            </a:r>
            <a:endParaRPr lang="en-US" altLang="zh-CN" sz="3200" b="1">
              <a:solidFill>
                <a:schemeClr val="tx1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606290" y="1299845"/>
            <a:ext cx="7391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/>
              <a:t>train</a:t>
            </a:r>
            <a:endParaRPr lang="en-US" altLang="zh-CN" sz="1800"/>
          </a:p>
        </p:txBody>
      </p:sp>
      <p:sp>
        <p:nvSpPr>
          <p:cNvPr id="8" name="文本框 7"/>
          <p:cNvSpPr txBox="1"/>
          <p:nvPr/>
        </p:nvSpPr>
        <p:spPr>
          <a:xfrm>
            <a:off x="5951855" y="1299845"/>
            <a:ext cx="10598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/>
              <a:t>validate</a:t>
            </a:r>
            <a:endParaRPr lang="en-US" altLang="zh-CN" sz="1800"/>
          </a:p>
        </p:txBody>
      </p:sp>
      <p:sp>
        <p:nvSpPr>
          <p:cNvPr id="17" name="文本框 16"/>
          <p:cNvSpPr txBox="1"/>
          <p:nvPr/>
        </p:nvSpPr>
        <p:spPr>
          <a:xfrm>
            <a:off x="7682865" y="1299845"/>
            <a:ext cx="7391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/>
              <a:t>test</a:t>
            </a:r>
            <a:endParaRPr lang="en-US" altLang="zh-CN" sz="1800"/>
          </a:p>
        </p:txBody>
      </p:sp>
      <p:sp>
        <p:nvSpPr>
          <p:cNvPr id="23" name="文本框 22"/>
          <p:cNvSpPr txBox="1"/>
          <p:nvPr/>
        </p:nvSpPr>
        <p:spPr>
          <a:xfrm>
            <a:off x="4957445" y="883920"/>
            <a:ext cx="3048000" cy="306705"/>
          </a:xfrm>
          <a:prstGeom prst="rect">
            <a:avLst/>
          </a:prstGeom>
          <a:solidFill>
            <a:srgbClr val="D5E8D4"/>
          </a:solidFill>
        </p:spPr>
        <p:txBody>
          <a:bodyPr wrap="square" rtlCol="0">
            <a:spAutoFit/>
          </a:bodyPr>
          <a:p>
            <a:pPr algn="ctr"/>
            <a:r>
              <a:rPr lang="en-US" altLang="zh-CN" b="1">
                <a:latin typeface="Arial" panose="020B0604020202020204" pitchFamily="34" charset="0"/>
                <a:ea typeface="Arial Unicode MS" panose="020B0604020202020204" charset="-122"/>
                <a:cs typeface="Arial" panose="020B0604020202020204" pitchFamily="34" charset="0"/>
                <a:sym typeface="+mn-ea"/>
              </a:rPr>
              <a:t>Data Preprocessing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Methods-baseline 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architecture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657225" y="786765"/>
            <a:ext cx="3048000" cy="306705"/>
          </a:xfrm>
          <a:prstGeom prst="rect">
            <a:avLst/>
          </a:prstGeom>
          <a:solidFill>
            <a:srgbClr val="E1D5E7"/>
          </a:solidFill>
        </p:spPr>
        <p:txBody>
          <a:bodyPr wrap="square" rtlCol="0">
            <a:spAutoFit/>
          </a:bodyPr>
          <a:p>
            <a:pPr algn="ctr"/>
            <a:r>
              <a:rPr lang="en-US" altLang="zh-CN" b="1"/>
              <a:t>Data Transformation and Loading</a:t>
            </a:r>
            <a:endParaRPr lang="en-US" altLang="zh-CN" b="1"/>
          </a:p>
        </p:txBody>
      </p:sp>
      <p:sp>
        <p:nvSpPr>
          <p:cNvPr id="11" name="文本框 10"/>
          <p:cNvSpPr txBox="1"/>
          <p:nvPr/>
        </p:nvSpPr>
        <p:spPr>
          <a:xfrm>
            <a:off x="775970" y="2895600"/>
            <a:ext cx="2247900" cy="337185"/>
          </a:xfrm>
          <a:prstGeom prst="rect">
            <a:avLst/>
          </a:prstGeom>
        </p:spPr>
        <p:txBody>
          <a:bodyPr wrap="square">
            <a:spAutoFit/>
          </a:bodyPr>
          <a:p>
            <a:pPr defTabSz="266700"/>
            <a:r>
              <a:rPr lang="en-US" altLang="zh-CN" sz="1600">
                <a:latin typeface="Arial" panose="020B0604020202020204" pitchFamily="34" charset="0"/>
                <a:ea typeface="Arial Unicode MS" panose="020B0604020202020204" charset="-122"/>
                <a:cs typeface="Arial" panose="020B0604020202020204" pitchFamily="34" charset="0"/>
                <a:sym typeface="+mn-ea"/>
              </a:rPr>
              <a:t>2. Text serialization</a:t>
            </a:r>
            <a:endParaRPr lang="en-US" altLang="zh-CN" sz="1600"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  <p:grpSp>
        <p:nvGrpSpPr>
          <p:cNvPr id="15" name="组合 14"/>
          <p:cNvGrpSpPr/>
          <p:nvPr/>
        </p:nvGrpSpPr>
        <p:grpSpPr>
          <a:xfrm>
            <a:off x="893445" y="1383030"/>
            <a:ext cx="2575560" cy="1445260"/>
            <a:chOff x="700" y="2492"/>
            <a:chExt cx="4056" cy="2276"/>
          </a:xfrm>
        </p:grpSpPr>
        <p:pic>
          <p:nvPicPr>
            <p:cNvPr id="9" name="图片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0" y="2492"/>
              <a:ext cx="4056" cy="2277"/>
            </a:xfrm>
            <a:prstGeom prst="rect">
              <a:avLst/>
            </a:prstGeom>
          </p:spPr>
        </p:pic>
        <p:pic>
          <p:nvPicPr>
            <p:cNvPr id="12" name="图片 1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89" y="4145"/>
              <a:ext cx="1067" cy="288"/>
            </a:xfrm>
            <a:prstGeom prst="rect">
              <a:avLst/>
            </a:prstGeom>
          </p:spPr>
        </p:pic>
      </p:grpSp>
      <p:sp>
        <p:nvSpPr>
          <p:cNvPr id="13" name="流程图: 预定义过程 12"/>
          <p:cNvSpPr/>
          <p:nvPr/>
        </p:nvSpPr>
        <p:spPr>
          <a:xfrm>
            <a:off x="775970" y="3290570"/>
            <a:ext cx="2810510" cy="471805"/>
          </a:xfrm>
          <a:prstGeom prst="flowChartPredefinedProcess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rgbClr val="D5E8D4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</a:rPr>
              <a:t>max_seq_len=25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775970" y="3820160"/>
            <a:ext cx="1647825" cy="337185"/>
          </a:xfrm>
          <a:prstGeom prst="rect">
            <a:avLst/>
          </a:prstGeom>
        </p:spPr>
        <p:txBody>
          <a:bodyPr wrap="square">
            <a:spAutoFit/>
          </a:bodyPr>
          <a:p>
            <a:pPr defTabSz="266700"/>
            <a:r>
              <a:rPr lang="en-US" altLang="zh-CN" sz="1600">
                <a:latin typeface="Arial Unicode MS" panose="020B0604020202020204" charset="-122"/>
                <a:ea typeface="Arial Unicode MS" panose="020B0604020202020204" charset="-122"/>
                <a:sym typeface="+mn-ea"/>
              </a:rPr>
              <a:t>3. DataLoader </a:t>
            </a:r>
            <a:endParaRPr lang="en-US" altLang="zh-CN" sz="1600"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865370" y="800100"/>
            <a:ext cx="3935095" cy="306705"/>
          </a:xfrm>
          <a:prstGeom prst="rect">
            <a:avLst/>
          </a:prstGeom>
          <a:solidFill>
            <a:srgbClr val="DAE8FC"/>
          </a:solidFill>
        </p:spPr>
        <p:txBody>
          <a:bodyPr wrap="square" rtlCol="0">
            <a:spAutoFit/>
          </a:bodyPr>
          <a:p>
            <a:pPr algn="ctr"/>
            <a:r>
              <a:rPr lang="en-US" altLang="zh-CN" b="1"/>
              <a:t>Model Building(MedVQA_ResNet_LSTM)</a:t>
            </a:r>
            <a:endParaRPr lang="en-US" altLang="zh-CN" b="1"/>
          </a:p>
        </p:txBody>
      </p:sp>
      <p:sp>
        <p:nvSpPr>
          <p:cNvPr id="10" name="文本框 9"/>
          <p:cNvSpPr txBox="1"/>
          <p:nvPr/>
        </p:nvSpPr>
        <p:spPr>
          <a:xfrm>
            <a:off x="775970" y="1151573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 defTabSz="266700"/>
            <a:r>
              <a:rPr lang="en-US" altLang="zh-CN" sz="16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1. Image transformations</a:t>
            </a:r>
            <a:endParaRPr lang="en-US" altLang="zh-CN" sz="1600"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970" y="4157345"/>
            <a:ext cx="828675" cy="762000"/>
          </a:xfrm>
          <a:prstGeom prst="rect">
            <a:avLst/>
          </a:prstGeom>
        </p:spPr>
      </p:pic>
      <p:sp>
        <p:nvSpPr>
          <p:cNvPr id="20" name="文本框 19"/>
          <p:cNvSpPr txBox="1"/>
          <p:nvPr/>
        </p:nvSpPr>
        <p:spPr>
          <a:xfrm>
            <a:off x="1604645" y="4224020"/>
            <a:ext cx="2431415" cy="583565"/>
          </a:xfrm>
          <a:prstGeom prst="rect">
            <a:avLst/>
          </a:prstGeom>
        </p:spPr>
        <p:txBody>
          <a:bodyPr wrap="square">
            <a:spAutoFit/>
          </a:bodyPr>
          <a:p>
            <a:pPr defTabSz="266700"/>
            <a:r>
              <a:rPr lang="en-US" altLang="zh-CN" sz="1600">
                <a:latin typeface="Times New Roman" panose="02020603050405020304"/>
                <a:ea typeface="Times New Roman" panose="02020603050405020304"/>
              </a:rPr>
              <a:t>batch = 32</a:t>
            </a:r>
            <a:endParaRPr lang="en-US" altLang="zh-CN" sz="1600">
              <a:latin typeface="Times New Roman" panose="02020603050405020304"/>
              <a:ea typeface="Times New Roman" panose="02020603050405020304"/>
            </a:endParaRPr>
          </a:p>
          <a:p>
            <a:pPr defTabSz="266700"/>
            <a:r>
              <a:rPr lang="en-US" altLang="zh-CN" sz="1600">
                <a:latin typeface="Times New Roman" panose="02020603050405020304"/>
                <a:ea typeface="Times New Roman" panose="02020603050405020304"/>
              </a:rPr>
              <a:t>processes = 2(GPU)</a:t>
            </a:r>
            <a:endParaRPr lang="zh-CN" altLang="en-US" sz="1600">
              <a:latin typeface="Times New Roman" panose="02020603050405020304"/>
              <a:ea typeface="宋体" panose="02010600030101010101" pitchFamily="2" charset="-122"/>
            </a:endParaRPr>
          </a:p>
        </p:txBody>
      </p:sp>
      <p:pic>
        <p:nvPicPr>
          <p:cNvPr id="22" name="图片 21" descr="报告用图-第 1 页.drawi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6415" y="1209040"/>
            <a:ext cx="2790825" cy="37052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Methods-baseline 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architecture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731520" y="775335"/>
            <a:ext cx="7562215" cy="306705"/>
          </a:xfrm>
          <a:prstGeom prst="rect">
            <a:avLst/>
          </a:prstGeom>
          <a:solidFill>
            <a:srgbClr val="FFE6CC"/>
          </a:solidFill>
        </p:spPr>
        <p:txBody>
          <a:bodyPr wrap="square" rtlCol="0">
            <a:spAutoFit/>
          </a:bodyPr>
          <a:p>
            <a:pPr algn="ctr"/>
            <a:r>
              <a:rPr lang="en-US" altLang="zh-CN" b="1">
                <a:latin typeface="Arial" panose="020B0604020202020204" pitchFamily="34" charset="0"/>
                <a:ea typeface="Arial Unicode MS" panose="020B0604020202020204" charset="-122"/>
                <a:cs typeface="Arial" panose="020B0604020202020204" pitchFamily="34" charset="0"/>
                <a:sym typeface="+mn-ea"/>
              </a:rPr>
              <a:t>Data Preprocessing</a:t>
            </a:r>
            <a:endParaRPr lang="zh-CN" altLang="en-US"/>
          </a:p>
        </p:txBody>
      </p:sp>
      <p:pic>
        <p:nvPicPr>
          <p:cNvPr id="4" name="图片 4" descr="报告用图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735" y="1082040"/>
            <a:ext cx="7131685" cy="386905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033145" y="1159193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 defTabSz="266700"/>
            <a:r>
              <a:rPr lang="en-US" altLang="zh-CN" sz="16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1. training stage</a:t>
            </a:r>
            <a:endParaRPr lang="en-US" altLang="zh-CN" sz="1600"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74395" y="2343468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 defTabSz="266700"/>
            <a:r>
              <a:rPr lang="en-US" altLang="zh-CN" sz="16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2. validation stage</a:t>
            </a:r>
            <a:endParaRPr lang="en-US" altLang="zh-CN" sz="1600"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Result-baseline 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graphicFrame>
        <p:nvGraphicFramePr>
          <p:cNvPr id="2" name="表格 1"/>
          <p:cNvGraphicFramePr/>
          <p:nvPr/>
        </p:nvGraphicFramePr>
        <p:xfrm>
          <a:off x="194310" y="775335"/>
          <a:ext cx="1898650" cy="4022725"/>
        </p:xfrm>
        <a:graphic>
          <a:graphicData uri="http://schemas.openxmlformats.org/drawingml/2006/table">
            <a:tbl>
              <a:tblPr/>
              <a:tblGrid>
                <a:gridCol w="949325"/>
                <a:gridCol w="949325"/>
              </a:tblGrid>
              <a:tr h="574675"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Parameter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Value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74675"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Epochs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35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</a:tr>
              <a:tr h="574675"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Batch Size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16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74675"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Optimizer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Adam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149350"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Learning Rate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10^(-4)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74675"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Dropout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0.3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8" name="表格 7"/>
          <p:cNvGraphicFramePr/>
          <p:nvPr/>
        </p:nvGraphicFramePr>
        <p:xfrm>
          <a:off x="2566035" y="763905"/>
          <a:ext cx="6314440" cy="2155825"/>
        </p:xfrm>
        <a:graphic>
          <a:graphicData uri="http://schemas.openxmlformats.org/drawingml/2006/table">
            <a:tbl>
              <a:tblPr/>
              <a:tblGrid>
                <a:gridCol w="1064895"/>
                <a:gridCol w="1871345"/>
                <a:gridCol w="1620520"/>
                <a:gridCol w="1757680"/>
              </a:tblGrid>
              <a:tr h="353060"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Metric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Training Set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Validation Set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Test Set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3855"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Accuracy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78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.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65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%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44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.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21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%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33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.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83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%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</a:tr>
              <a:tr h="355600"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F1 Score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-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16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.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21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%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13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.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64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%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63855"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Precision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-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16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.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04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%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14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.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54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%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55600"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Recall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-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-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13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.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27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%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63855"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Loss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0.6623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3.8041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-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9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3790" y="3035935"/>
            <a:ext cx="6496685" cy="18072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Result-baseline 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pic>
        <p:nvPicPr>
          <p:cNvPr id="7" name="图片 3" descr="IMG_25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55" y="775335"/>
            <a:ext cx="6553200" cy="278384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"/>
          <p:cNvPicPr preferRelativeResize="0"/>
          <p:nvPr/>
        </p:nvPicPr>
        <p:blipFill rotWithShape="1">
          <a:blip r:embed="rId1"/>
          <a:srcRect b="8619"/>
          <a:stretch>
            <a:fillRect/>
          </a:stretch>
        </p:blipFill>
        <p:spPr>
          <a:xfrm>
            <a:off x="0" y="-6985"/>
            <a:ext cx="9144000" cy="3009265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"/>
          <p:cNvSpPr txBox="1"/>
          <p:nvPr/>
        </p:nvSpPr>
        <p:spPr>
          <a:xfrm>
            <a:off x="2498071" y="1131106"/>
            <a:ext cx="3957357" cy="1016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 panose="020F0502020204030204"/>
              <a:buNone/>
            </a:pPr>
            <a:r>
              <a:rPr lang="en-US" sz="3600" b="1" dirty="0" smtClean="0">
                <a:solidFill>
                  <a:srgbClr val="FFFFFF"/>
                </a:solidFill>
              </a:rPr>
              <a:t>THAN</a:t>
            </a:r>
            <a:r>
              <a:rPr lang="en-US" altLang="zh-CN" sz="3600" b="1" dirty="0" smtClean="0">
                <a:solidFill>
                  <a:srgbClr val="FFFFFF"/>
                </a:solidFill>
              </a:rPr>
              <a:t>K</a:t>
            </a:r>
            <a:r>
              <a:rPr lang="en-US" sz="3600" b="1" dirty="0" smtClean="0">
                <a:solidFill>
                  <a:srgbClr val="FFFFFF"/>
                </a:solidFill>
              </a:rPr>
              <a:t> YOU</a:t>
            </a:r>
            <a:endParaRPr sz="1100" b="1" i="0" u="none" strike="noStrike" cap="none" dirty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Paper">
      <a:dk1>
        <a:srgbClr val="000000"/>
      </a:dk1>
      <a:lt1>
        <a:srgbClr val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1931</Words>
  <Application>WPS 演示</Application>
  <PresentationFormat>全屏显示(16:9)</PresentationFormat>
  <Paragraphs>157</Paragraphs>
  <Slides>9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9</vt:i4>
      </vt:variant>
    </vt:vector>
  </HeadingPairs>
  <TitlesOfParts>
    <vt:vector size="25" baseType="lpstr">
      <vt:lpstr>Arial</vt:lpstr>
      <vt:lpstr>宋体</vt:lpstr>
      <vt:lpstr>Wingdings</vt:lpstr>
      <vt:lpstr>Arial</vt:lpstr>
      <vt:lpstr>Calibri</vt:lpstr>
      <vt:lpstr>Arial MT</vt:lpstr>
      <vt:lpstr>微软雅黑</vt:lpstr>
      <vt:lpstr>Arial Unicode MS</vt:lpstr>
      <vt:lpstr>Times New Roman</vt:lpstr>
      <vt:lpstr>Arial MT</vt:lpstr>
      <vt:lpstr>Calibri</vt:lpstr>
      <vt:lpstr>Times New Roman</vt:lpstr>
      <vt:lpstr>monospace</vt:lpstr>
      <vt:lpstr>Segoe Print</vt:lpstr>
      <vt:lpstr>Office Theme</vt:lpstr>
      <vt:lpstr>Simple Light</vt:lpstr>
      <vt:lpstr>PowerPoint 演示文稿</vt:lpstr>
      <vt:lpstr> Introduction</vt:lpstr>
      <vt:lpstr> RQs/ROs</vt:lpstr>
      <vt:lpstr> Methods-</vt:lpstr>
      <vt:lpstr> Methods-baseline architecture</vt:lpstr>
      <vt:lpstr> Methods-baseline architecture</vt:lpstr>
      <vt:lpstr> Methods-baseline architecture</vt:lpstr>
      <vt:lpstr>Result-baseline 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shiernee saw</dc:creator>
  <cp:lastModifiedBy>石呆子</cp:lastModifiedBy>
  <cp:revision>97</cp:revision>
  <dcterms:created xsi:type="dcterms:W3CDTF">2026-01-11T04:44:00Z</dcterms:created>
  <dcterms:modified xsi:type="dcterms:W3CDTF">2026-01-15T19:32:46Z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oAppVersion">
    <vt:lpwstr>0.17.1.1417</vt:lpwstr>
  </property>
  <property fmtid="{D5CDD505-2E9C-101B-9397-08002B2CF9AE}" pid="3" name="KSOProductBuildVer">
    <vt:lpwstr>2052-12.1.0.24657</vt:lpwstr>
  </property>
  <property fmtid="{D5CDD505-2E9C-101B-9397-08002B2CF9AE}" pid="4" name="ICV">
    <vt:lpwstr>BB7536458E3B41899896659986F44323_12</vt:lpwstr>
  </property>
</Properties>
</file>