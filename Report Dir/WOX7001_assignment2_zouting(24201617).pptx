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1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2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0" r:id="rId2"/>
  </p:sldMasterIdLst>
  <p:notesMasterIdLst>
    <p:notesMasterId r:id="rId19"/>
  </p:notesMasterIdLst>
  <p:sldIdLst>
    <p:sldId id="256" r:id="rId3"/>
    <p:sldId id="257" r:id="rId4"/>
    <p:sldId id="319" r:id="rId5"/>
    <p:sldId id="320" r:id="rId6"/>
    <p:sldId id="321" r:id="rId7"/>
    <p:sldId id="322" r:id="rId8"/>
    <p:sldId id="330" r:id="rId9"/>
    <p:sldId id="332" r:id="rId10"/>
    <p:sldId id="331" r:id="rId11"/>
    <p:sldId id="323" r:id="rId12"/>
    <p:sldId id="324" r:id="rId13"/>
    <p:sldId id="325" r:id="rId14"/>
    <p:sldId id="326" r:id="rId15"/>
    <p:sldId id="328" r:id="rId16"/>
    <p:sldId id="329" r:id="rId17"/>
    <p:sldId id="296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42" userDrawn="1">
          <p15:clr>
            <a:srgbClr val="A4A3A4"/>
          </p15:clr>
        </p15:guide>
        <p15:guide id="2" pos="28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75A3"/>
    <a:srgbClr val="7D9263"/>
    <a:srgbClr val="FFE6CC"/>
    <a:srgbClr val="DAE8FC"/>
    <a:srgbClr val="E1D5E7"/>
    <a:srgbClr val="D5E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30"/>
    <p:restoredTop sz="72335" autoAdjust="0"/>
  </p:normalViewPr>
  <p:slideViewPr>
    <p:cSldViewPr snapToGrid="0" showGuides="1">
      <p:cViewPr varScale="1">
        <p:scale>
          <a:sx n="138" d="100"/>
          <a:sy n="138" d="100"/>
        </p:scale>
        <p:origin x="184" y="192"/>
      </p:cViewPr>
      <p:guideLst>
        <p:guide orient="horz" pos="1542"/>
        <p:guide pos="28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1#1">
  <dgm:title val=""/>
  <dgm:desc val=""/>
  <dgm:catLst>
    <dgm:cat type="accent5" pri="11100"/>
  </dgm:catLst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8FBB7B-694A-47BF-865D-2F44C1051453}" type="doc">
      <dgm:prSet loTypeId="urn:microsoft.com/office/officeart/2005/8/layout/hList1" loCatId="list" qsTypeId="urn:microsoft.com/office/officeart/2005/8/quickstyle/simple5#1" qsCatId="simple" csTypeId="urn:microsoft.com/office/officeart/2005/8/colors/accent5_1#1" csCatId="accent1" phldr="0"/>
      <dgm:spPr/>
      <dgm:t>
        <a:bodyPr/>
        <a:lstStyle/>
        <a:p>
          <a:endParaRPr lang="zh-CN" altLang="en-US"/>
        </a:p>
      </dgm:t>
    </dgm:pt>
    <dgm:pt modelId="{BD5427FF-4EB1-4006-BF7F-42158E0C5129}">
      <dgm:prSet phldrT="[文本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1600" b="1"/>
            <a:t>Advantages of Frozen Language Model</a:t>
          </a:r>
        </a:p>
      </dgm:t>
    </dgm:pt>
    <dgm:pt modelId="{A2F6D805-3B53-408A-A2A3-20BC3BF0D242}" type="parTrans" cxnId="{B388399E-0520-4464-8C87-DA42790AB011}">
      <dgm:prSet/>
      <dgm:spPr/>
      <dgm:t>
        <a:bodyPr/>
        <a:lstStyle/>
        <a:p>
          <a:endParaRPr lang="zh-CN" altLang="en-US"/>
        </a:p>
      </dgm:t>
    </dgm:pt>
    <dgm:pt modelId="{D47F9812-1256-4E44-A6BE-BEC559BE8FF3}" type="sibTrans" cxnId="{B388399E-0520-4464-8C87-DA42790AB011}">
      <dgm:prSet/>
      <dgm:spPr/>
      <dgm:t>
        <a:bodyPr/>
        <a:lstStyle/>
        <a:p>
          <a:endParaRPr lang="zh-CN" altLang="en-US"/>
        </a:p>
      </dgm:t>
    </dgm:pt>
    <dgm:pt modelId="{3A7B819B-DBE9-4610-B22A-5573EA6D532D}">
      <dgm:prSet phldrT="[文本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Output Coherence</a:t>
          </a:r>
        </a:p>
      </dgm:t>
    </dgm:pt>
    <dgm:pt modelId="{DC4BEA23-BF6E-42AD-9BF0-CFBDE86A80F1}" type="parTrans" cxnId="{4255DC23-8E53-4EEF-934C-24D6C994F5A8}">
      <dgm:prSet/>
      <dgm:spPr/>
      <dgm:t>
        <a:bodyPr/>
        <a:lstStyle/>
        <a:p>
          <a:endParaRPr lang="zh-CN" altLang="en-US"/>
        </a:p>
      </dgm:t>
    </dgm:pt>
    <dgm:pt modelId="{0BF6ACD3-AE1A-4691-8CBE-DBE77AB8A685}" type="sibTrans" cxnId="{4255DC23-8E53-4EEF-934C-24D6C994F5A8}">
      <dgm:prSet/>
      <dgm:spPr/>
      <dgm:t>
        <a:bodyPr/>
        <a:lstStyle/>
        <a:p>
          <a:endParaRPr lang="zh-CN" altLang="en-US"/>
        </a:p>
      </dgm:t>
    </dgm:pt>
    <dgm:pt modelId="{C93C45F0-4C8C-43D9-A785-DB6B65DCBFBC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Term Consistency</a:t>
          </a:r>
        </a:p>
      </dgm:t>
    </dgm:pt>
    <dgm:pt modelId="{955B3196-74BB-42A3-9F2E-5F44CEE7A6DB}" type="parTrans" cxnId="{0910F681-2DEF-4B32-85F6-AC0216A099EB}">
      <dgm:prSet/>
      <dgm:spPr/>
    </dgm:pt>
    <dgm:pt modelId="{C877797C-C9A9-44B4-9A03-86FAF0C56F55}" type="sibTrans" cxnId="{0910F681-2DEF-4B32-85F6-AC0216A099EB}">
      <dgm:prSet/>
      <dgm:spPr/>
    </dgm:pt>
    <dgm:pt modelId="{01E823FD-CE9A-48B3-A596-167C665D03D7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Risk Control</a:t>
          </a:r>
        </a:p>
      </dgm:t>
    </dgm:pt>
    <dgm:pt modelId="{D647510C-DCD5-4880-8162-1321C059322C}" type="parTrans" cxnId="{DD1CBB2F-3597-498F-814E-B5E0D319D761}">
      <dgm:prSet/>
      <dgm:spPr/>
    </dgm:pt>
    <dgm:pt modelId="{4DECF897-5A1F-4560-9562-45E18199F131}" type="sibTrans" cxnId="{DD1CBB2F-3597-498F-814E-B5E0D319D761}">
      <dgm:prSet/>
      <dgm:spPr/>
    </dgm:pt>
    <dgm:pt modelId="{FE969E54-0D5D-4815-BDC4-3309E2F7325D}">
      <dgm:prSet phldrT="[文本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1600" b="1"/>
            <a:t>Clinical Applicability Assessment</a:t>
          </a:r>
        </a:p>
      </dgm:t>
    </dgm:pt>
    <dgm:pt modelId="{B5D9FB86-EEBE-488F-B7DE-B7CF5C9166C5}" type="parTrans" cxnId="{549E804B-410A-4F40-BBEB-FA784362FE93}">
      <dgm:prSet/>
      <dgm:spPr/>
      <dgm:t>
        <a:bodyPr/>
        <a:lstStyle/>
        <a:p>
          <a:endParaRPr lang="zh-CN" altLang="en-US"/>
        </a:p>
      </dgm:t>
    </dgm:pt>
    <dgm:pt modelId="{D7D19B67-C01A-45D3-B5C7-B7E1B18A9F62}" type="sibTrans" cxnId="{549E804B-410A-4F40-BBEB-FA784362FE93}">
      <dgm:prSet/>
      <dgm:spPr/>
      <dgm:t>
        <a:bodyPr/>
        <a:lstStyle/>
        <a:p>
          <a:endParaRPr lang="zh-CN" altLang="en-US"/>
        </a:p>
      </dgm:t>
    </dgm:pt>
    <dgm:pt modelId="{35600F67-42C2-4D1B-B072-DC2A36FCB136}">
      <dgm:prSet phldrT="[文本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 dirty="0"/>
            <a:t>Semantic Correctness Priority</a:t>
          </a:r>
        </a:p>
      </dgm:t>
    </dgm:pt>
    <dgm:pt modelId="{B4BC79E1-FDBA-43D1-A988-1BE8090EDA7A}" type="parTrans" cxnId="{E61ABA29-4BB0-401D-AF41-C16B945D0ABD}">
      <dgm:prSet/>
      <dgm:spPr/>
      <dgm:t>
        <a:bodyPr/>
        <a:lstStyle/>
        <a:p>
          <a:endParaRPr lang="zh-CN" altLang="en-US"/>
        </a:p>
      </dgm:t>
    </dgm:pt>
    <dgm:pt modelId="{AD46A0AA-C45A-46D2-89AF-28390F99F9D0}" type="sibTrans" cxnId="{E61ABA29-4BB0-401D-AF41-C16B945D0ABD}">
      <dgm:prSet/>
      <dgm:spPr/>
      <dgm:t>
        <a:bodyPr/>
        <a:lstStyle/>
        <a:p>
          <a:endParaRPr lang="zh-CN" altLang="en-US"/>
        </a:p>
      </dgm:t>
    </dgm:pt>
    <dgm:pt modelId="{93B070B9-DFC1-4806-8E3D-930FC98F88DD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Modifier Sensitivity</a:t>
          </a:r>
        </a:p>
      </dgm:t>
    </dgm:pt>
    <dgm:pt modelId="{4AB60690-1051-4F1B-BBB6-56A51F58A9EE}" type="parTrans" cxnId="{C85910E5-10A8-4140-AA1B-DDB60ECFBA61}">
      <dgm:prSet/>
      <dgm:spPr/>
    </dgm:pt>
    <dgm:pt modelId="{B943DC9E-CACD-4959-A9D6-1D0173AA3AED}" type="sibTrans" cxnId="{C85910E5-10A8-4140-AA1B-DDB60ECFBA61}">
      <dgm:prSet/>
      <dgm:spPr/>
    </dgm:pt>
    <dgm:pt modelId="{AF265AD3-D9EB-448D-A6CA-62D4F2D1F899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Subtype Specificity</a:t>
          </a:r>
        </a:p>
      </dgm:t>
    </dgm:pt>
    <dgm:pt modelId="{FCA4E51C-6702-481A-85F2-70EEC8119AE1}" type="parTrans" cxnId="{715EA871-5FE0-400E-B7C1-765A0D4B35B0}">
      <dgm:prSet/>
      <dgm:spPr/>
    </dgm:pt>
    <dgm:pt modelId="{A963B2DE-4BD2-436F-9987-2817EB5496F3}" type="sibTrans" cxnId="{715EA871-5FE0-400E-B7C1-765A0D4B35B0}">
      <dgm:prSet/>
      <dgm:spPr/>
    </dgm:pt>
    <dgm:pt modelId="{D5FB6A06-3991-4223-AD64-C4F7F6F4DF69}" type="pres">
      <dgm:prSet presAssocID="{468FBB7B-694A-47BF-865D-2F44C1051453}" presName="Name0" presStyleCnt="0">
        <dgm:presLayoutVars>
          <dgm:dir/>
          <dgm:animLvl val="lvl"/>
          <dgm:resizeHandles val="exact"/>
        </dgm:presLayoutVars>
      </dgm:prSet>
      <dgm:spPr/>
    </dgm:pt>
    <dgm:pt modelId="{5EB24CCF-928A-4018-A934-89F31F564A83}" type="pres">
      <dgm:prSet presAssocID="{BD5427FF-4EB1-4006-BF7F-42158E0C5129}" presName="composite" presStyleCnt="0"/>
      <dgm:spPr/>
    </dgm:pt>
    <dgm:pt modelId="{5D9704F8-5A95-419F-B794-1E2F82666BDB}" type="pres">
      <dgm:prSet presAssocID="{BD5427FF-4EB1-4006-BF7F-42158E0C5129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C0A6D3D8-DBC2-45B6-8DEF-789A72552BB4}" type="pres">
      <dgm:prSet presAssocID="{BD5427FF-4EB1-4006-BF7F-42158E0C5129}" presName="desTx" presStyleLbl="alignAccFollowNode1" presStyleIdx="0" presStyleCnt="2">
        <dgm:presLayoutVars>
          <dgm:bulletEnabled val="1"/>
        </dgm:presLayoutVars>
      </dgm:prSet>
      <dgm:spPr/>
    </dgm:pt>
    <dgm:pt modelId="{C4F6D2AE-A2A5-43DC-B705-8E8ECE0E1613}" type="pres">
      <dgm:prSet presAssocID="{D47F9812-1256-4E44-A6BE-BEC559BE8FF3}" presName="space" presStyleCnt="0"/>
      <dgm:spPr/>
    </dgm:pt>
    <dgm:pt modelId="{C1832C44-4F6B-4ABA-88DC-7D5A80779E4B}" type="pres">
      <dgm:prSet presAssocID="{FE969E54-0D5D-4815-BDC4-3309E2F7325D}" presName="composite" presStyleCnt="0"/>
      <dgm:spPr/>
    </dgm:pt>
    <dgm:pt modelId="{3E0BA246-3456-471B-AD87-1436FD251DD8}" type="pres">
      <dgm:prSet presAssocID="{FE969E54-0D5D-4815-BDC4-3309E2F7325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33CF15AD-8A19-4E9A-9BED-239A79CAF737}" type="pres">
      <dgm:prSet presAssocID="{FE969E54-0D5D-4815-BDC4-3309E2F7325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4DF8EF05-A995-43DD-A841-D2A92D5433EF}" type="presOf" srcId="{93B070B9-DFC1-4806-8E3D-930FC98F88DD}" destId="{33CF15AD-8A19-4E9A-9BED-239A79CAF737}" srcOrd="0" destOrd="1" presId="urn:microsoft.com/office/officeart/2005/8/layout/hList1"/>
    <dgm:cxn modelId="{73237A0C-0483-4059-B1C6-3222875F54B2}" type="presOf" srcId="{35600F67-42C2-4D1B-B072-DC2A36FCB136}" destId="{33CF15AD-8A19-4E9A-9BED-239A79CAF737}" srcOrd="0" destOrd="0" presId="urn:microsoft.com/office/officeart/2005/8/layout/hList1"/>
    <dgm:cxn modelId="{4255DC23-8E53-4EEF-934C-24D6C994F5A8}" srcId="{BD5427FF-4EB1-4006-BF7F-42158E0C5129}" destId="{3A7B819B-DBE9-4610-B22A-5573EA6D532D}" srcOrd="0" destOrd="0" parTransId="{DC4BEA23-BF6E-42AD-9BF0-CFBDE86A80F1}" sibTransId="{0BF6ACD3-AE1A-4691-8CBE-DBE77AB8A685}"/>
    <dgm:cxn modelId="{E61ABA29-4BB0-401D-AF41-C16B945D0ABD}" srcId="{FE969E54-0D5D-4815-BDC4-3309E2F7325D}" destId="{35600F67-42C2-4D1B-B072-DC2A36FCB136}" srcOrd="0" destOrd="0" parTransId="{B4BC79E1-FDBA-43D1-A988-1BE8090EDA7A}" sibTransId="{AD46A0AA-C45A-46D2-89AF-28390F99F9D0}"/>
    <dgm:cxn modelId="{DD1CBB2F-3597-498F-814E-B5E0D319D761}" srcId="{BD5427FF-4EB1-4006-BF7F-42158E0C5129}" destId="{01E823FD-CE9A-48B3-A596-167C665D03D7}" srcOrd="2" destOrd="0" parTransId="{D647510C-DCD5-4880-8162-1321C059322C}" sibTransId="{4DECF897-5A1F-4560-9562-45E18199F131}"/>
    <dgm:cxn modelId="{3559DC37-4A9F-4F16-AE18-B51951E2C600}" type="presOf" srcId="{AF265AD3-D9EB-448D-A6CA-62D4F2D1F899}" destId="{33CF15AD-8A19-4E9A-9BED-239A79CAF737}" srcOrd="0" destOrd="2" presId="urn:microsoft.com/office/officeart/2005/8/layout/hList1"/>
    <dgm:cxn modelId="{549E804B-410A-4F40-BBEB-FA784362FE93}" srcId="{468FBB7B-694A-47BF-865D-2F44C1051453}" destId="{FE969E54-0D5D-4815-BDC4-3309E2F7325D}" srcOrd="1" destOrd="0" parTransId="{B5D9FB86-EEBE-488F-B7DE-B7CF5C9166C5}" sibTransId="{D7D19B67-C01A-45D3-B5C7-B7E1B18A9F62}"/>
    <dgm:cxn modelId="{715EA871-5FE0-400E-B7C1-765A0D4B35B0}" srcId="{FE969E54-0D5D-4815-BDC4-3309E2F7325D}" destId="{AF265AD3-D9EB-448D-A6CA-62D4F2D1F899}" srcOrd="2" destOrd="0" parTransId="{FCA4E51C-6702-481A-85F2-70EEC8119AE1}" sibTransId="{A963B2DE-4BD2-436F-9987-2817EB5496F3}"/>
    <dgm:cxn modelId="{28E14A72-5515-47E2-B216-3A8AF47E9962}" type="presOf" srcId="{01E823FD-CE9A-48B3-A596-167C665D03D7}" destId="{C0A6D3D8-DBC2-45B6-8DEF-789A72552BB4}" srcOrd="0" destOrd="2" presId="urn:microsoft.com/office/officeart/2005/8/layout/hList1"/>
    <dgm:cxn modelId="{F6A54281-24C3-401D-BF5A-5AFE0E9A9CF9}" type="presOf" srcId="{468FBB7B-694A-47BF-865D-2F44C1051453}" destId="{D5FB6A06-3991-4223-AD64-C4F7F6F4DF69}" srcOrd="0" destOrd="0" presId="urn:microsoft.com/office/officeart/2005/8/layout/hList1"/>
    <dgm:cxn modelId="{0910F681-2DEF-4B32-85F6-AC0216A099EB}" srcId="{BD5427FF-4EB1-4006-BF7F-42158E0C5129}" destId="{C93C45F0-4C8C-43D9-A785-DB6B65DCBFBC}" srcOrd="1" destOrd="0" parTransId="{955B3196-74BB-42A3-9F2E-5F44CEE7A6DB}" sibTransId="{C877797C-C9A9-44B4-9A03-86FAF0C56F55}"/>
    <dgm:cxn modelId="{B388399E-0520-4464-8C87-DA42790AB011}" srcId="{468FBB7B-694A-47BF-865D-2F44C1051453}" destId="{BD5427FF-4EB1-4006-BF7F-42158E0C5129}" srcOrd="0" destOrd="0" parTransId="{A2F6D805-3B53-408A-A2A3-20BC3BF0D242}" sibTransId="{D47F9812-1256-4E44-A6BE-BEC559BE8FF3}"/>
    <dgm:cxn modelId="{5C12DEC0-A8C3-45B8-8952-D239175C44F8}" type="presOf" srcId="{3A7B819B-DBE9-4610-B22A-5573EA6D532D}" destId="{C0A6D3D8-DBC2-45B6-8DEF-789A72552BB4}" srcOrd="0" destOrd="0" presId="urn:microsoft.com/office/officeart/2005/8/layout/hList1"/>
    <dgm:cxn modelId="{EACFEBC3-DEC0-40B2-AB97-B17C5237FCFA}" type="presOf" srcId="{FE969E54-0D5D-4815-BDC4-3309E2F7325D}" destId="{3E0BA246-3456-471B-AD87-1436FD251DD8}" srcOrd="0" destOrd="0" presId="urn:microsoft.com/office/officeart/2005/8/layout/hList1"/>
    <dgm:cxn modelId="{C85910E5-10A8-4140-AA1B-DDB60ECFBA61}" srcId="{FE969E54-0D5D-4815-BDC4-3309E2F7325D}" destId="{93B070B9-DFC1-4806-8E3D-930FC98F88DD}" srcOrd="1" destOrd="0" parTransId="{4AB60690-1051-4F1B-BBB6-56A51F58A9EE}" sibTransId="{B943DC9E-CACD-4959-A9D6-1D0173AA3AED}"/>
    <dgm:cxn modelId="{FE5752E6-3C30-44CE-944E-BA30C949D9DC}" type="presOf" srcId="{C93C45F0-4C8C-43D9-A785-DB6B65DCBFBC}" destId="{C0A6D3D8-DBC2-45B6-8DEF-789A72552BB4}" srcOrd="0" destOrd="1" presId="urn:microsoft.com/office/officeart/2005/8/layout/hList1"/>
    <dgm:cxn modelId="{467C26F2-E839-4DF5-A9AC-FCF4B6948330}" type="presOf" srcId="{BD5427FF-4EB1-4006-BF7F-42158E0C5129}" destId="{5D9704F8-5A95-419F-B794-1E2F82666BDB}" srcOrd="0" destOrd="0" presId="urn:microsoft.com/office/officeart/2005/8/layout/hList1"/>
    <dgm:cxn modelId="{F6B74F6D-B888-410E-90DB-50E3693BA6B2}" type="presParOf" srcId="{D5FB6A06-3991-4223-AD64-C4F7F6F4DF69}" destId="{5EB24CCF-928A-4018-A934-89F31F564A83}" srcOrd="0" destOrd="0" presId="urn:microsoft.com/office/officeart/2005/8/layout/hList1"/>
    <dgm:cxn modelId="{DC2ACA21-2272-4B30-8ADA-332C91980397}" type="presParOf" srcId="{5EB24CCF-928A-4018-A934-89F31F564A83}" destId="{5D9704F8-5A95-419F-B794-1E2F82666BDB}" srcOrd="0" destOrd="0" presId="urn:microsoft.com/office/officeart/2005/8/layout/hList1"/>
    <dgm:cxn modelId="{FC792F60-6616-4D1F-B9DA-8A2C8A771C96}" type="presParOf" srcId="{5EB24CCF-928A-4018-A934-89F31F564A83}" destId="{C0A6D3D8-DBC2-45B6-8DEF-789A72552BB4}" srcOrd="1" destOrd="0" presId="urn:microsoft.com/office/officeart/2005/8/layout/hList1"/>
    <dgm:cxn modelId="{BE41B782-BD7F-4038-A8E6-A1825FBD147F}" type="presParOf" srcId="{D5FB6A06-3991-4223-AD64-C4F7F6F4DF69}" destId="{C4F6D2AE-A2A5-43DC-B705-8E8ECE0E1613}" srcOrd="1" destOrd="0" presId="urn:microsoft.com/office/officeart/2005/8/layout/hList1"/>
    <dgm:cxn modelId="{FE766D5A-C011-4F18-BB78-D936CCFDC825}" type="presParOf" srcId="{D5FB6A06-3991-4223-AD64-C4F7F6F4DF69}" destId="{C1832C44-4F6B-4ABA-88DC-7D5A80779E4B}" srcOrd="2" destOrd="0" presId="urn:microsoft.com/office/officeart/2005/8/layout/hList1"/>
    <dgm:cxn modelId="{69A693CF-629B-4D6E-A856-D7768CA001B5}" type="presParOf" srcId="{C1832C44-4F6B-4ABA-88DC-7D5A80779E4B}" destId="{3E0BA246-3456-471B-AD87-1436FD251DD8}" srcOrd="0" destOrd="0" presId="urn:microsoft.com/office/officeart/2005/8/layout/hList1"/>
    <dgm:cxn modelId="{5965CA09-1B92-4F10-BC55-54E5D55555DE}" type="presParOf" srcId="{C1832C44-4F6B-4ABA-88DC-7D5A80779E4B}" destId="{33CF15AD-8A19-4E9A-9BED-239A79CAF73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704F8-5A95-419F-B794-1E2F82666BDB}">
      <dsp:nvSpPr>
        <dsp:cNvPr id="0" name=""/>
        <dsp:cNvSpPr/>
      </dsp:nvSpPr>
      <dsp:spPr bwMode="white">
        <a:xfrm>
          <a:off x="42" y="2032"/>
          <a:ext cx="4085027" cy="518400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600" b="1" kern="1200"/>
            <a:t>Advantages of Frozen Language Model</a:t>
          </a:r>
        </a:p>
      </dsp:txBody>
      <dsp:txXfrm>
        <a:off x="42" y="2032"/>
        <a:ext cx="4085027" cy="518400"/>
      </dsp:txXfrm>
    </dsp:sp>
    <dsp:sp modelId="{C0A6D3D8-DBC2-45B6-8DEF-789A72552BB4}">
      <dsp:nvSpPr>
        <dsp:cNvPr id="0" name=""/>
        <dsp:cNvSpPr/>
      </dsp:nvSpPr>
      <dsp:spPr bwMode="white">
        <a:xfrm>
          <a:off x="42" y="520432"/>
          <a:ext cx="4085027" cy="988199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 kern="1200"/>
            <a:t>Output Coherence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 kern="1200"/>
            <a:t>Term Consistency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 kern="1200"/>
            <a:t>Risk Control</a:t>
          </a:r>
        </a:p>
      </dsp:txBody>
      <dsp:txXfrm>
        <a:off x="42" y="520432"/>
        <a:ext cx="4085027" cy="988199"/>
      </dsp:txXfrm>
    </dsp:sp>
    <dsp:sp modelId="{3E0BA246-3456-471B-AD87-1436FD251DD8}">
      <dsp:nvSpPr>
        <dsp:cNvPr id="0" name=""/>
        <dsp:cNvSpPr/>
      </dsp:nvSpPr>
      <dsp:spPr bwMode="white">
        <a:xfrm>
          <a:off x="4656974" y="2032"/>
          <a:ext cx="4085027" cy="518400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600" b="1" kern="1200"/>
            <a:t>Clinical Applicability Assessment</a:t>
          </a:r>
        </a:p>
      </dsp:txBody>
      <dsp:txXfrm>
        <a:off x="4656974" y="2032"/>
        <a:ext cx="4085027" cy="518400"/>
      </dsp:txXfrm>
    </dsp:sp>
    <dsp:sp modelId="{33CF15AD-8A19-4E9A-9BED-239A79CAF737}">
      <dsp:nvSpPr>
        <dsp:cNvPr id="0" name=""/>
        <dsp:cNvSpPr/>
      </dsp:nvSpPr>
      <dsp:spPr bwMode="white">
        <a:xfrm>
          <a:off x="4656974" y="520432"/>
          <a:ext cx="4085027" cy="988199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 kern="1200" dirty="0"/>
            <a:t>Semantic Correctness Priority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 kern="1200"/>
            <a:t>Modifier Sensitivity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 kern="1200"/>
            <a:t>Subtype Specificity</a:t>
          </a:r>
        </a:p>
      </dsp:txBody>
      <dsp:txXfrm>
        <a:off x="4656974" y="520432"/>
        <a:ext cx="4085027" cy="9881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#1">
  <dgm:title val=""/>
  <dgm:desc val=""/>
  <dgm:catLst>
    <dgm:cat type="simple" pri="105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F49C3EFC-1F33-52A0-A93D-870026F1F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>
            <a:extLst>
              <a:ext uri="{FF2B5EF4-FFF2-40B4-BE49-F238E27FC236}">
                <a16:creationId xmlns:a16="http://schemas.microsoft.com/office/drawing/2014/main" id="{E16B7F51-D048-6EFF-9512-D14EEB565E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>
            <a:extLst>
              <a:ext uri="{FF2B5EF4-FFF2-40B4-BE49-F238E27FC236}">
                <a16:creationId xmlns:a16="http://schemas.microsoft.com/office/drawing/2014/main" id="{43DA59A0-CBD5-1C24-9C41-41B5C7F7B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  <p:extLst>
      <p:ext uri="{BB962C8B-B14F-4D97-AF65-F5344CB8AC3E}">
        <p14:creationId xmlns:p14="http://schemas.microsoft.com/office/powerpoint/2010/main" val="3361509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/>
              <a:t>we will address this topic through the following four aspects, and will discuss several key questions among them.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3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7" name="Google Shape;27;p3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8" name="Google Shape;28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1" name="Google Shape;3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" name="Google Shape;35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" name="Google Shape;47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0" name="Google Shape;50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" name="Google Shape;53;p4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4" name="Google Shape;54;p4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5" name="Google Shape;55;p4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2" name="Google Shape;62;p4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 panose="020F0502020204030204"/>
              <a:buNone/>
              <a:defRPr sz="3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p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9" name="Google Shape;9;p3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0" name="Google Shape;10;p3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23" name="Google Shape;23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diagramColors" Target="../diagrams/colors1.xml"/><Relationship Id="rId3" Type="http://schemas.openxmlformats.org/officeDocument/2006/relationships/tags" Target="../tags/tag5.xml"/><Relationship Id="rId7" Type="http://schemas.openxmlformats.org/officeDocument/2006/relationships/notesSlide" Target="../notesSlides/notesSlide14.xml"/><Relationship Id="rId12" Type="http://schemas.openxmlformats.org/officeDocument/2006/relationships/diagramQuickStyle" Target="../diagrams/quickStyle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slideLayout" Target="../slideLayouts/slideLayout1.xml"/><Relationship Id="rId11" Type="http://schemas.openxmlformats.org/officeDocument/2006/relationships/diagramLayout" Target="../diagrams/layout1.xml"/><Relationship Id="rId5" Type="http://schemas.openxmlformats.org/officeDocument/2006/relationships/tags" Target="../tags/tag7.xml"/><Relationship Id="rId10" Type="http://schemas.openxmlformats.org/officeDocument/2006/relationships/diagramData" Target="../diagrams/data1.xml"/><Relationship Id="rId4" Type="http://schemas.openxmlformats.org/officeDocument/2006/relationships/tags" Target="../tags/tag6.xml"/><Relationship Id="rId9" Type="http://schemas.openxmlformats.org/officeDocument/2006/relationships/image" Target="../media/image2.png"/><Relationship Id="rId14" Type="http://schemas.microsoft.com/office/2007/relationships/diagramDrawing" Target="../diagrams/drawing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70;p1"/>
          <p:cNvPicPr preferRelativeResize="0"/>
          <p:nvPr/>
        </p:nvPicPr>
        <p:blipFill rotWithShape="1">
          <a:blip r:embed="rId3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表格 2"/>
          <p:cNvGraphicFramePr/>
          <p:nvPr/>
        </p:nvGraphicFramePr>
        <p:xfrm>
          <a:off x="986155" y="3310255"/>
          <a:ext cx="6399530" cy="1410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97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9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ea typeface="Arial MT"/>
                          <a:sym typeface="+mn-ea"/>
                        </a:rPr>
                        <a:t>Name (</a:t>
                      </a: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Matric Number)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sym typeface="+mn-ea"/>
                        </a:rPr>
                        <a:t>ZOU TING (</a:t>
                      </a: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24201617)</a:t>
                      </a:r>
                    </a:p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ZHONG JUNPEI(24214748)</a:t>
                      </a: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Course 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WOA7015 – Advanced Machine Learning</a:t>
                      </a: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Lecturer Name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Dr. SAW SHIER NEE (OCC1)</a:t>
                      </a: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71;p1"/>
          <p:cNvSpPr txBox="1"/>
          <p:nvPr/>
        </p:nvSpPr>
        <p:spPr>
          <a:xfrm>
            <a:off x="986118" y="306189"/>
            <a:ext cx="7540500" cy="21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FFFFFF"/>
              </a:buClr>
              <a:buSzPts val="3600"/>
            </a:pPr>
            <a:r>
              <a:rPr lang="en-US" altLang="zh-CN" sz="2800" b="1" i="0" u="none" strike="noStrike" cap="none" dirty="0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 Comparative Study of CNN Baseline Classifier and LLM-Based Model for Medical Visual Question Answersing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Introduction</a:t>
            </a:r>
          </a:p>
        </p:txBody>
      </p:sp>
      <p:pic>
        <p:nvPicPr>
          <p:cNvPr id="4" name="图片 3"/>
          <p:cNvPicPr/>
          <p:nvPr/>
        </p:nvPicPr>
        <p:blipFill>
          <a:blip r:embed="rId4"/>
          <a:stretch>
            <a:fillRect/>
          </a:stretch>
        </p:blipFill>
        <p:spPr>
          <a:xfrm>
            <a:off x="245428" y="945198"/>
            <a:ext cx="8486775" cy="13239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34060" y="2517140"/>
            <a:ext cx="7270115" cy="608330"/>
          </a:xfrm>
          <a:prstGeom prst="rect">
            <a:avLst/>
          </a:prstGeom>
        </p:spPr>
        <p:txBody>
          <a:bodyPr>
            <a:no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400" b="0" i="0" dirty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Demands for </a:t>
            </a:r>
            <a:r>
              <a:rPr lang="en-US" altLang="zh-CN" sz="2400" b="1" i="0" dirty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"understanding medical images"</a:t>
            </a:r>
          </a:p>
        </p:txBody>
      </p:sp>
      <p:sp>
        <p:nvSpPr>
          <p:cNvPr id="6" name="下箭头 5"/>
          <p:cNvSpPr/>
          <p:nvPr/>
        </p:nvSpPr>
        <p:spPr>
          <a:xfrm>
            <a:off x="3869690" y="3077210"/>
            <a:ext cx="702310" cy="52387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65125" y="3791585"/>
            <a:ext cx="8438515" cy="9531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800" b="1" i="0" dirty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how to evaluate the performance</a:t>
            </a:r>
            <a:r>
              <a:rPr lang="en-US" altLang="zh-CN" sz="2800" b="0" i="0" dirty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of closed-ended and open-ended questions</a:t>
            </a:r>
            <a:r>
              <a:rPr lang="zh-CN" altLang="en-US" sz="2800" b="0" i="0" dirty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RQs/ROs</a:t>
            </a:r>
          </a:p>
        </p:txBody>
      </p:sp>
      <p:sp>
        <p:nvSpPr>
          <p:cNvPr id="9" name="圆角矩形 8"/>
          <p:cNvSpPr/>
          <p:nvPr/>
        </p:nvSpPr>
        <p:spPr>
          <a:xfrm>
            <a:off x="287020" y="1085850"/>
            <a:ext cx="3915410" cy="180721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altLang="zh-CN" b="1" dirty="0">
                <a:solidFill>
                  <a:schemeClr val="tx1"/>
                </a:solidFill>
              </a:rPr>
              <a:t>RQ1 (Closed-Ended Performance):</a:t>
            </a:r>
            <a:r>
              <a:rPr lang="en-MY" altLang="zh-CN" dirty="0">
                <a:solidFill>
                  <a:schemeClr val="tx1"/>
                </a:solidFill>
              </a:rPr>
              <a:t>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Which model </a:t>
            </a:r>
            <a:r>
              <a:rPr lang="en-MY" altLang="zh-CN" dirty="0">
                <a:solidFill>
                  <a:schemeClr val="tx1"/>
                </a:solidFill>
              </a:rPr>
              <a:t>that we choose to compare performs better on closed-ended questions in radiology and how large is the performance gap?</a:t>
            </a:r>
          </a:p>
        </p:txBody>
      </p:sp>
      <p:sp>
        <p:nvSpPr>
          <p:cNvPr id="10" name="圆角矩形 9"/>
          <p:cNvSpPr/>
          <p:nvPr/>
        </p:nvSpPr>
        <p:spPr>
          <a:xfrm>
            <a:off x="252094" y="3018155"/>
            <a:ext cx="3916045" cy="18402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altLang="zh-CN" b="1" dirty="0">
                <a:solidFill>
                  <a:schemeClr val="tx1"/>
                </a:solidFill>
              </a:rPr>
              <a:t>RQ2 (Open-Ended Quality and Safety):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How well </a:t>
            </a:r>
            <a:r>
              <a:rPr lang="en-MY" altLang="zh-CN" dirty="0">
                <a:solidFill>
                  <a:schemeClr val="tx1"/>
                </a:solidFill>
              </a:rPr>
              <a:t>do generative VLMs perform on open-ended medical questions, and what is the risk of hallucinated answers?</a:t>
            </a:r>
          </a:p>
        </p:txBody>
      </p:sp>
      <p:sp>
        <p:nvSpPr>
          <p:cNvPr id="11" name="圆角矩形 10"/>
          <p:cNvSpPr/>
          <p:nvPr/>
        </p:nvSpPr>
        <p:spPr>
          <a:xfrm>
            <a:off x="4674870" y="1028701"/>
            <a:ext cx="4119245" cy="186436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altLang="zh-CN" dirty="0">
                <a:solidFill>
                  <a:schemeClr val="tx1"/>
                </a:solidFill>
              </a:rPr>
              <a:t>To evaluate the traditional CNN-based baseline and a generative Vision-Language Model (VLM) using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accuracy metric for closed-end questions </a:t>
            </a:r>
            <a:r>
              <a:rPr lang="en-MY" altLang="zh-CN" dirty="0">
                <a:solidFill>
                  <a:schemeClr val="tx1"/>
                </a:solidFill>
              </a:rPr>
              <a:t>and critically discuss the gap of these two model.</a:t>
            </a:r>
          </a:p>
        </p:txBody>
      </p:sp>
      <p:sp>
        <p:nvSpPr>
          <p:cNvPr id="12" name="圆角矩形 11"/>
          <p:cNvSpPr/>
          <p:nvPr/>
        </p:nvSpPr>
        <p:spPr>
          <a:xfrm>
            <a:off x="4645024" y="3018155"/>
            <a:ext cx="4177665" cy="184023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altLang="zh-CN" dirty="0">
                <a:solidFill>
                  <a:schemeClr val="tx1"/>
                </a:solidFill>
              </a:rPr>
              <a:t>To evaluate answer quality using automated language similarity metrics such as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BLEU-1, BLEU-4, </a:t>
            </a:r>
            <a:r>
              <a:rPr lang="en-MY" altLang="zh-CN" dirty="0" err="1">
                <a:solidFill>
                  <a:schemeClr val="accent4">
                    <a:lumMod val="75000"/>
                  </a:schemeClr>
                </a:solidFill>
              </a:rPr>
              <a:t>BERTScore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MY" altLang="zh-CN" dirty="0">
                <a:solidFill>
                  <a:schemeClr val="tx1"/>
                </a:solidFill>
              </a:rPr>
              <a:t>and qualitative analysis and compare the results with benchmarks. </a:t>
            </a:r>
            <a:endParaRPr lang="en-US" altLang="zh-CN" dirty="0">
              <a:solidFill>
                <a:schemeClr val="tx1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80530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b="1"/>
              <a:t>RQs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632904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b="1"/>
              <a:t>ROs</a:t>
            </a:r>
          </a:p>
        </p:txBody>
      </p:sp>
      <p:sp>
        <p:nvSpPr>
          <p:cNvPr id="15" name="右箭头 14"/>
          <p:cNvSpPr/>
          <p:nvPr/>
        </p:nvSpPr>
        <p:spPr>
          <a:xfrm>
            <a:off x="4202430" y="1722120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4202430" y="3646805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下弧形箭头 17"/>
          <p:cNvSpPr/>
          <p:nvPr/>
        </p:nvSpPr>
        <p:spPr>
          <a:xfrm rot="5400000">
            <a:off x="3100705" y="2851785"/>
            <a:ext cx="2065020" cy="671830"/>
          </a:xfrm>
          <a:prstGeom prst="curvedUpArrow">
            <a:avLst>
              <a:gd name="adj1" fmla="val 25000"/>
              <a:gd name="adj2" fmla="val 68862"/>
              <a:gd name="adj3" fmla="val 45085"/>
            </a:avLst>
          </a:prstGeom>
        </p:spPr>
        <p:style>
          <a:lnRef idx="0">
            <a:srgbClr val="FFFFFF"/>
          </a:lnRef>
          <a:fillRef idx="1">
            <a:schemeClr val="accent6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187190" y="3216275"/>
            <a:ext cx="4770120" cy="1383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Vocabulary construction</a:t>
            </a:r>
          </a:p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Answer mapping </a:t>
            </a:r>
          </a:p>
        </p:txBody>
      </p:sp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</a:p>
        </p:txBody>
      </p:sp>
      <p:pic>
        <p:nvPicPr>
          <p:cNvPr id="2" name="图片 1" descr="报告用图-第 2 页.drawio"/>
          <p:cNvPicPr>
            <a:picLocks noChangeAspect="1"/>
          </p:cNvPicPr>
          <p:nvPr/>
        </p:nvPicPr>
        <p:blipFill>
          <a:blip r:embed="rId4"/>
          <a:srcRect l="8260"/>
          <a:stretch>
            <a:fillRect/>
          </a:stretch>
        </p:blipFill>
        <p:spPr>
          <a:xfrm>
            <a:off x="107315" y="847090"/>
            <a:ext cx="3568700" cy="4147185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269740" y="1668145"/>
            <a:ext cx="1272540" cy="127190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 sz="3600" b="1">
                <a:solidFill>
                  <a:schemeClr val="tx1"/>
                </a:solidFill>
              </a:rPr>
              <a:t>70%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5851525" y="1668145"/>
            <a:ext cx="1261110" cy="127190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7421880" y="1668145"/>
            <a:ext cx="1261110" cy="127190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606290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/>
              <a:t>train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5951855" y="1299845"/>
            <a:ext cx="1059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/>
              <a:t>validate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7682865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/>
              <a:t>test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957445" y="883920"/>
            <a:ext cx="3048000" cy="306705"/>
          </a:xfrm>
          <a:prstGeom prst="rect">
            <a:avLst/>
          </a:prstGeom>
          <a:solidFill>
            <a:srgbClr val="D5E8D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A. Data Preprocessing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85470" y="810260"/>
            <a:ext cx="3450590" cy="306705"/>
          </a:xfrm>
          <a:prstGeom prst="rect">
            <a:avLst/>
          </a:prstGeom>
          <a:solidFill>
            <a:srgbClr val="E1D5E7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B. Data Transformation and Loading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775970" y="2895600"/>
            <a:ext cx="224790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altLang="zh-CN" sz="1600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2. Text serialization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3445" y="1383030"/>
            <a:ext cx="2575560" cy="1445260"/>
            <a:chOff x="700" y="2492"/>
            <a:chExt cx="4056" cy="2276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0" y="2492"/>
              <a:ext cx="4056" cy="227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89" y="4145"/>
              <a:ext cx="1067" cy="288"/>
            </a:xfrm>
            <a:prstGeom prst="rect">
              <a:avLst/>
            </a:prstGeom>
          </p:spPr>
        </p:pic>
      </p:grpSp>
      <p:sp>
        <p:nvSpPr>
          <p:cNvPr id="13" name="流程图: 预定义过程 12"/>
          <p:cNvSpPr/>
          <p:nvPr/>
        </p:nvSpPr>
        <p:spPr>
          <a:xfrm>
            <a:off x="775970" y="3290570"/>
            <a:ext cx="2810510" cy="471805"/>
          </a:xfrm>
          <a:prstGeom prst="flowChartPredefined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D5E8D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max_seq_len=25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75970" y="3820160"/>
            <a:ext cx="164782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altLang="zh-CN" sz="1600">
                <a:latin typeface="Arial Unicode MS" panose="020B0604020202020204" charset="-122"/>
                <a:ea typeface="Arial Unicode MS" panose="020B0604020202020204" charset="-122"/>
                <a:sym typeface="+mn-ea"/>
              </a:rPr>
              <a:t>3. DataLoader 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865370" y="800100"/>
            <a:ext cx="3935095" cy="306705"/>
          </a:xfrm>
          <a:prstGeom prst="rect">
            <a:avLst/>
          </a:prstGeom>
          <a:solidFill>
            <a:srgbClr val="DAE8F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C. Model Building(MedVQA_ResNet_LSTM)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75970" y="115157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266700"/>
            <a:r>
              <a:rPr lang="en-US" altLang="zh-CN" sz="16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Image transformations</a:t>
            </a: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970" y="4157345"/>
            <a:ext cx="828675" cy="76200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1604645" y="4224020"/>
            <a:ext cx="24314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batch = 32</a:t>
            </a:r>
          </a:p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processes = 2(GPU)</a:t>
            </a:r>
            <a:endParaRPr lang="zh-CN" altLang="en-US" sz="1600">
              <a:latin typeface="Times New Roman" panose="02020603050405020304"/>
              <a:ea typeface="宋体" panose="02010600030101010101" pitchFamily="2" charset="-122"/>
            </a:endParaRPr>
          </a:p>
        </p:txBody>
      </p:sp>
      <p:pic>
        <p:nvPicPr>
          <p:cNvPr id="22" name="图片 21" descr="报告用图-第 1 页.drawi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7505" y="1209040"/>
            <a:ext cx="2790825" cy="37052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731520" y="775335"/>
            <a:ext cx="7562215" cy="306705"/>
          </a:xfrm>
          <a:prstGeom prst="rect">
            <a:avLst/>
          </a:prstGeom>
          <a:solidFill>
            <a:srgbClr val="FFE6C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b="1"/>
              <a:t>D. Training Pipeline</a:t>
            </a:r>
          </a:p>
        </p:txBody>
      </p:sp>
      <p:pic>
        <p:nvPicPr>
          <p:cNvPr id="4" name="图片 4" descr="报告用图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1334770"/>
            <a:ext cx="6197600" cy="336296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82575" y="1470343"/>
            <a:ext cx="5080000" cy="583565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training stage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282575" y="2571433"/>
            <a:ext cx="5080000" cy="583565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2. validation stage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841240" y="1159510"/>
            <a:ext cx="2769870" cy="479425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defTabSz="266700"/>
            <a:r>
              <a:rPr lang="en-US" altLang="zh-CN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all batch procceed</a:t>
            </a:r>
          </a:p>
        </p:txBody>
      </p:sp>
      <p:cxnSp>
        <p:nvCxnSpPr>
          <p:cNvPr id="7" name="直接箭头连接符 6"/>
          <p:cNvCxnSpPr>
            <a:stCxn id="3" idx="3"/>
          </p:cNvCxnSpPr>
          <p:nvPr/>
        </p:nvCxnSpPr>
        <p:spPr>
          <a:xfrm>
            <a:off x="7611110" y="1399540"/>
            <a:ext cx="645160" cy="278765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212205" y="2150110"/>
            <a:ext cx="1398905" cy="4343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defTabSz="266700"/>
            <a:r>
              <a:rPr lang="en-US" altLang="zh-CN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ACC,F1</a:t>
            </a:r>
            <a:endParaRPr lang="zh-CN" altLang="en-US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6965950" y="2571750"/>
            <a:ext cx="517525" cy="212090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928610" y="2150110"/>
            <a:ext cx="846455" cy="4216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defTabSz="266700"/>
            <a:r>
              <a:rPr lang="en-US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LR</a:t>
            </a:r>
            <a:endParaRPr lang="en-US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11" name="直接箭头连接符 10"/>
          <p:cNvCxnSpPr/>
          <p:nvPr/>
        </p:nvCxnSpPr>
        <p:spPr>
          <a:xfrm>
            <a:off x="8293735" y="2584450"/>
            <a:ext cx="191770" cy="245745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282575" y="3827463"/>
            <a:ext cx="5080000" cy="583565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3. early stop mechanism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053840" y="3274060"/>
            <a:ext cx="2273935" cy="4343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defTabSz="266700"/>
            <a:r>
              <a:rPr lang="en-US" altLang="zh-CN" sz="240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patience check</a:t>
            </a:r>
          </a:p>
        </p:txBody>
      </p:sp>
      <p:sp>
        <p:nvSpPr>
          <p:cNvPr id="15" name="椭圆 14"/>
          <p:cNvSpPr/>
          <p:nvPr/>
        </p:nvSpPr>
        <p:spPr>
          <a:xfrm>
            <a:off x="6550660" y="3532505"/>
            <a:ext cx="1842770" cy="1105535"/>
          </a:xfrm>
          <a:prstGeom prst="ellipse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6327775" y="3532505"/>
            <a:ext cx="517525" cy="212090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8EF1592-A89F-AFA4-4F24-9DEC3787F02B}"/>
              </a:ext>
            </a:extLst>
          </p:cNvPr>
          <p:cNvSpPr txBox="1"/>
          <p:nvPr/>
        </p:nvSpPr>
        <p:spPr>
          <a:xfrm>
            <a:off x="230909" y="905164"/>
            <a:ext cx="407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800" b="1" dirty="0">
                <a:solidFill>
                  <a:schemeClr val="accent4">
                    <a:lumMod val="75000"/>
                  </a:schemeClr>
                </a:solidFill>
              </a:rPr>
              <a:t>Dataset</a:t>
            </a:r>
            <a:r>
              <a:rPr kumimoji="1" lang="en-US" altLang="zh-CN" sz="1800" b="1" dirty="0"/>
              <a:t>: </a:t>
            </a:r>
            <a:r>
              <a:rPr kumimoji="1" lang="en-US" altLang="zh-CN" sz="1800" dirty="0"/>
              <a:t>80% training, 20% testing</a:t>
            </a:r>
            <a:endParaRPr kumimoji="1" lang="zh-CN" altLang="en-US" sz="1800" b="1" dirty="0"/>
          </a:p>
        </p:txBody>
      </p:sp>
      <p:pic>
        <p:nvPicPr>
          <p:cNvPr id="4" name="Picture 1" descr="A diagram of a model&#10;&#10;AI-generated content may be incorrect.">
            <a:extLst>
              <a:ext uri="{FF2B5EF4-FFF2-40B4-BE49-F238E27FC236}">
                <a16:creationId xmlns:a16="http://schemas.microsoft.com/office/drawing/2014/main" id="{C89C81E8-7A65-E444-4747-A4092AD602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929" r="23509" b="24396"/>
          <a:stretch>
            <a:fillRect/>
          </a:stretch>
        </p:blipFill>
        <p:spPr>
          <a:xfrm>
            <a:off x="4304144" y="960437"/>
            <a:ext cx="4387631" cy="3876606"/>
          </a:xfrm>
          <a:prstGeom prst="rect">
            <a:avLst/>
          </a:prstGeom>
          <a:ln>
            <a:noFill/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B419AED-7B59-B540-9427-F77EF2B43648}"/>
              </a:ext>
            </a:extLst>
          </p:cNvPr>
          <p:cNvSpPr txBox="1"/>
          <p:nvPr/>
        </p:nvSpPr>
        <p:spPr>
          <a:xfrm>
            <a:off x="230907" y="1537068"/>
            <a:ext cx="407323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800" b="1" dirty="0">
                <a:solidFill>
                  <a:schemeClr val="accent4">
                    <a:lumMod val="75000"/>
                  </a:schemeClr>
                </a:solidFill>
              </a:rPr>
              <a:t>Key Components: </a:t>
            </a:r>
          </a:p>
          <a:p>
            <a:endParaRPr kumimoji="1" lang="en-US" altLang="zh-CN" sz="1800" b="1" dirty="0"/>
          </a:p>
          <a:p>
            <a:r>
              <a:rPr lang="en-MY" altLang="zh-CN" b="1" dirty="0"/>
              <a:t>CLIP Image Encoder </a:t>
            </a:r>
            <a:r>
              <a:rPr lang="en-MY" altLang="zh-CN" dirty="0"/>
              <a:t>(frozen) : outputs 512-d image feature vectors.</a:t>
            </a:r>
          </a:p>
          <a:p>
            <a:endParaRPr lang="en-MY" altLang="zh-CN" dirty="0"/>
          </a:p>
          <a:p>
            <a:r>
              <a:rPr lang="en-MY" altLang="zh-CN" b="1" dirty="0"/>
              <a:t>Mapping Network </a:t>
            </a:r>
            <a:r>
              <a:rPr lang="en-MY" altLang="zh-CN" dirty="0"/>
              <a:t>(trainable) :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two-layer linear network with </a:t>
            </a:r>
            <a:r>
              <a:rPr lang="en-MY" altLang="zh-CN" dirty="0" err="1">
                <a:solidFill>
                  <a:schemeClr val="accent4">
                    <a:lumMod val="75000"/>
                  </a:schemeClr>
                </a:solidFill>
              </a:rPr>
              <a:t>ReLU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 activation </a:t>
            </a:r>
            <a:r>
              <a:rPr lang="en-MY" altLang="zh-CN" dirty="0"/>
              <a:t>projecting CLIP features to GPT-2 embedding space, generating </a:t>
            </a:r>
            <a:r>
              <a:rPr lang="en-MY" altLang="zh-CN" dirty="0">
                <a:solidFill>
                  <a:schemeClr val="accent4">
                    <a:lumMod val="75000"/>
                  </a:schemeClr>
                </a:solidFill>
              </a:rPr>
              <a:t>10 visual prefix tokens</a:t>
            </a:r>
            <a:r>
              <a:rPr lang="en-MY" altLang="zh-CN" dirty="0"/>
              <a:t>.</a:t>
            </a:r>
          </a:p>
          <a:p>
            <a:endParaRPr lang="en-MY" altLang="zh-CN" dirty="0"/>
          </a:p>
          <a:p>
            <a:r>
              <a:rPr lang="en-MY" altLang="zh-CN" b="1" dirty="0"/>
              <a:t>GPT-2 Language Model </a:t>
            </a:r>
            <a:r>
              <a:rPr lang="en-MY" altLang="zh-CN" dirty="0"/>
              <a:t>(frozen) : receives concatenated visual prefixes and question embeddings for answer generation.</a:t>
            </a:r>
          </a:p>
          <a:p>
            <a:endParaRPr kumimoji="1" lang="zh-CN" altLang="en-US" sz="1800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02505688-9CD8-29A7-7F72-2D2BCD98F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>
            <a:extLst>
              <a:ext uri="{FF2B5EF4-FFF2-40B4-BE49-F238E27FC236}">
                <a16:creationId xmlns:a16="http://schemas.microsoft.com/office/drawing/2014/main" id="{3321D368-ABF7-E31A-BA65-5DB3FC1B9095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>
            <a:extLst>
              <a:ext uri="{FF2B5EF4-FFF2-40B4-BE49-F238E27FC236}">
                <a16:creationId xmlns:a16="http://schemas.microsoft.com/office/drawing/2014/main" id="{ACAC9775-BF7E-1117-D07A-8CF97B1324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0FF46A87-667C-4C23-DBE3-CF2F567D4D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876031"/>
              </p:ext>
            </p:extLst>
          </p:nvPr>
        </p:nvGraphicFramePr>
        <p:xfrm>
          <a:off x="167956" y="1259090"/>
          <a:ext cx="8808085" cy="1729736"/>
        </p:xfrm>
        <a:graphic>
          <a:graphicData uri="http://schemas.openxmlformats.org/drawingml/2006/table">
            <a:tbl>
              <a:tblPr/>
              <a:tblGrid>
                <a:gridCol w="2402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5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241200" algn="l">
                        <a:lnSpc>
                          <a:spcPts val="1875"/>
                        </a:lnSpc>
                      </a:pPr>
                      <a:r>
                        <a:rPr lang="en-US" altLang="zh-CN" sz="1600" b="1" i="0" dirty="0" err="1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Mertic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Question Type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1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Focus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41200"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Accuracy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Closed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MY" altLang="zh-CN" sz="1400" b="0" i="0" u="none" strike="noStrike" cap="none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Diagnostic correctness</a:t>
                      </a:r>
                      <a:r>
                        <a:rPr lang="en-MY" altLang="zh-CN" sz="1600">
                          <a:effectLst/>
                        </a:rPr>
                        <a:t> 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41200"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BLUE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Open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Language quality</a:t>
                      </a:r>
                      <a:r>
                        <a:rPr lang="en-MY" altLang="zh-CN" sz="1600" dirty="0">
                          <a:effectLst/>
                        </a:rPr>
                        <a:t> 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41200">
                        <a:lnSpc>
                          <a:spcPts val="1875"/>
                        </a:lnSpc>
                      </a:pPr>
                      <a:r>
                        <a:rPr lang="en-US" altLang="zh-CN" sz="1600" b="1" i="0" dirty="0" err="1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BERTScore</a:t>
                      </a:r>
                      <a:endParaRPr lang="en-US" altLang="zh-CN" sz="1600" b="1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Open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MY" altLang="zh-CN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Semantic similarity</a:t>
                      </a:r>
                      <a:r>
                        <a:rPr lang="en-MY" altLang="zh-CN" sz="1600" dirty="0">
                          <a:effectLst/>
                        </a:rPr>
                        <a:t> </a:t>
                      </a:r>
                      <a:endParaRPr lang="en-US" altLang="zh-CN" sz="1600" b="0" i="0" dirty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6E41E787-149F-88A8-CB30-3BD1B4F69F97}"/>
              </a:ext>
            </a:extLst>
          </p:cNvPr>
          <p:cNvSpPr txBox="1"/>
          <p:nvPr/>
        </p:nvSpPr>
        <p:spPr>
          <a:xfrm>
            <a:off x="167955" y="3084773"/>
            <a:ext cx="5189135" cy="3602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Why Accuracy is not used </a:t>
            </a:r>
            <a:r>
              <a:rPr lang="en-US" altLang="zh-CN" sz="1600" b="0" i="0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for Open-end questions ?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F7B8D29-E965-BBE8-A2B3-B26B196ABDC7}"/>
              </a:ext>
            </a:extLst>
          </p:cNvPr>
          <p:cNvSpPr txBox="1"/>
          <p:nvPr/>
        </p:nvSpPr>
        <p:spPr>
          <a:xfrm>
            <a:off x="92365" y="79381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 b="1" dirty="0">
                <a:solidFill>
                  <a:schemeClr val="accent4">
                    <a:lumMod val="75000"/>
                  </a:schemeClr>
                </a:solidFill>
              </a:rPr>
              <a:t>Metric used for analyzing generative model</a:t>
            </a:r>
            <a:endParaRPr kumimoji="1" lang="zh-CN" altLang="en-US" sz="1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5C14AD2-7B77-46B7-E1A8-7FA2519EC0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765798"/>
              </p:ext>
            </p:extLst>
          </p:nvPr>
        </p:nvGraphicFramePr>
        <p:xfrm>
          <a:off x="167955" y="3564903"/>
          <a:ext cx="891139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7848">
                  <a:extLst>
                    <a:ext uri="{9D8B030D-6E8A-4147-A177-3AD203B41FA5}">
                      <a16:colId xmlns:a16="http://schemas.microsoft.com/office/drawing/2014/main" val="3020301841"/>
                    </a:ext>
                  </a:extLst>
                </a:gridCol>
                <a:gridCol w="2217405">
                  <a:extLst>
                    <a:ext uri="{9D8B030D-6E8A-4147-A177-3AD203B41FA5}">
                      <a16:colId xmlns:a16="http://schemas.microsoft.com/office/drawing/2014/main" val="277210204"/>
                    </a:ext>
                  </a:extLst>
                </a:gridCol>
                <a:gridCol w="2295592">
                  <a:extLst>
                    <a:ext uri="{9D8B030D-6E8A-4147-A177-3AD203B41FA5}">
                      <a16:colId xmlns:a16="http://schemas.microsoft.com/office/drawing/2014/main" val="1413454032"/>
                    </a:ext>
                  </a:extLst>
                </a:gridCol>
                <a:gridCol w="2170545">
                  <a:extLst>
                    <a:ext uri="{9D8B030D-6E8A-4147-A177-3AD203B41FA5}">
                      <a16:colId xmlns:a16="http://schemas.microsoft.com/office/drawing/2014/main" val="1423490395"/>
                    </a:ext>
                  </a:extLst>
                </a:gridCol>
              </a:tblGrid>
              <a:tr h="391186"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Reference Answer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Model Prediction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Accuracy Result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altLang="zh-CN" b="1" dirty="0">
                          <a:solidFill>
                            <a:schemeClr val="tx1"/>
                          </a:solidFill>
                        </a:rPr>
                        <a:t>Reality</a:t>
                      </a:r>
                      <a:br>
                        <a:rPr lang="en-MY" altLang="zh-CN" dirty="0">
                          <a:solidFill>
                            <a:schemeClr val="tx1"/>
                          </a:solidFill>
                        </a:rPr>
                      </a:b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5192281"/>
                  </a:ext>
                </a:extLst>
              </a:tr>
              <a:tr h="163329"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"the brain"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MY" altLang="zh-CN" dirty="0">
                          <a:solidFill>
                            <a:schemeClr val="tx1"/>
                          </a:solidFill>
                        </a:rPr>
                        <a:t>"brain"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</a:pPr>
                      <a:r>
                        <a:rPr lang="en-MY" altLang="zh-CN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Incorrect (0)</a:t>
                      </a:r>
                      <a:endParaRPr lang="zh-CN" alt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 panose="020B0604020202020204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/>
                      </a:pPr>
                      <a:r>
                        <a:rPr lang="en-MY" altLang="zh-CN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Same clinical meaning</a:t>
                      </a:r>
                      <a:endParaRPr lang="zh-CN" alt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 panose="020B0604020202020204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346657"/>
                  </a:ext>
                </a:extLst>
              </a:tr>
            </a:tbl>
          </a:graphicData>
        </a:graphic>
      </p:graphicFrame>
      <p:grpSp>
        <p:nvGrpSpPr>
          <p:cNvPr id="9" name="组合 8">
            <a:extLst>
              <a:ext uri="{FF2B5EF4-FFF2-40B4-BE49-F238E27FC236}">
                <a16:creationId xmlns:a16="http://schemas.microsoft.com/office/drawing/2014/main" id="{3A416A75-D419-911C-6475-10491087D0A3}"/>
              </a:ext>
            </a:extLst>
          </p:cNvPr>
          <p:cNvGrpSpPr/>
          <p:nvPr/>
        </p:nvGrpSpPr>
        <p:grpSpPr>
          <a:xfrm>
            <a:off x="1496291" y="3953584"/>
            <a:ext cx="5361707" cy="554182"/>
            <a:chOff x="1496291" y="3953584"/>
            <a:chExt cx="5361707" cy="554182"/>
          </a:xfrm>
        </p:grpSpPr>
        <p:sp>
          <p:nvSpPr>
            <p:cNvPr id="5" name="圆角矩形 4">
              <a:extLst>
                <a:ext uri="{FF2B5EF4-FFF2-40B4-BE49-F238E27FC236}">
                  <a16:creationId xmlns:a16="http://schemas.microsoft.com/office/drawing/2014/main" id="{D0CFD8D7-327B-65BD-7CD4-7452AFD86BC9}"/>
                </a:ext>
              </a:extLst>
            </p:cNvPr>
            <p:cNvSpPr/>
            <p:nvPr/>
          </p:nvSpPr>
          <p:spPr>
            <a:xfrm>
              <a:off x="4378036" y="3953584"/>
              <a:ext cx="1625600" cy="554182"/>
            </a:xfrm>
            <a:prstGeom prst="roundRect">
              <a:avLst/>
            </a:pr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" name="五边形 5">
              <a:extLst>
                <a:ext uri="{FF2B5EF4-FFF2-40B4-BE49-F238E27FC236}">
                  <a16:creationId xmlns:a16="http://schemas.microsoft.com/office/drawing/2014/main" id="{D92E2C67-025F-8F23-3FDA-E544D8BFA2FF}"/>
                </a:ext>
              </a:extLst>
            </p:cNvPr>
            <p:cNvSpPr/>
            <p:nvPr/>
          </p:nvSpPr>
          <p:spPr>
            <a:xfrm>
              <a:off x="1496291" y="4045527"/>
              <a:ext cx="711200" cy="342336"/>
            </a:xfrm>
            <a:prstGeom prst="homePlat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五边形 6">
              <a:extLst>
                <a:ext uri="{FF2B5EF4-FFF2-40B4-BE49-F238E27FC236}">
                  <a16:creationId xmlns:a16="http://schemas.microsoft.com/office/drawing/2014/main" id="{2C9A46C8-C60E-D6B4-111E-13CC73D5F850}"/>
                </a:ext>
              </a:extLst>
            </p:cNvPr>
            <p:cNvSpPr/>
            <p:nvPr/>
          </p:nvSpPr>
          <p:spPr>
            <a:xfrm>
              <a:off x="3389745" y="4048902"/>
              <a:ext cx="711200" cy="342336"/>
            </a:xfrm>
            <a:prstGeom prst="homePlat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五边形 7">
              <a:extLst>
                <a:ext uri="{FF2B5EF4-FFF2-40B4-BE49-F238E27FC236}">
                  <a16:creationId xmlns:a16="http://schemas.microsoft.com/office/drawing/2014/main" id="{F1995657-48BA-E296-48F5-1204C3095EC7}"/>
                </a:ext>
              </a:extLst>
            </p:cNvPr>
            <p:cNvSpPr/>
            <p:nvPr/>
          </p:nvSpPr>
          <p:spPr>
            <a:xfrm>
              <a:off x="6146798" y="4067849"/>
              <a:ext cx="711200" cy="342336"/>
            </a:xfrm>
            <a:prstGeom prst="homePlat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B78E976-8BE3-1519-D149-29D9244C7155}"/>
              </a:ext>
            </a:extLst>
          </p:cNvPr>
          <p:cNvGrpSpPr/>
          <p:nvPr/>
        </p:nvGrpSpPr>
        <p:grpSpPr>
          <a:xfrm>
            <a:off x="6668655" y="1751494"/>
            <a:ext cx="2307386" cy="1693505"/>
            <a:chOff x="6668655" y="1751494"/>
            <a:chExt cx="2307386" cy="1693505"/>
          </a:xfrm>
        </p:grpSpPr>
        <p:sp>
          <p:nvSpPr>
            <p:cNvPr id="11" name="圆角矩形 10">
              <a:extLst>
                <a:ext uri="{FF2B5EF4-FFF2-40B4-BE49-F238E27FC236}">
                  <a16:creationId xmlns:a16="http://schemas.microsoft.com/office/drawing/2014/main" id="{ECBDDE16-601F-1D19-E4D5-8751F8DA01F7}"/>
                </a:ext>
              </a:extLst>
            </p:cNvPr>
            <p:cNvSpPr/>
            <p:nvPr/>
          </p:nvSpPr>
          <p:spPr>
            <a:xfrm>
              <a:off x="6668655" y="1751494"/>
              <a:ext cx="2307386" cy="1693505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405A2FE-7B98-8EF2-F33E-61C19091030B}"/>
                </a:ext>
              </a:extLst>
            </p:cNvPr>
            <p:cNvSpPr txBox="1"/>
            <p:nvPr/>
          </p:nvSpPr>
          <p:spPr>
            <a:xfrm>
              <a:off x="6668655" y="1905748"/>
              <a:ext cx="230738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MY" altLang="zh-CN" dirty="0"/>
                <a:t>Accuracy </a:t>
              </a:r>
              <a:r>
                <a:rPr lang="en-MY" altLang="zh-CN" dirty="0">
                  <a:solidFill>
                    <a:schemeClr val="accent4">
                      <a:lumMod val="75000"/>
                    </a:schemeClr>
                  </a:solidFill>
                </a:rPr>
                <a:t>fails</a:t>
              </a:r>
              <a:r>
                <a:rPr lang="en-MY" altLang="zh-CN" dirty="0"/>
                <a:t> for open-ended questions because semantically correct answers with different wording are treated as completely wrong.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45830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</a:p>
        </p:txBody>
      </p:sp>
      <p:sp>
        <p:nvSpPr>
          <p:cNvPr id="31" name="文本框 30"/>
          <p:cNvSpPr txBox="1"/>
          <p:nvPr/>
        </p:nvSpPr>
        <p:spPr>
          <a:xfrm>
            <a:off x="108585" y="697865"/>
            <a:ext cx="8752840" cy="4081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300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Internal Comparison:</a:t>
            </a:r>
          </a:p>
          <a:p>
            <a:pPr marL="0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Comparison with baseline model (classifier), Focusing on:</a:t>
            </a:r>
          </a:p>
          <a:p>
            <a:pPr marL="576000" lvl="3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about the gap of performance for closed questions?</a:t>
            </a:r>
          </a:p>
          <a:p>
            <a:pPr marL="0" indent="0">
              <a:lnSpc>
                <a:spcPct val="1500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300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External Comparison:</a:t>
            </a:r>
          </a:p>
          <a:p>
            <a:pPr marL="0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Comparison with results from </a:t>
            </a:r>
            <a:r>
              <a:rPr lang="en-US" altLang="zh-CN" sz="1600" b="0" i="0" dirty="0" err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Sonsbeek</a:t>
            </a: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et al. (2023), </a:t>
            </a:r>
            <a:r>
              <a:rPr lang="en-US" altLang="zh-CN" sz="1600" b="0" i="0" dirty="0" err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Foucusing</a:t>
            </a: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on:</a:t>
            </a:r>
          </a:p>
          <a:p>
            <a:pPr marL="576000" lvl="3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What is the gap of ours with </a:t>
            </a:r>
            <a:r>
              <a:rPr lang="en-US" altLang="zh-CN" sz="1600" i="0" dirty="0" err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Sonsbeek</a:t>
            </a:r>
            <a:r>
              <a:rPr lang="en-US" altLang="zh-CN" sz="160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et al. ?</a:t>
            </a:r>
          </a:p>
          <a:p>
            <a:pPr marL="576000" lvl="3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Why is the gap ?</a:t>
            </a:r>
            <a:endParaRPr lang="en-US" altLang="zh-CN" sz="1600" i="0" dirty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lvl="1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endParaRPr lang="en-US" altLang="zh-CN" sz="2300" b="1" dirty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194310" y="775335"/>
          <a:ext cx="1898650" cy="4022725"/>
        </p:xfrm>
        <a:graphic>
          <a:graphicData uri="http://schemas.openxmlformats.org/drawingml/2006/table">
            <a:tbl>
              <a:tblPr/>
              <a:tblGrid>
                <a:gridCol w="94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Parameter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Value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Epochs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35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Batch Size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Optimizer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Adam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9350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Learning Rate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10^(-4)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4675"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Dropout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0.3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2832100" y="775335"/>
          <a:ext cx="5866130" cy="1891665"/>
        </p:xfrm>
        <a:graphic>
          <a:graphicData uri="http://schemas.openxmlformats.org/drawingml/2006/table">
            <a:tbl>
              <a:tblPr/>
              <a:tblGrid>
                <a:gridCol w="989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8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55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25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880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Metric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Training Set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Validation Set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Test Set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40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Accuracy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78.65%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44.21%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33.83%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F1 Score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16.21%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13.64%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940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Precision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16.04%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14.54%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Recall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13.27%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9405"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Loss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0.6623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3.8041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9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3790" y="2738755"/>
            <a:ext cx="6496685" cy="180721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直接箭头连接符 2"/>
          <p:cNvCxnSpPr/>
          <p:nvPr/>
        </p:nvCxnSpPr>
        <p:spPr>
          <a:xfrm>
            <a:off x="2832100" y="3903345"/>
            <a:ext cx="690880" cy="3340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/>
          <p:nvPr/>
        </p:nvCxnSpPr>
        <p:spPr>
          <a:xfrm flipV="1">
            <a:off x="4939665" y="3016885"/>
            <a:ext cx="979170" cy="55245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/>
        </p:nvCxnSpPr>
        <p:spPr>
          <a:xfrm flipV="1">
            <a:off x="7611745" y="3408045"/>
            <a:ext cx="736600" cy="64516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3540760" y="4545965"/>
            <a:ext cx="1943100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en-US" altLang="zh-CN" sz="2800" b="1">
                <a:solidFill>
                  <a:schemeClr val="bg1"/>
                </a:solidFill>
              </a:rPr>
              <a:t>Learnable</a:t>
            </a:r>
          </a:p>
        </p:txBody>
      </p:sp>
      <p:cxnSp>
        <p:nvCxnSpPr>
          <p:cNvPr id="11" name="直接箭头连接符 10"/>
          <p:cNvCxnSpPr/>
          <p:nvPr/>
        </p:nvCxnSpPr>
        <p:spPr>
          <a:xfrm flipV="1">
            <a:off x="3365500" y="3693795"/>
            <a:ext cx="943610" cy="254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V="1">
            <a:off x="4516755" y="1217930"/>
            <a:ext cx="967105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V="1">
            <a:off x="6268085" y="1229360"/>
            <a:ext cx="80518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6071870" y="4545965"/>
            <a:ext cx="2104390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lstStyle/>
          <a:p>
            <a:r>
              <a:rPr lang="en-US" altLang="zh-CN" sz="2800" b="1">
                <a:solidFill>
                  <a:schemeClr val="bg1"/>
                </a:solidFill>
              </a:rPr>
              <a:t>Overfitting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7" name="图片 3" descr="IMG_2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55" y="775335"/>
            <a:ext cx="5779135" cy="245491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文本框 9"/>
          <p:cNvSpPr txBox="1"/>
          <p:nvPr/>
        </p:nvSpPr>
        <p:spPr>
          <a:xfrm>
            <a:off x="4013835" y="895350"/>
            <a:ext cx="4855845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lstStyle/>
          <a:p>
            <a:r>
              <a:rPr lang="en-US" altLang="zh-CN" sz="2800" b="1">
                <a:solidFill>
                  <a:schemeClr val="bg1"/>
                </a:solidFill>
              </a:rPr>
              <a:t>CLOSED questiosn </a:t>
            </a:r>
            <a:r>
              <a:rPr lang="en-US" altLang="zh-CN" sz="2800" b="1">
                <a:solidFill>
                  <a:schemeClr val="bg1"/>
                </a:solidFill>
                <a:sym typeface="+mn-ea"/>
              </a:rPr>
              <a:t>better 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3" name="直接箭头连接符 2"/>
          <p:cNvCxnSpPr/>
          <p:nvPr/>
        </p:nvCxnSpPr>
        <p:spPr>
          <a:xfrm flipH="1">
            <a:off x="1139190" y="1266190"/>
            <a:ext cx="379730" cy="6769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4013835" y="1614805"/>
            <a:ext cx="4855845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lstStyle/>
          <a:p>
            <a:r>
              <a:rPr lang="en-US" altLang="zh-CN" sz="2800" b="1">
                <a:solidFill>
                  <a:schemeClr val="bg1"/>
                </a:solidFill>
              </a:rPr>
              <a:t>Low generalization ability</a:t>
            </a: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4013835" y="2461895"/>
            <a:ext cx="177800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Generative Model</a:t>
            </a:r>
          </a:p>
        </p:txBody>
      </p:sp>
      <p:pic>
        <p:nvPicPr>
          <p:cNvPr id="93595450" name="Picture 1" descr="A graph with a line&#10;&#10;AI-generated content may be incorrect.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404" y="857568"/>
            <a:ext cx="2705100" cy="2028825"/>
          </a:xfrm>
          <a:prstGeom prst="rect">
            <a:avLst/>
          </a:prstGeom>
        </p:spPr>
      </p:pic>
      <p:cxnSp>
        <p:nvCxnSpPr>
          <p:cNvPr id="2" name="直接箭头连接符 1"/>
          <p:cNvCxnSpPr/>
          <p:nvPr/>
        </p:nvCxnSpPr>
        <p:spPr>
          <a:xfrm>
            <a:off x="902104" y="1397318"/>
            <a:ext cx="48895" cy="85979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/>
        </p:nvCxnSpPr>
        <p:spPr>
          <a:xfrm flipV="1">
            <a:off x="1183409" y="2436178"/>
            <a:ext cx="1476375" cy="63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3086504" y="1073153"/>
            <a:ext cx="5731164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altLang="zh-CN" sz="1600" b="1" i="0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Finding</a:t>
            </a:r>
            <a:r>
              <a:rPr lang="en-US" altLang="zh-CN" sz="1600" b="0" i="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: </a:t>
            </a: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rapid decline in the initial stage </a:t>
            </a: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loss curve enters a plateau</a:t>
            </a:r>
            <a:r>
              <a:rPr lang="zh-CN" altLang="en-US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</a:t>
            </a: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n-MY" altLang="zh-CN" sz="1600" dirty="0" err="1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poch</a:t>
            </a: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lang="en-US" altLang="zh-CN" sz="1600" b="0" i="0" dirty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lvl="1">
              <a:spcBef>
                <a:spcPct val="0"/>
              </a:spcBef>
              <a:spcAft>
                <a:spcPct val="0"/>
              </a:spcAft>
              <a:buSzTx/>
            </a:pPr>
            <a:r>
              <a:rPr lang="en-US" altLang="zh-CN" sz="1800" b="1" dirty="0">
                <a:solidFill>
                  <a:schemeClr val="accent4">
                    <a:lumMod val="75000"/>
                  </a:schemeClr>
                </a:solidFill>
                <a:latin typeface="quote-cjk-patch"/>
              </a:rPr>
              <a:t>Why quickly decline ?</a:t>
            </a:r>
          </a:p>
          <a:p>
            <a:pPr lvl="1">
              <a:spcBef>
                <a:spcPct val="0"/>
              </a:spcBef>
              <a:spcAft>
                <a:spcPct val="0"/>
              </a:spcAft>
              <a:buSzTx/>
            </a:pPr>
            <a:r>
              <a:rPr lang="en-MY" altLang="zh-CN" sz="16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CLIP and GPT-2 are pre-trained and frozen</a:t>
            </a:r>
            <a:endParaRPr lang="en-US" altLang="zh-CN" sz="1600" dirty="0">
              <a:solidFill>
                <a:srgbClr val="0F111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 b="1" dirty="0">
                <a:solidFill>
                  <a:schemeClr val="accent4">
                    <a:lumMod val="75000"/>
                  </a:schemeClr>
                </a:solidFill>
                <a:latin typeface="quote-cjk-patch"/>
                <a:ea typeface="quote-cjk-patch"/>
              </a:rPr>
              <a:t>What has been proved? </a:t>
            </a:r>
          </a:p>
          <a:p>
            <a:pPr lvl="1"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Learning rate (1e-4) and </a:t>
            </a:r>
            <a:r>
              <a:rPr lang="en-US" altLang="zh-CN" sz="1600" dirty="0" err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AdamW</a:t>
            </a:r>
            <a:r>
              <a:rPr lang="en-US" altLang="zh-CN" sz="16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optimizer appropriately set</a:t>
            </a:r>
          </a:p>
        </p:txBody>
      </p:sp>
      <p:graphicFrame>
        <p:nvGraphicFramePr>
          <p:cNvPr id="9" name="表格 8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3407392"/>
              </p:ext>
            </p:extLst>
          </p:nvPr>
        </p:nvGraphicFramePr>
        <p:xfrm>
          <a:off x="381404" y="3200328"/>
          <a:ext cx="8381192" cy="1617976"/>
        </p:xfrm>
        <a:graphic>
          <a:graphicData uri="http://schemas.openxmlformats.org/drawingml/2006/table">
            <a:tbl>
              <a:tblPr/>
              <a:tblGrid>
                <a:gridCol w="2779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6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5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Question Type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Accuracy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4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BLEU-1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BERTScore-F1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8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Closed-Ended Questions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63.03%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8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Open-Ended Questions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0.084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1" i="0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0.911</a:t>
                      </a: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8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Overall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36.00%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" name="文本框 35"/>
          <p:cNvSpPr txBox="1"/>
          <p:nvPr/>
        </p:nvSpPr>
        <p:spPr>
          <a:xfrm>
            <a:off x="6590638" y="-692388"/>
            <a:ext cx="2158365" cy="39433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 anchor="t">
            <a:noAutofit/>
          </a:bodyPr>
          <a:lstStyle/>
          <a:p>
            <a:r>
              <a:rPr lang="en-US" altLang="zh-CN" sz="1600" b="1">
                <a:solidFill>
                  <a:schemeClr val="bg1"/>
                </a:solidFill>
              </a:rPr>
              <a:t>Core Contradiction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Generative Model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94310" y="775335"/>
            <a:ext cx="8830945" cy="4276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Experimental Differences and Their Impact</a:t>
            </a:r>
          </a:p>
          <a:p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1. Prefix Configuration Differences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 : Long prefixes dilute visual information injection, particularly affecting open-ended answer generation</a:t>
            </a:r>
          </a:p>
          <a:p>
            <a:pPr>
              <a:lnSpc>
                <a:spcPct val="100000"/>
              </a:lnSpc>
            </a:pP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2. Language Model Limitations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 : </a:t>
            </a: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Limits precise word form generation ability</a:t>
            </a:r>
          </a:p>
          <a:p>
            <a:pPr marL="742950" lvl="1" indent="-285750">
              <a:lnSpc>
                <a:spcPct val="50000"/>
              </a:lnSpc>
              <a:buFont typeface="Arial" panose="020B0604020202020204" pitchFamily="34" charset="0"/>
              <a:buChar char="•"/>
            </a:pP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742950" lvl="1" indent="-285750">
              <a:lnSpc>
                <a:spcPct val="5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Insufficient lexical expression precision leads to low BLEU</a:t>
            </a:r>
          </a:p>
          <a:p>
            <a:pPr marL="742950" lvl="1" indent="-285750">
              <a:lnSpc>
                <a:spcPct val="50000"/>
              </a:lnSpc>
              <a:buFont typeface="Arial" panose="020B0604020202020204" pitchFamily="34" charset="0"/>
              <a:buChar char="•"/>
            </a:pP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742950" lvl="1" indent="-285750">
              <a:lnSpc>
                <a:spcPct val="5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Semantic content remains intact</a:t>
            </a:r>
          </a:p>
          <a:p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3. Training Strategy Impact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 : Constrains surface form accuracy while preserving semantic correctness</a:t>
            </a:r>
          </a:p>
          <a:p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r>
              <a:rPr lang="en-US" altLang="zh-CN" sz="2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Performance Feature Summary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High BERTScore-F1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Model captures clinically relevant semantics even with different word 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Low Surface Metrics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Caused by prefix length, model capacity, freezing strategy, dataset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Closed Question Robustness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Binary decision tasks not significantly affected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3050" y="2138680"/>
            <a:ext cx="795020" cy="854075"/>
          </a:xfrm>
          <a:prstGeom prst="rect">
            <a:avLst/>
          </a:prstGeom>
        </p:spPr>
      </p:pic>
      <p:pic>
        <p:nvPicPr>
          <p:cNvPr id="78" name="Google Shape;78;p2"/>
          <p:cNvPicPr preferRelativeResize="0"/>
          <p:nvPr/>
        </p:nvPicPr>
        <p:blipFill rotWithShape="1">
          <a:blip r:embed="rId9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  <a:sym typeface="+mn-ea"/>
              </a:rPr>
              <a:t>Discussion</a:t>
            </a:r>
            <a:r>
              <a:rPr lang="zh-CN" altLang="en-US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：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baseline vs </a:t>
            </a:r>
            <a:r>
              <a:rPr lang="en-US" altLang="zh-CN" sz="360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Generative Model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86360" y="775335"/>
          <a:ext cx="8961120" cy="1297302"/>
        </p:xfrm>
        <a:graphic>
          <a:graphicData uri="http://schemas.openxmlformats.org/drawingml/2006/table">
            <a:tbl>
              <a:tblPr/>
              <a:tblGrid>
                <a:gridCol w="2609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87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Evaluation Dimension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Metric Performance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Lexical Strictness Metrics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Poor performance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Low Exact Match and BLEU scores</a:t>
                      </a: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Semantic Similarity Metrics</a:t>
                      </a:r>
                    </a:p>
                  </a:txBody>
                  <a:tcPr marL="0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Excellent performance</a:t>
                      </a:r>
                    </a:p>
                  </a:txBody>
                  <a:tcPr marL="152717" marR="152717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BERTScore as high as 0.911</a:t>
                      </a:r>
                    </a:p>
                  </a:txBody>
                  <a:tcPr marL="152717" marR="0" marT="95567" marB="955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圆角矩形 8"/>
          <p:cNvSpPr/>
          <p:nvPr>
            <p:custDataLst>
              <p:tags r:id="rId2"/>
            </p:custDataLst>
          </p:nvPr>
        </p:nvSpPr>
        <p:spPr>
          <a:xfrm>
            <a:off x="365125" y="2371725"/>
            <a:ext cx="3559175" cy="93535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 sz="1800">
                <a:solidFill>
                  <a:schemeClr val="tx1"/>
                </a:solidFill>
              </a:rPr>
              <a:t>Paraphrasing or substituting clinically related terms</a:t>
            </a:r>
          </a:p>
          <a:p>
            <a:pPr algn="l"/>
            <a:r>
              <a:rPr lang="en-US" altLang="zh-CN" sz="1800">
                <a:solidFill>
                  <a:schemeClr val="tx1"/>
                </a:solidFill>
                <a:highlight>
                  <a:srgbClr val="FFFF00"/>
                </a:highlight>
              </a:rPr>
              <a:t>Low Risk</a:t>
            </a:r>
          </a:p>
        </p:txBody>
      </p:sp>
      <p:sp>
        <p:nvSpPr>
          <p:cNvPr id="11" name="圆角矩形 10"/>
          <p:cNvSpPr/>
          <p:nvPr>
            <p:custDataLst>
              <p:tags r:id="rId3"/>
            </p:custDataLst>
          </p:nvPr>
        </p:nvSpPr>
        <p:spPr>
          <a:xfrm>
            <a:off x="5036820" y="2372360"/>
            <a:ext cx="3757295" cy="93472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 sz="1800">
                <a:solidFill>
                  <a:schemeClr val="tx1"/>
                </a:solidFill>
              </a:rPr>
              <a:t>Fabricating non-existent diseases or findings</a:t>
            </a:r>
          </a:p>
          <a:p>
            <a:pPr algn="l"/>
            <a:r>
              <a:rPr lang="en-US" altLang="zh-CN" sz="1800">
                <a:solidFill>
                  <a:schemeClr val="tx1"/>
                </a:solidFill>
                <a:highlight>
                  <a:srgbClr val="FFFF00"/>
                </a:highlight>
                <a:sym typeface="+mn-ea"/>
              </a:rPr>
              <a:t>High Risk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1172845" y="2003425"/>
            <a:ext cx="2299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b="1"/>
              <a:t>Soft Hallucinations</a:t>
            </a:r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5394960" y="1965960"/>
            <a:ext cx="2679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b="1"/>
              <a:t>Hard Hallucinations</a:t>
            </a:r>
          </a:p>
        </p:txBody>
      </p:sp>
      <p:graphicFrame>
        <p:nvGraphicFramePr>
          <p:cNvPr id="12" name="图示 11"/>
          <p:cNvGraphicFramePr/>
          <p:nvPr/>
        </p:nvGraphicFramePr>
        <p:xfrm>
          <a:off x="193040" y="3524885"/>
          <a:ext cx="8742045" cy="1510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sp>
        <p:nvSpPr>
          <p:cNvPr id="16" name="椭圆 15"/>
          <p:cNvSpPr/>
          <p:nvPr/>
        </p:nvSpPr>
        <p:spPr>
          <a:xfrm>
            <a:off x="3924300" y="3345180"/>
            <a:ext cx="1448435" cy="40767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  <a:sym typeface="+mn-ea"/>
              </a:rPr>
              <a:t>SAFETY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"/>
          <p:cNvPicPr preferRelativeResize="0"/>
          <p:nvPr/>
        </p:nvPicPr>
        <p:blipFill rotWithShape="1">
          <a:blip r:embed="rId3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"/>
          <p:cNvSpPr txBox="1"/>
          <p:nvPr/>
        </p:nvSpPr>
        <p:spPr>
          <a:xfrm>
            <a:off x="2498071" y="1131106"/>
            <a:ext cx="3957357" cy="1016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 panose="020F0502020204030204"/>
              <a:buNone/>
            </a:pPr>
            <a:r>
              <a:rPr lang="en-US" sz="3600" b="1" dirty="0">
                <a:solidFill>
                  <a:srgbClr val="FFFFFF"/>
                </a:solidFill>
              </a:rPr>
              <a:t>THAN</a:t>
            </a:r>
            <a:r>
              <a:rPr lang="en-US" altLang="zh-CN" sz="3600" b="1" dirty="0">
                <a:solidFill>
                  <a:srgbClr val="FFFFFF"/>
                </a:solidFill>
              </a:rPr>
              <a:t>K</a:t>
            </a:r>
            <a:r>
              <a:rPr lang="en-US" sz="3600" b="1" dirty="0">
                <a:solidFill>
                  <a:srgbClr val="FFFFFF"/>
                </a:solidFill>
              </a:rPr>
              <a:t> YOU</a:t>
            </a:r>
            <a:endParaRPr sz="1100" b="1" i="0" u="none" strike="noStrike" cap="non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61*148"/>
  <p:tag name="TABLE_ENDDRAG_RECT" val="202*60*461*14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88"/>
  <p:tag name="TABLE_ENDDRAG_RECT" val="44*219*581*18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705*120"/>
  <p:tag name="TABLE_ENDDRAG_RECT" val="6*61*705*12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5.65,&quot;left&quot;:28.75,&quot;top&quot;:154.8,&quot;width&quot;:663.7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5.65,&quot;left&quot;:28.75,&quot;top&quot;:154.8,&quot;width&quot;:663.7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5.65,&quot;left&quot;:28.75,&quot;top&quot;:154.8,&quot;width&quot;:663.7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5.65,&quot;left&quot;:28.75,&quot;top&quot;:154.8,&quot;width&quot;:663.7}"/>
</p:tagLst>
</file>

<file path=ppt/theme/theme1.xml><?xml version="1.0" encoding="utf-8"?>
<a:theme xmlns:a="http://schemas.openxmlformats.org/drawingml/2006/main" name="Office Theme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1084</Words>
  <Application>Microsoft Macintosh PowerPoint</Application>
  <PresentationFormat>全屏显示(16:9)</PresentationFormat>
  <Paragraphs>207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25" baseType="lpstr">
      <vt:lpstr>quote-cjk-patch</vt:lpstr>
      <vt:lpstr>Arial</vt:lpstr>
      <vt:lpstr>Calibri</vt:lpstr>
      <vt:lpstr>Arial MT</vt:lpstr>
      <vt:lpstr>Times New Roman</vt:lpstr>
      <vt:lpstr>Arial Unicode MS</vt:lpstr>
      <vt:lpstr>宋体</vt:lpstr>
      <vt:lpstr>Office Theme</vt:lpstr>
      <vt:lpstr>Simple Light</vt:lpstr>
      <vt:lpstr>PowerPoint 演示文稿</vt:lpstr>
      <vt:lpstr> Introduction</vt:lpstr>
      <vt:lpstr> RQs/ROs</vt:lpstr>
      <vt:lpstr> Methods-baseline architecture</vt:lpstr>
      <vt:lpstr> Methods-baseline architecture</vt:lpstr>
      <vt:lpstr> Methods-baseline architecture</vt:lpstr>
      <vt:lpstr> Methods-Generative Model Architecture</vt:lpstr>
      <vt:lpstr> Methods-Generative Model Architecture</vt:lpstr>
      <vt:lpstr> Methods-Generative Model Architecture</vt:lpstr>
      <vt:lpstr>Result-baseline </vt:lpstr>
      <vt:lpstr>Result-baseline </vt:lpstr>
      <vt:lpstr>Result-Generative Model</vt:lpstr>
      <vt:lpstr>Result-Generative Model</vt:lpstr>
      <vt:lpstr>Discussion：baseline vs  Generative Model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shiernee saw</dc:creator>
  <cp:lastModifiedBy>ZHONG JUN PEI</cp:lastModifiedBy>
  <cp:revision>148</cp:revision>
  <dcterms:created xsi:type="dcterms:W3CDTF">2026-01-11T04:44:00Z</dcterms:created>
  <dcterms:modified xsi:type="dcterms:W3CDTF">2026-01-16T04:15:53Z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oAppVersion">
    <vt:lpwstr>0.17.1.1417</vt:lpwstr>
  </property>
  <property fmtid="{D5CDD505-2E9C-101B-9397-08002B2CF9AE}" pid="3" name="KSOProductBuildVer">
    <vt:lpwstr>2052-12.1.0.24657</vt:lpwstr>
  </property>
  <property fmtid="{D5CDD505-2E9C-101B-9397-08002B2CF9AE}" pid="4" name="ICV">
    <vt:lpwstr>BB7536458E3B41899896659986F44323_12</vt:lpwstr>
  </property>
</Properties>
</file>