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319" r:id="rId7"/>
    <p:sldId id="320" r:id="rId8"/>
    <p:sldId id="296" r:id="rId9"/>
  </p:sldIdLst>
  <p:sldSz cx="9144000" cy="5143500" type="screen16x9"/>
  <p:notesSz cx="6858000" cy="9144000"/>
  <p:embeddedFontLst>
    <p:embeddedFont>
      <p:font typeface="Calibri" panose="020F0502020204030204"/>
      <p:regular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7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620"/>
    <p:restoredTop sz="72325" autoAdjust="0"/>
  </p:normalViewPr>
  <p:slideViewPr>
    <p:cSldViewPr snapToGrid="0" showGuides="1">
      <p:cViewPr>
        <p:scale>
          <a:sx n="75" d="100"/>
          <a:sy n="75" d="100"/>
        </p:scale>
        <p:origin x="-1002" y="-72"/>
      </p:cViewPr>
      <p:guideLst>
        <p:guide orient="horz" pos="157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font" Target="fonts/font1.fntdata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" name="Google Shape;14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7" name="Google Shape;27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" name="Google Shape;28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1" name="Google Shape;3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5" name="Google Shape;35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" name="Google Shape;3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" name="Google Shape;4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0" name="Google Shape;50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" name="Google Shape;53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4" name="Google Shape;54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5" name="Google Shape;55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2" name="Google Shape;62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3" name="Google Shape;63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slideLayout" Target="../slideLayouts/slideLayout9.xml"/><Relationship Id="rId7" Type="http://schemas.openxmlformats.org/officeDocument/2006/relationships/slideLayout" Target="../slideLayouts/slideLayout8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 panose="020F0502020204030204"/>
              <a:buNone/>
              <a:defRPr sz="3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表格 2"/>
          <p:cNvGraphicFramePr/>
          <p:nvPr/>
        </p:nvGraphicFramePr>
        <p:xfrm>
          <a:off x="986155" y="3310255"/>
          <a:ext cx="639953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/>
                <a:gridCol w="3199765"/>
              </a:tblGrid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ea typeface="Arial MT"/>
                          <a:sym typeface="+mn-ea"/>
                        </a:rPr>
                        <a:t>Name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Matric Number)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sym typeface="+mn-ea"/>
                        </a:rPr>
                        <a:t>ZOU TING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24201617)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ZHONG JUNPEI(24214748)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Course 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WOA7015 – Advanced Machine Learning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Lecturer Name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Dr. SAW SHIER NEE (OCC1)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</a:tbl>
          </a:graphicData>
        </a:graphic>
      </p:graphicFrame>
      <p:sp>
        <p:nvSpPr>
          <p:cNvPr id="7" name="Google Shape;71;p1"/>
          <p:cNvSpPr txBox="1"/>
          <p:nvPr/>
        </p:nvSpPr>
        <p:spPr>
          <a:xfrm>
            <a:off x="986118" y="306189"/>
            <a:ext cx="7540500" cy="21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FFFFFF"/>
              </a:buClr>
              <a:buSzPts val="3600"/>
            </a:pPr>
            <a:r>
              <a:rPr lang="en-US" altLang="zh-CN" sz="2800" b="1" i="0" u="none" strike="noStrike" cap="none" dirty="0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Comparative Study of CNN Baseline Classifier and LLM-Based Model for Medical Visual Question Answersing</a:t>
            </a:r>
            <a:endParaRPr lang="en-US" altLang="zh-CN" sz="2800" b="1" i="0" u="none" strike="noStrike" cap="none" dirty="0">
              <a:solidFill>
                <a:schemeClr val="bg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Introduction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245428" y="945198"/>
            <a:ext cx="8486775" cy="132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4060" y="2517140"/>
            <a:ext cx="7270115" cy="608330"/>
          </a:xfrm>
          <a:prstGeom prst="rect">
            <a:avLst/>
          </a:prstGeom>
        </p:spPr>
        <p:txBody>
          <a:bodyPr>
            <a:no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Demands for </a:t>
            </a:r>
            <a:r>
              <a:rPr lang="en-US" altLang="zh-CN" sz="2400" b="1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"understanding medical images"</a:t>
            </a:r>
            <a:endParaRPr lang="en-US" altLang="zh-CN" sz="2400" b="1" i="0">
              <a:solidFill>
                <a:srgbClr val="2E3033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下箭头 5"/>
          <p:cNvSpPr/>
          <p:nvPr/>
        </p:nvSpPr>
        <p:spPr>
          <a:xfrm>
            <a:off x="3869690" y="3077210"/>
            <a:ext cx="702310" cy="52387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5125" y="3791585"/>
            <a:ext cx="8438515" cy="95313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how to evaluate the performance</a:t>
            </a:r>
            <a:r>
              <a:rPr lang="en-US" altLang="zh-CN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of closed-ended and open-ended questions</a:t>
            </a:r>
            <a:r>
              <a:rPr lang="zh-CN" altLang="en-US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？</a:t>
            </a:r>
            <a:endParaRPr lang="zh-CN" altLang="en-US" sz="28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RQs/ROs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365125" y="1066165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Which model</a:t>
            </a:r>
            <a:r>
              <a:rPr lang="en-US" altLang="zh-CN" sz="1800">
                <a:solidFill>
                  <a:schemeClr val="tx1"/>
                </a:solidFill>
              </a:rPr>
              <a:t>, baseline or VLM,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performs better</a:t>
            </a:r>
            <a:r>
              <a:rPr lang="en-US" altLang="zh-CN" sz="1800">
                <a:solidFill>
                  <a:schemeClr val="tx1"/>
                </a:solidFill>
              </a:rPr>
              <a:t> in answering closed-ended questions about radiology images? How big is the gap between the two models?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364490" y="309689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How is the expression quality of large visual language models(VLM) in medical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open-ended question answering?</a:t>
            </a:r>
            <a:r>
              <a:rPr lang="en-US" altLang="zh-CN" sz="1800">
                <a:solidFill>
                  <a:schemeClr val="tx1"/>
                </a:solidFill>
              </a:rPr>
              <a:t> What is the risk that the content it generates may cause hallucinations?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4674870" y="1028700"/>
            <a:ext cx="4119245" cy="198945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Construct a unified evaluation framework, calculate closed classification indicators </a:t>
            </a:r>
            <a:r>
              <a:rPr lang="en-US" altLang="zh-CN" sz="1800" b="1">
                <a:solidFill>
                  <a:schemeClr val="tx1"/>
                </a:solidFill>
              </a:rPr>
              <a:t>(Overall Acc, Macro-F1), calculate the gap</a:t>
            </a:r>
            <a:r>
              <a:rPr lang="en-US" altLang="zh-CN" sz="1800">
                <a:solidFill>
                  <a:schemeClr val="tx1"/>
                </a:solidFill>
              </a:rPr>
              <a:t>, and evaluate and output the classification results under the two routes respectively.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4616450" y="3096895"/>
            <a:ext cx="4177665" cy="19164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Use </a:t>
            </a:r>
            <a:r>
              <a:rPr lang="en-US" altLang="zh-CN" b="1">
                <a:solidFill>
                  <a:schemeClr val="tx1"/>
                </a:solidFill>
              </a:rPr>
              <a:t>language similarity metrics (BLEU, ROUGE-L, METEOR</a:t>
            </a:r>
            <a:r>
              <a:rPr lang="en-US" altLang="zh-CN">
                <a:solidFill>
                  <a:schemeClr val="tx1"/>
                </a:solidFill>
              </a:rPr>
              <a:t>, etc.) and human assistance to evaluate the expression quality of open-ended questions. Conduct sensitivity analysis on repetitive questions, systematically quantify the expression quality and illusion risk of answers generated by vlm, and formulate specific operation guidelines to reduce risks.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RQs</a:t>
            </a:r>
            <a:endParaRPr lang="en-US" altLang="zh-CN" sz="1800" b="1"/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ROs</a:t>
            </a:r>
            <a:endParaRPr lang="en-US" altLang="zh-CN" sz="1800" b="1"/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</a:t>
            </a:r>
            <a:endParaRPr lang="zh-CN" altLang="en-US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365125" y="1066165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Which model</a:t>
            </a:r>
            <a:r>
              <a:rPr lang="en-US" altLang="zh-CN" sz="1800">
                <a:solidFill>
                  <a:schemeClr val="tx1"/>
                </a:solidFill>
              </a:rPr>
              <a:t>, baseline or VLM,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performs better</a:t>
            </a:r>
            <a:r>
              <a:rPr lang="en-US" altLang="zh-CN" sz="1800">
                <a:solidFill>
                  <a:schemeClr val="tx1"/>
                </a:solidFill>
              </a:rPr>
              <a:t> in answering closed-ended questions about radiology images? How big is the gap between the two models?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364490" y="309689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How is the expression quality of large visual language models(VLM) in medical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open-ended question answering?</a:t>
            </a:r>
            <a:r>
              <a:rPr lang="en-US" altLang="zh-CN" sz="1800">
                <a:solidFill>
                  <a:schemeClr val="tx1"/>
                </a:solidFill>
              </a:rPr>
              <a:t> What is the risk that the content it generates may cause hallucinations?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4674870" y="1028700"/>
            <a:ext cx="4119245" cy="198945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Construct a unified evaluation framework, calculate closed classification indicators </a:t>
            </a:r>
            <a:r>
              <a:rPr lang="en-US" altLang="zh-CN" sz="1800" b="1">
                <a:solidFill>
                  <a:schemeClr val="tx1"/>
                </a:solidFill>
              </a:rPr>
              <a:t>(Overall Acc, Macro-F1), calculate the gap</a:t>
            </a:r>
            <a:r>
              <a:rPr lang="en-US" altLang="zh-CN" sz="1800">
                <a:solidFill>
                  <a:schemeClr val="tx1"/>
                </a:solidFill>
              </a:rPr>
              <a:t>, and evaluate and output the classification results under the two routes respectively.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4616450" y="3096895"/>
            <a:ext cx="4177665" cy="19164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Use </a:t>
            </a:r>
            <a:r>
              <a:rPr lang="en-US" altLang="zh-CN" b="1">
                <a:solidFill>
                  <a:schemeClr val="tx1"/>
                </a:solidFill>
              </a:rPr>
              <a:t>language similarity metrics (BLEU, ROUGE-L, METEOR</a:t>
            </a:r>
            <a:r>
              <a:rPr lang="en-US" altLang="zh-CN">
                <a:solidFill>
                  <a:schemeClr val="tx1"/>
                </a:solidFill>
              </a:rPr>
              <a:t>, etc.) and human assistance to evaluate the expression quality of open-ended questions. Conduct sensitivity analysis on repetitive questions, systematically quantify the expression quality and illusion risk of answers generated by vlm, and formulate specific operation guidelines to reduce risks.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RQs</a:t>
            </a:r>
            <a:endParaRPr lang="en-US" altLang="zh-CN" sz="1800" b="1"/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ROs</a:t>
            </a:r>
            <a:endParaRPr lang="en-US" altLang="zh-CN" sz="1800" b="1"/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 txBox="1"/>
          <p:nvPr/>
        </p:nvSpPr>
        <p:spPr>
          <a:xfrm>
            <a:off x="2498071" y="1131106"/>
            <a:ext cx="3957357" cy="1016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 panose="020F0502020204030204"/>
              <a:buNone/>
            </a:pPr>
            <a:r>
              <a:rPr lang="en-US" sz="3600" b="1" dirty="0" smtClean="0">
                <a:solidFill>
                  <a:srgbClr val="FFFFFF"/>
                </a:solidFill>
              </a:rPr>
              <a:t>THAN</a:t>
            </a:r>
            <a:r>
              <a:rPr lang="en-US" altLang="zh-CN" sz="3600" b="1" dirty="0" smtClean="0">
                <a:solidFill>
                  <a:srgbClr val="FFFFFF"/>
                </a:solidFill>
              </a:rPr>
              <a:t>K</a:t>
            </a:r>
            <a:r>
              <a:rPr lang="en-US" sz="3600" b="1" dirty="0" smtClean="0">
                <a:solidFill>
                  <a:srgbClr val="FFFFFF"/>
                </a:solidFill>
              </a:rPr>
              <a:t> YOU</a:t>
            </a:r>
            <a:endParaRPr sz="1100" b="1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2199</Words>
  <Application>WPS 演示</Application>
  <PresentationFormat>全屏显示(16:9)</PresentationFormat>
  <Paragraphs>51</Paragraphs>
  <Slides>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</vt:i4>
      </vt:variant>
    </vt:vector>
  </HeadingPairs>
  <TitlesOfParts>
    <vt:vector size="16" baseType="lpstr">
      <vt:lpstr>Arial</vt:lpstr>
      <vt:lpstr>宋体</vt:lpstr>
      <vt:lpstr>Wingdings</vt:lpstr>
      <vt:lpstr>Arial</vt:lpstr>
      <vt:lpstr>Calibri</vt:lpstr>
      <vt:lpstr>Arial MT</vt:lpstr>
      <vt:lpstr>微软雅黑</vt:lpstr>
      <vt:lpstr>Arial Unicode MS</vt:lpstr>
      <vt:lpstr>Courier New</vt:lpstr>
      <vt:lpstr>Office Theme</vt:lpstr>
      <vt:lpstr>Simple Light</vt:lpstr>
      <vt:lpstr>PowerPoint 演示文稿</vt:lpstr>
      <vt:lpstr> Intro</vt:lpstr>
      <vt:lpstr> Introduction</vt:lpstr>
      <vt:lpstr> Introduction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shiernee saw</dc:creator>
  <cp:lastModifiedBy>石呆子</cp:lastModifiedBy>
  <cp:revision>96</cp:revision>
  <dcterms:created xsi:type="dcterms:W3CDTF">2026-01-11T04:44:00Z</dcterms:created>
  <dcterms:modified xsi:type="dcterms:W3CDTF">2026-01-15T18:05:40Z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0.17.1.1417</vt:lpwstr>
  </property>
  <property fmtid="{D5CDD505-2E9C-101B-9397-08002B2CF9AE}" pid="3" name="KSOProductBuildVer">
    <vt:lpwstr>2052-12.1.0.24657</vt:lpwstr>
  </property>
  <property fmtid="{D5CDD505-2E9C-101B-9397-08002B2CF9AE}" pid="4" name="ICV">
    <vt:lpwstr>BB7536458E3B41899896659986F44323_12</vt:lpwstr>
  </property>
</Properties>
</file>