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fonts/font1.fntdata" ContentType="application/x-fontdata"/>
  <Override PartName="/ppt/fonts/font2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319" r:id="rId7"/>
    <p:sldId id="320" r:id="rId8"/>
    <p:sldId id="321" r:id="rId9"/>
    <p:sldId id="322" r:id="rId10"/>
    <p:sldId id="330" r:id="rId11"/>
    <p:sldId id="331" r:id="rId12"/>
    <p:sldId id="323" r:id="rId13"/>
    <p:sldId id="324" r:id="rId14"/>
    <p:sldId id="325" r:id="rId15"/>
    <p:sldId id="326" r:id="rId16"/>
    <p:sldId id="328" r:id="rId17"/>
    <p:sldId id="329" r:id="rId18"/>
    <p:sldId id="296" r:id="rId19"/>
  </p:sldIdLst>
  <p:sldSz cx="9144000" cy="5143500" type="screen16x9"/>
  <p:notesSz cx="6858000" cy="9144000"/>
  <p:embeddedFontLst>
    <p:embeddedFont>
      <p:font typeface="Calibri" panose="020F0502020204030204"/>
      <p:regular r:id="rId23"/>
    </p:embeddedFont>
    <p:embeddedFont>
      <p:font typeface="Arial Unicode MS" panose="020B0604020202020204" charset="-122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42" userDrawn="1">
          <p15:clr>
            <a:srgbClr val="A4A3A4"/>
          </p15:clr>
        </p15:guide>
        <p15:guide id="2" pos="28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75A3"/>
    <a:srgbClr val="7D9263"/>
    <a:srgbClr val="FFE6CC"/>
    <a:srgbClr val="DAE8FC"/>
    <a:srgbClr val="E1D5E7"/>
    <a:srgbClr val="D5E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15620"/>
    <p:restoredTop sz="72325" autoAdjust="0"/>
  </p:normalViewPr>
  <p:slideViewPr>
    <p:cSldViewPr snapToGrid="0" showGuides="1">
      <p:cViewPr>
        <p:scale>
          <a:sx n="75" d="100"/>
          <a:sy n="75" d="100"/>
        </p:scale>
        <p:origin x="-1002" y="-72"/>
      </p:cViewPr>
      <p:guideLst>
        <p:guide orient="horz" pos="1542"/>
        <p:guide pos="28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4" Type="http://schemas.openxmlformats.org/officeDocument/2006/relationships/font" Target="fonts/font2.fntdata"/><Relationship Id="rId23" Type="http://schemas.openxmlformats.org/officeDocument/2006/relationships/font" Target="fonts/font1.fntdata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1">
  <dgm:title val=""/>
  <dgm:desc val=""/>
  <dgm:catLst>
    <dgm:cat type="accent5" pri="11100"/>
  </dgm:catLst>
  <dgm:styleLbl name="align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5">
        <a:alpha val="9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5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5">
        <a:tint val="4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5">
        <a:alpha val="40000"/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5">
        <a:shade val="8000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8FBB7B-694A-47BF-865D-2F44C1051453}" type="doc">
      <dgm:prSet loTypeId="list" loCatId="list" qsTypeId="urn:microsoft.com/office/officeart/2005/8/quickstyle/simple5" qsCatId="simple" csTypeId="urn:microsoft.com/office/officeart/2005/8/colors/accent5_1" csCatId="accent1" phldr="0"/>
      <dgm:spPr/>
      <dgm:t>
        <a:bodyPr/>
        <a:p>
          <a:endParaRPr lang="zh-CN" altLang="en-US"/>
        </a:p>
      </dgm:t>
    </dgm:pt>
    <dgm:pt modelId="{BD5427FF-4EB1-4006-BF7F-42158E0C5129}">
      <dgm:prSet phldrT="[文本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1600" b="1"/>
            <a:t>Advantages of Frozen Language Model</a:t>
          </a:r>
          <a:r>
            <a:rPr lang="en-US" altLang="zh-CN" sz="1600" b="1"/>
            <a:t/>
          </a:r>
          <a:endParaRPr lang="en-US" altLang="zh-CN" sz="1600" b="1"/>
        </a:p>
      </dgm:t>
    </dgm:pt>
    <dgm:pt modelId="{A2F6D805-3B53-408A-A2A3-20BC3BF0D242}" cxnId="{B388399E-0520-4464-8C87-DA42790AB011}" type="parTrans">
      <dgm:prSet/>
      <dgm:spPr/>
      <dgm:t>
        <a:bodyPr/>
        <a:p>
          <a:endParaRPr lang="zh-CN" altLang="en-US"/>
        </a:p>
      </dgm:t>
    </dgm:pt>
    <dgm:pt modelId="{D47F9812-1256-4E44-A6BE-BEC559BE8FF3}" cxnId="{B388399E-0520-4464-8C87-DA42790AB011}" type="sibTrans">
      <dgm:prSet/>
      <dgm:spPr/>
      <dgm:t>
        <a:bodyPr/>
        <a:p>
          <a:endParaRPr lang="zh-CN" altLang="en-US"/>
        </a:p>
      </dgm:t>
    </dgm:pt>
    <dgm:pt modelId="{3A7B819B-DBE9-4610-B22A-5573EA6D532D}">
      <dgm:prSet phldrT="[文本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Output Coherence</a:t>
          </a:r>
          <a:r>
            <a:rPr lang="en-US" altLang="zh-CN" sz="1600"/>
            <a:t/>
          </a:r>
          <a:endParaRPr lang="en-US" altLang="zh-CN" sz="1600"/>
        </a:p>
      </dgm:t>
    </dgm:pt>
    <dgm:pt modelId="{DC4BEA23-BF6E-42AD-9BF0-CFBDE86A80F1}" cxnId="{4255DC23-8E53-4EEF-934C-24D6C994F5A8}" type="parTrans">
      <dgm:prSet/>
      <dgm:spPr/>
      <dgm:t>
        <a:bodyPr/>
        <a:p>
          <a:endParaRPr lang="zh-CN" altLang="en-US"/>
        </a:p>
      </dgm:t>
    </dgm:pt>
    <dgm:pt modelId="{0BF6ACD3-AE1A-4691-8CBE-DBE77AB8A685}" cxnId="{4255DC23-8E53-4EEF-934C-24D6C994F5A8}" type="sibTrans">
      <dgm:prSet/>
      <dgm:spPr/>
      <dgm:t>
        <a:bodyPr/>
        <a:p>
          <a:endParaRPr lang="zh-CN" altLang="en-US"/>
        </a:p>
      </dgm:t>
    </dgm:pt>
    <dgm:pt modelId="{C93C45F0-4C8C-43D9-A785-DB6B65DCBFBC}">
      <dgm:prSet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Term Consistency</a:t>
          </a:r>
          <a:r>
            <a:rPr lang="en-US" altLang="zh-CN" sz="1600"/>
            <a:t/>
          </a:r>
          <a:endParaRPr lang="en-US" altLang="zh-CN" sz="1600"/>
        </a:p>
      </dgm:t>
    </dgm:pt>
    <dgm:pt modelId="{955B3196-74BB-42A3-9F2E-5F44CEE7A6DB}" cxnId="{0910F681-2DEF-4B32-85F6-AC0216A099EB}" type="parTrans">
      <dgm:prSet/>
      <dgm:spPr/>
    </dgm:pt>
    <dgm:pt modelId="{C877797C-C9A9-44B4-9A03-86FAF0C56F55}" cxnId="{0910F681-2DEF-4B32-85F6-AC0216A099EB}" type="sibTrans">
      <dgm:prSet/>
      <dgm:spPr/>
    </dgm:pt>
    <dgm:pt modelId="{01E823FD-CE9A-48B3-A596-167C665D03D7}">
      <dgm:prSet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Risk Control</a:t>
          </a:r>
          <a:r>
            <a:rPr lang="en-US" altLang="zh-CN" sz="1600"/>
            <a:t/>
          </a:r>
          <a:endParaRPr lang="en-US" altLang="zh-CN" sz="1600"/>
        </a:p>
      </dgm:t>
    </dgm:pt>
    <dgm:pt modelId="{D647510C-DCD5-4880-8162-1321C059322C}" cxnId="{DD1CBB2F-3597-498F-814E-B5E0D319D761}" type="parTrans">
      <dgm:prSet/>
      <dgm:spPr/>
    </dgm:pt>
    <dgm:pt modelId="{4DECF897-5A1F-4560-9562-45E18199F131}" cxnId="{DD1CBB2F-3597-498F-814E-B5E0D319D761}" type="sibTrans">
      <dgm:prSet/>
      <dgm:spPr/>
    </dgm:pt>
    <dgm:pt modelId="{FE969E54-0D5D-4815-BDC4-3309E2F7325D}">
      <dgm:prSet phldrT="[文本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1600" b="1"/>
            <a:t>Clinical Applicability Assessment</a:t>
          </a:r>
          <a:r>
            <a:rPr lang="en-US" altLang="zh-CN" sz="1600" b="1"/>
            <a:t/>
          </a:r>
          <a:endParaRPr lang="en-US" altLang="zh-CN" sz="1600" b="1"/>
        </a:p>
      </dgm:t>
    </dgm:pt>
    <dgm:pt modelId="{B5D9FB86-EEBE-488F-B7DE-B7CF5C9166C5}" cxnId="{549E804B-410A-4F40-BBEB-FA784362FE93}" type="parTrans">
      <dgm:prSet/>
      <dgm:spPr/>
      <dgm:t>
        <a:bodyPr/>
        <a:p>
          <a:endParaRPr lang="zh-CN" altLang="en-US"/>
        </a:p>
      </dgm:t>
    </dgm:pt>
    <dgm:pt modelId="{D7D19B67-C01A-45D3-B5C7-B7E1B18A9F62}" cxnId="{549E804B-410A-4F40-BBEB-FA784362FE93}" type="sibTrans">
      <dgm:prSet/>
      <dgm:spPr/>
      <dgm:t>
        <a:bodyPr/>
        <a:p>
          <a:endParaRPr lang="zh-CN" altLang="en-US"/>
        </a:p>
      </dgm:t>
    </dgm:pt>
    <dgm:pt modelId="{35600F67-42C2-4D1B-B072-DC2A36FCB136}">
      <dgm:prSet phldrT="[文本]"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Semantic Correctness Priority</a:t>
          </a:r>
          <a:r>
            <a:rPr lang="en-US" altLang="zh-CN" sz="1600"/>
            <a:t/>
          </a:r>
          <a:endParaRPr lang="en-US" altLang="zh-CN" sz="1600"/>
        </a:p>
      </dgm:t>
    </dgm:pt>
    <dgm:pt modelId="{B4BC79E1-FDBA-43D1-A988-1BE8090EDA7A}" cxnId="{E61ABA29-4BB0-401D-AF41-C16B945D0ABD}" type="parTrans">
      <dgm:prSet/>
      <dgm:spPr/>
      <dgm:t>
        <a:bodyPr/>
        <a:p>
          <a:endParaRPr lang="zh-CN" altLang="en-US"/>
        </a:p>
      </dgm:t>
    </dgm:pt>
    <dgm:pt modelId="{AD46A0AA-C45A-46D2-89AF-28390F99F9D0}" cxnId="{E61ABA29-4BB0-401D-AF41-C16B945D0ABD}" type="sibTrans">
      <dgm:prSet/>
      <dgm:spPr/>
      <dgm:t>
        <a:bodyPr/>
        <a:p>
          <a:endParaRPr lang="zh-CN" altLang="en-US"/>
        </a:p>
      </dgm:t>
    </dgm:pt>
    <dgm:pt modelId="{93B070B9-DFC1-4806-8E3D-930FC98F88DD}">
      <dgm:prSet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Modifier Sensitivity</a:t>
          </a:r>
          <a:r>
            <a:rPr lang="en-US" altLang="zh-CN" sz="1600"/>
            <a:t/>
          </a:r>
          <a:endParaRPr lang="en-US" altLang="zh-CN" sz="1600"/>
        </a:p>
      </dgm:t>
    </dgm:pt>
    <dgm:pt modelId="{4AB60690-1051-4F1B-BBB6-56A51F58A9EE}" cxnId="{C85910E5-10A8-4140-AA1B-DDB60ECFBA61}" type="parTrans">
      <dgm:prSet/>
      <dgm:spPr/>
    </dgm:pt>
    <dgm:pt modelId="{B943DC9E-CACD-4959-A9D6-1D0173AA3AED}" cxnId="{C85910E5-10A8-4140-AA1B-DDB60ECFBA61}" type="sibTrans">
      <dgm:prSet/>
      <dgm:spPr/>
    </dgm:pt>
    <dgm:pt modelId="{AF265AD3-D9EB-448D-A6CA-62D4F2D1F899}">
      <dgm:prSet phldr="0" custT="1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15000"/>
            </a:spcAft>
          </a:pPr>
          <a:r>
            <a:rPr lang="en-US" altLang="zh-CN" sz="1600"/>
            <a:t>Subtype Specificity</a:t>
          </a:r>
          <a:r>
            <a:rPr lang="en-US" altLang="zh-CN" sz="1600"/>
            <a:t/>
          </a:r>
          <a:endParaRPr lang="en-US" altLang="zh-CN" sz="1600"/>
        </a:p>
      </dgm:t>
    </dgm:pt>
    <dgm:pt modelId="{FCA4E51C-6702-481A-85F2-70EEC8119AE1}" cxnId="{715EA871-5FE0-400E-B7C1-765A0D4B35B0}" type="parTrans">
      <dgm:prSet/>
      <dgm:spPr/>
    </dgm:pt>
    <dgm:pt modelId="{A963B2DE-4BD2-436F-9987-2817EB5496F3}" cxnId="{715EA871-5FE0-400E-B7C1-765A0D4B35B0}" type="sibTrans">
      <dgm:prSet/>
      <dgm:spPr/>
    </dgm:pt>
    <dgm:pt modelId="{D5FB6A06-3991-4223-AD64-C4F7F6F4DF69}" type="pres">
      <dgm:prSet presAssocID="{468FBB7B-694A-47BF-865D-2F44C1051453}" presName="Name0" presStyleCnt="0">
        <dgm:presLayoutVars>
          <dgm:dir/>
          <dgm:animLvl val="lvl"/>
          <dgm:resizeHandles val="exact"/>
        </dgm:presLayoutVars>
      </dgm:prSet>
      <dgm:spPr/>
    </dgm:pt>
    <dgm:pt modelId="{5EB24CCF-928A-4018-A934-89F31F564A83}" type="pres">
      <dgm:prSet presAssocID="{BD5427FF-4EB1-4006-BF7F-42158E0C5129}" presName="composite" presStyleCnt="0"/>
      <dgm:spPr/>
    </dgm:pt>
    <dgm:pt modelId="{5D9704F8-5A95-419F-B794-1E2F82666BDB}" type="pres">
      <dgm:prSet presAssocID="{BD5427FF-4EB1-4006-BF7F-42158E0C5129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C0A6D3D8-DBC2-45B6-8DEF-789A72552BB4}" type="pres">
      <dgm:prSet presAssocID="{BD5427FF-4EB1-4006-BF7F-42158E0C5129}" presName="desTx" presStyleLbl="alignAccFollowNode1" presStyleIdx="0" presStyleCnt="2">
        <dgm:presLayoutVars>
          <dgm:bulletEnabled val="1"/>
        </dgm:presLayoutVars>
      </dgm:prSet>
      <dgm:spPr/>
    </dgm:pt>
    <dgm:pt modelId="{C4F6D2AE-A2A5-43DC-B705-8E8ECE0E1613}" type="pres">
      <dgm:prSet presAssocID="{D47F9812-1256-4E44-A6BE-BEC559BE8FF3}" presName="space" presStyleCnt="0"/>
      <dgm:spPr/>
    </dgm:pt>
    <dgm:pt modelId="{C1832C44-4F6B-4ABA-88DC-7D5A80779E4B}" type="pres">
      <dgm:prSet presAssocID="{FE969E54-0D5D-4815-BDC4-3309E2F7325D}" presName="composite" presStyleCnt="0"/>
      <dgm:spPr/>
    </dgm:pt>
    <dgm:pt modelId="{3E0BA246-3456-471B-AD87-1436FD251DD8}" type="pres">
      <dgm:prSet presAssocID="{FE969E54-0D5D-4815-BDC4-3309E2F7325D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33CF15AD-8A19-4E9A-9BED-239A79CAF737}" type="pres">
      <dgm:prSet presAssocID="{FE969E54-0D5D-4815-BDC4-3309E2F7325D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B388399E-0520-4464-8C87-DA42790AB011}" srcId="{468FBB7B-694A-47BF-865D-2F44C1051453}" destId="{BD5427FF-4EB1-4006-BF7F-42158E0C5129}" srcOrd="0" destOrd="0" parTransId="{A2F6D805-3B53-408A-A2A3-20BC3BF0D242}" sibTransId="{D47F9812-1256-4E44-A6BE-BEC559BE8FF3}"/>
    <dgm:cxn modelId="{4255DC23-8E53-4EEF-934C-24D6C994F5A8}" srcId="{BD5427FF-4EB1-4006-BF7F-42158E0C5129}" destId="{3A7B819B-DBE9-4610-B22A-5573EA6D532D}" srcOrd="0" destOrd="0" parTransId="{DC4BEA23-BF6E-42AD-9BF0-CFBDE86A80F1}" sibTransId="{0BF6ACD3-AE1A-4691-8CBE-DBE77AB8A685}"/>
    <dgm:cxn modelId="{0910F681-2DEF-4B32-85F6-AC0216A099EB}" srcId="{BD5427FF-4EB1-4006-BF7F-42158E0C5129}" destId="{C93C45F0-4C8C-43D9-A785-DB6B65DCBFBC}" srcOrd="1" destOrd="0" parTransId="{955B3196-74BB-42A3-9F2E-5F44CEE7A6DB}" sibTransId="{C877797C-C9A9-44B4-9A03-86FAF0C56F55}"/>
    <dgm:cxn modelId="{DD1CBB2F-3597-498F-814E-B5E0D319D761}" srcId="{BD5427FF-4EB1-4006-BF7F-42158E0C5129}" destId="{01E823FD-CE9A-48B3-A596-167C665D03D7}" srcOrd="2" destOrd="0" parTransId="{D647510C-DCD5-4880-8162-1321C059322C}" sibTransId="{4DECF897-5A1F-4560-9562-45E18199F131}"/>
    <dgm:cxn modelId="{549E804B-410A-4F40-BBEB-FA784362FE93}" srcId="{468FBB7B-694A-47BF-865D-2F44C1051453}" destId="{FE969E54-0D5D-4815-BDC4-3309E2F7325D}" srcOrd="1" destOrd="0" parTransId="{B5D9FB86-EEBE-488F-B7DE-B7CF5C9166C5}" sibTransId="{D7D19B67-C01A-45D3-B5C7-B7E1B18A9F62}"/>
    <dgm:cxn modelId="{E61ABA29-4BB0-401D-AF41-C16B945D0ABD}" srcId="{FE969E54-0D5D-4815-BDC4-3309E2F7325D}" destId="{35600F67-42C2-4D1B-B072-DC2A36FCB136}" srcOrd="0" destOrd="1" parTransId="{B4BC79E1-FDBA-43D1-A988-1BE8090EDA7A}" sibTransId="{AD46A0AA-C45A-46D2-89AF-28390F99F9D0}"/>
    <dgm:cxn modelId="{C85910E5-10A8-4140-AA1B-DDB60ECFBA61}" srcId="{FE969E54-0D5D-4815-BDC4-3309E2F7325D}" destId="{93B070B9-DFC1-4806-8E3D-930FC98F88DD}" srcOrd="1" destOrd="1" parTransId="{4AB60690-1051-4F1B-BBB6-56A51F58A9EE}" sibTransId="{B943DC9E-CACD-4959-A9D6-1D0173AA3AED}"/>
    <dgm:cxn modelId="{715EA871-5FE0-400E-B7C1-765A0D4B35B0}" srcId="{FE969E54-0D5D-4815-BDC4-3309E2F7325D}" destId="{AF265AD3-D9EB-448D-A6CA-62D4F2D1F899}" srcOrd="2" destOrd="1" parTransId="{FCA4E51C-6702-481A-85F2-70EEC8119AE1}" sibTransId="{A963B2DE-4BD2-436F-9987-2817EB5496F3}"/>
    <dgm:cxn modelId="{F6A54281-24C3-401D-BF5A-5AFE0E9A9CF9}" type="presOf" srcId="{468FBB7B-694A-47BF-865D-2F44C1051453}" destId="{D5FB6A06-3991-4223-AD64-C4F7F6F4DF69}" srcOrd="0" destOrd="0" presId="urn:microsoft.com/office/officeart/2005/8/layout/hList1"/>
    <dgm:cxn modelId="{F6B74F6D-B888-410E-90DB-50E3693BA6B2}" type="presParOf" srcId="{D5FB6A06-3991-4223-AD64-C4F7F6F4DF69}" destId="{5EB24CCF-928A-4018-A934-89F31F564A83}" srcOrd="0" destOrd="0" presId="urn:microsoft.com/office/officeart/2005/8/layout/hList1"/>
    <dgm:cxn modelId="{DC2ACA21-2272-4B30-8ADA-332C91980397}" type="presParOf" srcId="{5EB24CCF-928A-4018-A934-89F31F564A83}" destId="{5D9704F8-5A95-419F-B794-1E2F82666BDB}" srcOrd="0" destOrd="0" presId="urn:microsoft.com/office/officeart/2005/8/layout/hList1"/>
    <dgm:cxn modelId="{467C26F2-E839-4DF5-A9AC-FCF4B6948330}" type="presOf" srcId="{BD5427FF-4EB1-4006-BF7F-42158E0C5129}" destId="{5D9704F8-5A95-419F-B794-1E2F82666BDB}" srcOrd="0" destOrd="0" presId="urn:microsoft.com/office/officeart/2005/8/layout/hList1"/>
    <dgm:cxn modelId="{FC792F60-6616-4D1F-B9DA-8A2C8A771C96}" type="presParOf" srcId="{5EB24CCF-928A-4018-A934-89F31F564A83}" destId="{C0A6D3D8-DBC2-45B6-8DEF-789A72552BB4}" srcOrd="1" destOrd="0" presId="urn:microsoft.com/office/officeart/2005/8/layout/hList1"/>
    <dgm:cxn modelId="{5C12DEC0-A8C3-45B8-8952-D239175C44F8}" type="presOf" srcId="{3A7B819B-DBE9-4610-B22A-5573EA6D532D}" destId="{C0A6D3D8-DBC2-45B6-8DEF-789A72552BB4}" srcOrd="0" destOrd="0" presId="urn:microsoft.com/office/officeart/2005/8/layout/hList1"/>
    <dgm:cxn modelId="{FE5752E6-3C30-44CE-944E-BA30C949D9DC}" type="presOf" srcId="{C93C45F0-4C8C-43D9-A785-DB6B65DCBFBC}" destId="{C0A6D3D8-DBC2-45B6-8DEF-789A72552BB4}" srcOrd="0" destOrd="1" presId="urn:microsoft.com/office/officeart/2005/8/layout/hList1"/>
    <dgm:cxn modelId="{28E14A72-5515-47E2-B216-3A8AF47E9962}" type="presOf" srcId="{01E823FD-CE9A-48B3-A596-167C665D03D7}" destId="{C0A6D3D8-DBC2-45B6-8DEF-789A72552BB4}" srcOrd="0" destOrd="2" presId="urn:microsoft.com/office/officeart/2005/8/layout/hList1"/>
    <dgm:cxn modelId="{BE41B782-BD7F-4038-A8E6-A1825FBD147F}" type="presParOf" srcId="{D5FB6A06-3991-4223-AD64-C4F7F6F4DF69}" destId="{C4F6D2AE-A2A5-43DC-B705-8E8ECE0E1613}" srcOrd="1" destOrd="0" presId="urn:microsoft.com/office/officeart/2005/8/layout/hList1"/>
    <dgm:cxn modelId="{FE766D5A-C011-4F18-BB78-D936CCFDC825}" type="presParOf" srcId="{D5FB6A06-3991-4223-AD64-C4F7F6F4DF69}" destId="{C1832C44-4F6B-4ABA-88DC-7D5A80779E4B}" srcOrd="2" destOrd="0" presId="urn:microsoft.com/office/officeart/2005/8/layout/hList1"/>
    <dgm:cxn modelId="{69A693CF-629B-4D6E-A856-D7768CA001B5}" type="presParOf" srcId="{C1832C44-4F6B-4ABA-88DC-7D5A80779E4B}" destId="{3E0BA246-3456-471B-AD87-1436FD251DD8}" srcOrd="0" destOrd="2" presId="urn:microsoft.com/office/officeart/2005/8/layout/hList1"/>
    <dgm:cxn modelId="{EACFEBC3-DEC0-40B2-AB97-B17C5237FCFA}" type="presOf" srcId="{FE969E54-0D5D-4815-BDC4-3309E2F7325D}" destId="{3E0BA246-3456-471B-AD87-1436FD251DD8}" srcOrd="0" destOrd="0" presId="urn:microsoft.com/office/officeart/2005/8/layout/hList1"/>
    <dgm:cxn modelId="{5965CA09-1B92-4F10-BC55-54E5D55555DE}" type="presParOf" srcId="{C1832C44-4F6B-4ABA-88DC-7D5A80779E4B}" destId="{33CF15AD-8A19-4E9A-9BED-239A79CAF737}" srcOrd="1" destOrd="2" presId="urn:microsoft.com/office/officeart/2005/8/layout/hList1"/>
    <dgm:cxn modelId="{73237A0C-0483-4059-B1C6-3222875F54B2}" type="presOf" srcId="{35600F67-42C2-4D1B-B072-DC2A36FCB136}" destId="{33CF15AD-8A19-4E9A-9BED-239A79CAF737}" srcOrd="0" destOrd="0" presId="urn:microsoft.com/office/officeart/2005/8/layout/hList1"/>
    <dgm:cxn modelId="{4DF8EF05-A995-43DD-A841-D2A92D5433EF}" type="presOf" srcId="{93B070B9-DFC1-4806-8E3D-930FC98F88DD}" destId="{33CF15AD-8A19-4E9A-9BED-239A79CAF737}" srcOrd="0" destOrd="1" presId="urn:microsoft.com/office/officeart/2005/8/layout/hList1"/>
    <dgm:cxn modelId="{3559DC37-4A9F-4F16-AE18-B51951E2C600}" type="presOf" srcId="{AF265AD3-D9EB-448D-A6CA-62D4F2D1F899}" destId="{33CF15AD-8A19-4E9A-9BED-239A79CAF737}" srcOrd="0" destOrd="2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组合 1"/>
      <dsp:cNvGrpSpPr/>
    </dsp:nvGrpSpPr>
    <dsp:grpSpPr>
      <a:xfrm>
        <a:off x="0" y="0"/>
        <a:ext cx="8742045" cy="1510665"/>
        <a:chOff x="0" y="0"/>
        <a:chExt cx="8742045" cy="1510665"/>
      </a:xfrm>
    </dsp:grpSpPr>
    <dsp:sp modelId="{5D9704F8-5A95-419F-B794-1E2F82666BDB}">
      <dsp:nvSpPr>
        <dsp:cNvPr id="3" name="矩形 2"/>
        <dsp:cNvSpPr/>
      </dsp:nvSpPr>
      <dsp:spPr bwMode="white">
        <a:xfrm>
          <a:off x="0" y="0"/>
          <a:ext cx="4085068" cy="549914"/>
        </a:xfrm>
        <a:prstGeom prst="rect">
          <a:avLst/>
        </a:prstGeom>
      </dsp:spPr>
      <dsp:style>
        <a:lnRef idx="1">
          <a:schemeClr val="accent5">
            <a:shade val="80000"/>
          </a:schemeClr>
        </a:lnRef>
        <a:fillRef idx="3">
          <a:schemeClr val="lt1"/>
        </a:fillRef>
        <a:effectRef idx="3">
          <a:scrgbClr r="0" g="0" b="0"/>
        </a:effectRef>
        <a:fontRef idx="minor">
          <a:schemeClr val="lt1"/>
        </a:fontRef>
      </dsp:style>
      <dsp:txBody>
        <a:bodyPr vert="horz" wrap="square" lIns="113792" tIns="65024" rIns="113792" bIns="65024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1600" b="1">
              <a:solidFill>
                <a:schemeClr val="dk1"/>
              </a:solidFill>
            </a:rPr>
            <a:t>Advantages of Frozen Language Model</a:t>
          </a:r>
          <a:endParaRPr lang="en-US" altLang="zh-CN" sz="1600" b="1">
            <a:solidFill>
              <a:schemeClr val="dk1"/>
            </a:solidFill>
          </a:endParaRPr>
        </a:p>
      </dsp:txBody>
      <dsp:txXfrm>
        <a:off x="0" y="0"/>
        <a:ext cx="4085068" cy="549914"/>
      </dsp:txXfrm>
    </dsp:sp>
    <dsp:sp modelId="{C0A6D3D8-DBC2-45B6-8DEF-789A72552BB4}">
      <dsp:nvSpPr>
        <dsp:cNvPr id="4" name="矩形 3"/>
        <dsp:cNvSpPr/>
      </dsp:nvSpPr>
      <dsp:spPr bwMode="white">
        <a:xfrm>
          <a:off x="0" y="549914"/>
          <a:ext cx="4085068" cy="960751"/>
        </a:xfrm>
        <a:prstGeom prst="rect">
          <a:avLst/>
        </a:prstGeom>
      </dsp:spPr>
      <dsp:style>
        <a:lnRef idx="1">
          <a:schemeClr val="accent5">
            <a:alpha val="90000"/>
          </a:schemeClr>
        </a:lnRef>
        <a:fillRef idx="1">
          <a:schemeClr val="lt1">
            <a:alpha val="90000"/>
            <a:tint val="40000"/>
          </a:schemeClr>
        </a:fillRef>
        <a:effectRef idx="2">
          <a:scrgbClr r="0" g="0" b="0"/>
        </a:effectRef>
        <a:fontRef idx="minor"/>
      </dsp:style>
      <dsp:txBody>
        <a:bodyPr vert="horz" wrap="square" lIns="85344" tIns="85344" rIns="113792" bIns="128016" anchor="t"/>
        <a:lstStyle>
          <a:lvl1pPr algn="l">
            <a:defRPr sz="6500"/>
          </a:lvl1pPr>
          <a:lvl2pPr marL="285750" indent="-285750" algn="l">
            <a:defRPr sz="6500"/>
          </a:lvl2pPr>
          <a:lvl3pPr marL="571500" indent="-285750" algn="l">
            <a:defRPr sz="6500"/>
          </a:lvl3pPr>
          <a:lvl4pPr marL="857250" indent="-285750" algn="l">
            <a:defRPr sz="6500"/>
          </a:lvl4pPr>
          <a:lvl5pPr marL="1143000" indent="-285750" algn="l">
            <a:defRPr sz="6500"/>
          </a:lvl5pPr>
          <a:lvl6pPr marL="1428750" indent="-285750" algn="l">
            <a:defRPr sz="6500"/>
          </a:lvl6pPr>
          <a:lvl7pPr marL="1714500" indent="-285750" algn="l">
            <a:defRPr sz="6500"/>
          </a:lvl7pPr>
          <a:lvl8pPr marL="2000250" indent="-285750" algn="l">
            <a:defRPr sz="6500"/>
          </a:lvl8pPr>
          <a:lvl9pPr marL="2286000" indent="-285750" algn="l">
            <a:defRPr sz="6500"/>
          </a:lvl9pPr>
        </a:lstStyle>
        <a:p>
          <a:pPr marL="171450" lvl="1" indent="-1714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>
              <a:solidFill>
                <a:schemeClr val="dk1"/>
              </a:solidFill>
            </a:rPr>
            <a:t>Output Coherence</a:t>
          </a:r>
          <a:endParaRPr lang="en-US" altLang="zh-CN" sz="1600">
            <a:solidFill>
              <a:schemeClr val="dk1"/>
            </a:solidFill>
          </a:endParaRPr>
        </a:p>
        <a:p>
          <a:pPr marL="171450" lvl="1" indent="-1714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>
              <a:solidFill>
                <a:schemeClr val="dk1"/>
              </a:solidFill>
            </a:rPr>
            <a:t>Term Consistency</a:t>
          </a:r>
          <a:endParaRPr lang="en-US" altLang="zh-CN" sz="1600">
            <a:solidFill>
              <a:schemeClr val="dk1"/>
            </a:solidFill>
          </a:endParaRPr>
        </a:p>
        <a:p>
          <a:pPr marL="171450" lvl="1" indent="-1714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>
              <a:solidFill>
                <a:schemeClr val="dk1"/>
              </a:solidFill>
            </a:rPr>
            <a:t>Risk Control</a:t>
          </a:r>
          <a:endParaRPr lang="en-US" altLang="zh-CN" sz="1600">
            <a:solidFill>
              <a:schemeClr val="dk1"/>
            </a:solidFill>
          </a:endParaRPr>
        </a:p>
      </dsp:txBody>
      <dsp:txXfrm>
        <a:off x="0" y="549914"/>
        <a:ext cx="4085068" cy="960751"/>
      </dsp:txXfrm>
    </dsp:sp>
    <dsp:sp modelId="{3E0BA246-3456-471B-AD87-1436FD251DD8}">
      <dsp:nvSpPr>
        <dsp:cNvPr id="5" name="矩形 4"/>
        <dsp:cNvSpPr/>
      </dsp:nvSpPr>
      <dsp:spPr bwMode="white">
        <a:xfrm>
          <a:off x="4656977" y="0"/>
          <a:ext cx="4085068" cy="549914"/>
        </a:xfrm>
        <a:prstGeom prst="rect">
          <a:avLst/>
        </a:prstGeom>
      </dsp:spPr>
      <dsp:style>
        <a:lnRef idx="1">
          <a:schemeClr val="accent5">
            <a:shade val="80000"/>
          </a:schemeClr>
        </a:lnRef>
        <a:fillRef idx="3">
          <a:schemeClr val="lt1"/>
        </a:fillRef>
        <a:effectRef idx="3">
          <a:scrgbClr r="0" g="0" b="0"/>
        </a:effectRef>
        <a:fontRef idx="minor">
          <a:schemeClr val="lt1"/>
        </a:fontRef>
      </dsp:style>
      <dsp:txBody>
        <a:bodyPr vert="horz" wrap="square" lIns="113792" tIns="65024" rIns="113792" bIns="65024" anchor="ctr"/>
        <a:lstStyle>
          <a:lvl1pPr algn="ctr">
            <a:defRPr sz="6500"/>
          </a:lvl1pPr>
          <a:lvl2pPr marL="285750" indent="-285750" algn="ctr">
            <a:defRPr sz="5000"/>
          </a:lvl2pPr>
          <a:lvl3pPr marL="571500" indent="-285750" algn="ctr">
            <a:defRPr sz="5000"/>
          </a:lvl3pPr>
          <a:lvl4pPr marL="857250" indent="-285750" algn="ctr">
            <a:defRPr sz="5000"/>
          </a:lvl4pPr>
          <a:lvl5pPr marL="1143000" indent="-285750" algn="ctr">
            <a:defRPr sz="5000"/>
          </a:lvl5pPr>
          <a:lvl6pPr marL="1428750" indent="-285750" algn="ctr">
            <a:defRPr sz="5000"/>
          </a:lvl6pPr>
          <a:lvl7pPr marL="1714500" indent="-285750" algn="ctr">
            <a:defRPr sz="5000"/>
          </a:lvl7pPr>
          <a:lvl8pPr marL="2000250" indent="-285750" algn="ctr">
            <a:defRPr sz="5000"/>
          </a:lvl8pPr>
          <a:lvl9pPr marL="2286000" indent="-285750" algn="ctr">
            <a:defRPr sz="50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zh-CN" sz="1600" b="1">
              <a:solidFill>
                <a:schemeClr val="dk1"/>
              </a:solidFill>
            </a:rPr>
            <a:t>Clinical Applicability Assessment</a:t>
          </a:r>
          <a:endParaRPr lang="en-US" altLang="zh-CN" sz="1600" b="1">
            <a:solidFill>
              <a:schemeClr val="dk1"/>
            </a:solidFill>
          </a:endParaRPr>
        </a:p>
      </dsp:txBody>
      <dsp:txXfrm>
        <a:off x="4656977" y="0"/>
        <a:ext cx="4085068" cy="549914"/>
      </dsp:txXfrm>
    </dsp:sp>
    <dsp:sp modelId="{33CF15AD-8A19-4E9A-9BED-239A79CAF737}">
      <dsp:nvSpPr>
        <dsp:cNvPr id="6" name="矩形 5"/>
        <dsp:cNvSpPr/>
      </dsp:nvSpPr>
      <dsp:spPr bwMode="white">
        <a:xfrm>
          <a:off x="4656977" y="549914"/>
          <a:ext cx="4085068" cy="960751"/>
        </a:xfrm>
        <a:prstGeom prst="rect">
          <a:avLst/>
        </a:prstGeom>
      </dsp:spPr>
      <dsp:style>
        <a:lnRef idx="1">
          <a:schemeClr val="accent5">
            <a:alpha val="90000"/>
          </a:schemeClr>
        </a:lnRef>
        <a:fillRef idx="1">
          <a:schemeClr val="lt1">
            <a:alpha val="90000"/>
            <a:tint val="40000"/>
          </a:schemeClr>
        </a:fillRef>
        <a:effectRef idx="2">
          <a:scrgbClr r="0" g="0" b="0"/>
        </a:effectRef>
        <a:fontRef idx="minor"/>
      </dsp:style>
      <dsp:txBody>
        <a:bodyPr vert="horz" wrap="square" lIns="85344" tIns="85344" rIns="113792" bIns="128016" anchor="t"/>
        <a:lstStyle>
          <a:lvl1pPr algn="l">
            <a:defRPr sz="6500"/>
          </a:lvl1pPr>
          <a:lvl2pPr marL="285750" indent="-285750" algn="l">
            <a:defRPr sz="6500"/>
          </a:lvl2pPr>
          <a:lvl3pPr marL="571500" indent="-285750" algn="l">
            <a:defRPr sz="6500"/>
          </a:lvl3pPr>
          <a:lvl4pPr marL="857250" indent="-285750" algn="l">
            <a:defRPr sz="6500"/>
          </a:lvl4pPr>
          <a:lvl5pPr marL="1143000" indent="-285750" algn="l">
            <a:defRPr sz="6500"/>
          </a:lvl5pPr>
          <a:lvl6pPr marL="1428750" indent="-285750" algn="l">
            <a:defRPr sz="6500"/>
          </a:lvl6pPr>
          <a:lvl7pPr marL="1714500" indent="-285750" algn="l">
            <a:defRPr sz="6500"/>
          </a:lvl7pPr>
          <a:lvl8pPr marL="2000250" indent="-285750" algn="l">
            <a:defRPr sz="6500"/>
          </a:lvl8pPr>
          <a:lvl9pPr marL="2286000" indent="-285750" algn="l">
            <a:defRPr sz="6500"/>
          </a:lvl9pPr>
        </a:lstStyle>
        <a:p>
          <a:pPr marL="171450" lvl="1" indent="-1714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>
              <a:solidFill>
                <a:schemeClr val="dk1"/>
              </a:solidFill>
            </a:rPr>
            <a:t>Semantic Correctness Priority</a:t>
          </a:r>
          <a:endParaRPr lang="en-US" altLang="zh-CN" sz="1600">
            <a:solidFill>
              <a:schemeClr val="dk1"/>
            </a:solidFill>
          </a:endParaRPr>
        </a:p>
        <a:p>
          <a:pPr marL="171450" lvl="1" indent="-1714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>
              <a:solidFill>
                <a:schemeClr val="dk1"/>
              </a:solidFill>
            </a:rPr>
            <a:t>Modifier Sensitivity</a:t>
          </a:r>
          <a:endParaRPr lang="en-US" altLang="zh-CN" sz="1600">
            <a:solidFill>
              <a:schemeClr val="dk1"/>
            </a:solidFill>
          </a:endParaRPr>
        </a:p>
        <a:p>
          <a:pPr marL="171450" lvl="1" indent="-1714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1600">
              <a:solidFill>
                <a:schemeClr val="dk1"/>
              </a:solidFill>
            </a:rPr>
            <a:t>Subtype Specificity</a:t>
          </a:r>
          <a:endParaRPr lang="en-US" altLang="zh-CN" sz="1600">
            <a:solidFill>
              <a:schemeClr val="dk1"/>
            </a:solidFill>
          </a:endParaRPr>
        </a:p>
      </dsp:txBody>
      <dsp:txXfrm>
        <a:off x="4656977" y="549914"/>
        <a:ext cx="4085068" cy="9607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altLang="zh-CN" dirty="0" smtClean="0"/>
              <a:t>we </a:t>
            </a:r>
            <a:r>
              <a:rPr lang="en-US" altLang="zh-CN" dirty="0" smtClean="0"/>
              <a:t>will address this topic through the following four aspects, and will </a:t>
            </a:r>
            <a:r>
              <a:rPr lang="en-US" altLang="zh-CN" dirty="0" smtClean="0"/>
              <a:t>discuss several </a:t>
            </a:r>
            <a:r>
              <a:rPr lang="en-US" altLang="zh-CN" dirty="0" smtClean="0"/>
              <a:t>key questions among them.</a:t>
            </a:r>
            <a:endParaRPr lang="en-US" altLang="zh-CN" dirty="0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</a:p>
        </p:txBody>
      </p:sp>
      <p:sp>
        <p:nvSpPr>
          <p:cNvPr id="68" name="Google Shape;6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3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" name="Google Shape;14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Google Shape;15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Google Shape;16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7" name="Google Shape;27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8" name="Google Shape;28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1" name="Google Shape;31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5" name="Google Shape;35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8" name="Google Shape;38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9" name="Google Shape;39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3" name="Google Shape;43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" name="Google Shape;47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0" name="Google Shape;50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53" name="Google Shape;53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4" name="Google Shape;54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5" name="Google Shape;55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" name="Google Shape;56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9" name="Google Shape;59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2" name="Google Shape;62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3" name="Google Shape;63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.xml"/><Relationship Id="rId8" Type="http://schemas.openxmlformats.org/officeDocument/2006/relationships/slideLayout" Target="../slideLayouts/slideLayout9.xml"/><Relationship Id="rId7" Type="http://schemas.openxmlformats.org/officeDocument/2006/relationships/slideLayout" Target="../slideLayouts/slideLayout8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 panose="020F0502020204030204"/>
              <a:buNone/>
              <a:defRPr sz="33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None/>
              <a:defRPr sz="1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3" name="Google Shape;23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604020202020204"/>
              <a:buNone/>
              <a:defRPr sz="10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tags" Target="../tags/tag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.xml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diagramLayout" Target="../diagrams/layout1.xml"/><Relationship Id="rId8" Type="http://schemas.openxmlformats.org/officeDocument/2006/relationships/diagramData" Target="../diagrams/data1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image" Target="../media/image2.png"/><Relationship Id="rId14" Type="http://schemas.openxmlformats.org/officeDocument/2006/relationships/notesSlide" Target="../notesSlides/notesSlide13.xml"/><Relationship Id="rId13" Type="http://schemas.openxmlformats.org/officeDocument/2006/relationships/slideLayout" Target="../slideLayouts/slideLayout1.xml"/><Relationship Id="rId12" Type="http://schemas.microsoft.com/office/2007/relationships/diagramDrawing" Target="../diagrams/drawing1.xml"/><Relationship Id="rId11" Type="http://schemas.openxmlformats.org/officeDocument/2006/relationships/diagramColors" Target="../diagrams/colors1.xml"/><Relationship Id="rId10" Type="http://schemas.openxmlformats.org/officeDocument/2006/relationships/diagramQuickStyle" Target="../diagrams/quickStyle1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表格 2"/>
          <p:cNvGraphicFramePr/>
          <p:nvPr/>
        </p:nvGraphicFramePr>
        <p:xfrm>
          <a:off x="986155" y="3310255"/>
          <a:ext cx="639953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/>
                <a:gridCol w="3199765"/>
              </a:tblGrid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ea typeface="Arial MT"/>
                          <a:sym typeface="+mn-ea"/>
                        </a:rPr>
                        <a:t>Name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Matric Number)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sym typeface="+mn-ea"/>
                        </a:rPr>
                        <a:t>ZOU TING (</a:t>
                      </a: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24201617)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ZHONG JUNPEI(24214748)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Course 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WOA7015 – Advanced Machine Learning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  <a:tr h="381000">
                <a:tc>
                  <a:txBody>
                    <a:bodyPr/>
                    <a:p>
                      <a:pPr marL="66675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 MT"/>
                        </a:rPr>
                        <a:t>Lecturer Name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 MT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  <a:tc>
                  <a:txBody>
                    <a:bodyPr/>
                    <a:p>
                      <a:pPr marL="0" indent="0" algn="r">
                        <a:lnSpc>
                          <a:spcPct val="18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 b="1">
                          <a:solidFill>
                            <a:schemeClr val="tx1"/>
                          </a:solidFill>
                          <a:latin typeface="Arial" panose="020B0604020202020204"/>
                          <a:ea typeface="Arial" panose="020B0604020202020204"/>
                        </a:rPr>
                        <a:t>Dr. SAW SHIER NEE (OCC1)</a:t>
                      </a:r>
                      <a:endParaRPr lang="en-US" altLang="zh-CN" sz="1200" b="1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0" marR="0" marT="0" marB="0" anchor="t" anchorCtr="0">
                    <a:noFill/>
                  </a:tcPr>
                </a:tc>
              </a:tr>
            </a:tbl>
          </a:graphicData>
        </a:graphic>
      </p:graphicFrame>
      <p:sp>
        <p:nvSpPr>
          <p:cNvPr id="7" name="Google Shape;71;p1"/>
          <p:cNvSpPr txBox="1"/>
          <p:nvPr/>
        </p:nvSpPr>
        <p:spPr>
          <a:xfrm>
            <a:off x="986118" y="306189"/>
            <a:ext cx="7540500" cy="21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FFFFFF"/>
              </a:buClr>
              <a:buSzPts val="3600"/>
            </a:pPr>
            <a:r>
              <a:rPr lang="en-US" altLang="zh-CN" sz="2800" b="1" i="0" u="none" strike="noStrike" cap="none" dirty="0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A Comparative Study of CNN Baseline Classifier and LLM-Based Model for Medical Visual Question Answersing</a:t>
            </a:r>
            <a:endParaRPr lang="en-US" altLang="zh-CN" sz="2800" b="1" i="0" u="none" strike="noStrike" cap="none" dirty="0">
              <a:solidFill>
                <a:schemeClr val="bg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Introduction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pic>
        <p:nvPicPr>
          <p:cNvPr id="4" name="图片 3"/>
          <p:cNvPicPr/>
          <p:nvPr/>
        </p:nvPicPr>
        <p:blipFill>
          <a:blip r:embed="rId2"/>
          <a:stretch>
            <a:fillRect/>
          </a:stretch>
        </p:blipFill>
        <p:spPr>
          <a:xfrm>
            <a:off x="245428" y="945198"/>
            <a:ext cx="8486775" cy="132397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34060" y="2517140"/>
            <a:ext cx="7270115" cy="608330"/>
          </a:xfrm>
          <a:prstGeom prst="rect">
            <a:avLst/>
          </a:prstGeom>
        </p:spPr>
        <p:txBody>
          <a:bodyPr>
            <a:no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Demands for </a:t>
            </a:r>
            <a:r>
              <a:rPr lang="en-US" altLang="zh-CN" sz="2400" b="1" i="0">
                <a:solidFill>
                  <a:srgbClr val="2E3033"/>
                </a:solidFill>
                <a:latin typeface="Arial" panose="020B0604020202020204"/>
                <a:ea typeface="Arial" panose="020B0604020202020204"/>
              </a:rPr>
              <a:t>"understanding medical images"</a:t>
            </a:r>
            <a:endParaRPr lang="en-US" altLang="zh-CN" sz="2400" b="1" i="0">
              <a:solidFill>
                <a:srgbClr val="2E3033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下箭头 5"/>
          <p:cNvSpPr/>
          <p:nvPr/>
        </p:nvSpPr>
        <p:spPr>
          <a:xfrm>
            <a:off x="3869690" y="3077210"/>
            <a:ext cx="702310" cy="52387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65125" y="3791585"/>
            <a:ext cx="8438515" cy="95313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how to evaluate the performance</a:t>
            </a:r>
            <a:r>
              <a:rPr lang="en-US" altLang="zh-CN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of closed-ended and open-ended questions</a:t>
            </a:r>
            <a:r>
              <a:rPr lang="zh-CN" altLang="en-US" sz="28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？</a:t>
            </a:r>
            <a:endParaRPr lang="zh-CN" altLang="en-US" sz="28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RQs/ROs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365125" y="1066165"/>
            <a:ext cx="3915410" cy="18072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Which model</a:t>
            </a:r>
            <a:r>
              <a:rPr lang="en-US" altLang="zh-CN" sz="1800">
                <a:solidFill>
                  <a:schemeClr val="tx1"/>
                </a:solidFill>
              </a:rPr>
              <a:t>, baseline or VLM,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performs better</a:t>
            </a:r>
            <a:r>
              <a:rPr lang="en-US" altLang="zh-CN" sz="1800">
                <a:solidFill>
                  <a:schemeClr val="tx1"/>
                </a:solidFill>
              </a:rPr>
              <a:t> in answering closed-ended questions about radiology images? How big is the gap between the two models?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364490" y="3096895"/>
            <a:ext cx="3916045" cy="184023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How is the expression quality of large visual language models(VLM) in medical </a:t>
            </a:r>
            <a:r>
              <a:rPr lang="en-US" altLang="zh-CN" sz="1800" b="1">
                <a:solidFill>
                  <a:schemeClr val="tx1"/>
                </a:solidFill>
                <a:highlight>
                  <a:srgbClr val="FFFF00"/>
                </a:highlight>
              </a:rPr>
              <a:t>open-ended question answering?</a:t>
            </a:r>
            <a:r>
              <a:rPr lang="en-US" altLang="zh-CN" sz="1800">
                <a:solidFill>
                  <a:schemeClr val="tx1"/>
                </a:solidFill>
              </a:rPr>
              <a:t> What is the risk that the content it generates may cause hallucinations?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4674870" y="1028700"/>
            <a:ext cx="4119245" cy="198945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800">
                <a:solidFill>
                  <a:schemeClr val="tx1"/>
                </a:solidFill>
              </a:rPr>
              <a:t>Construct a unified evaluation framework, calculate closed classification indicators </a:t>
            </a:r>
            <a:r>
              <a:rPr lang="en-US" altLang="zh-CN" sz="1800" b="1">
                <a:solidFill>
                  <a:schemeClr val="tx1"/>
                </a:solidFill>
              </a:rPr>
              <a:t>(Overall Acc, Macro-F1), calculate the gap</a:t>
            </a:r>
            <a:r>
              <a:rPr lang="en-US" altLang="zh-CN" sz="1800">
                <a:solidFill>
                  <a:schemeClr val="tx1"/>
                </a:solidFill>
              </a:rPr>
              <a:t>, and evaluate and output the classification results under the two routes respectively.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4616450" y="3096895"/>
            <a:ext cx="4177665" cy="191643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Use </a:t>
            </a:r>
            <a:r>
              <a:rPr lang="en-US" altLang="zh-CN" b="1">
                <a:solidFill>
                  <a:schemeClr val="tx1"/>
                </a:solidFill>
              </a:rPr>
              <a:t>language similarity metrics (BLEU, ROUGE-L, METEOR</a:t>
            </a:r>
            <a:r>
              <a:rPr lang="en-US" altLang="zh-CN">
                <a:solidFill>
                  <a:schemeClr val="tx1"/>
                </a:solidFill>
              </a:rPr>
              <a:t>, etc.) and human assistance to evaluate the expression quality of open-ended questions. Conduct sensitivity analysis on repetitive questions, systematically quantify the expression quality and illusion risk of answers generated by vlm, and formulate specific operation guidelines to reduce risks.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80530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RQs</a:t>
            </a:r>
            <a:endParaRPr lang="en-US" altLang="zh-CN" sz="1800" b="1"/>
          </a:p>
        </p:txBody>
      </p:sp>
      <p:sp>
        <p:nvSpPr>
          <p:cNvPr id="14" name="文本框 13"/>
          <p:cNvSpPr txBox="1"/>
          <p:nvPr/>
        </p:nvSpPr>
        <p:spPr>
          <a:xfrm>
            <a:off x="6329045" y="697865"/>
            <a:ext cx="8096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ROs</a:t>
            </a:r>
            <a:endParaRPr lang="en-US" altLang="zh-CN" sz="1800" b="1"/>
          </a:p>
        </p:txBody>
      </p:sp>
      <p:sp>
        <p:nvSpPr>
          <p:cNvPr id="15" name="右箭头 14"/>
          <p:cNvSpPr/>
          <p:nvPr/>
        </p:nvSpPr>
        <p:spPr>
          <a:xfrm>
            <a:off x="4202430" y="1722120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4202430" y="3646805"/>
            <a:ext cx="583565" cy="428625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下弧形箭头 17"/>
          <p:cNvSpPr/>
          <p:nvPr/>
        </p:nvSpPr>
        <p:spPr>
          <a:xfrm rot="5400000">
            <a:off x="3100705" y="2851785"/>
            <a:ext cx="2065020" cy="671830"/>
          </a:xfrm>
          <a:prstGeom prst="curvedUpArrow">
            <a:avLst>
              <a:gd name="adj1" fmla="val 25000"/>
              <a:gd name="adj2" fmla="val 68862"/>
              <a:gd name="adj3" fmla="val 45085"/>
            </a:avLst>
          </a:prstGeom>
        </p:spPr>
        <p:style>
          <a:lnRef idx="0">
            <a:srgbClr val="FFFFFF"/>
          </a:lnRef>
          <a:fillRef idx="1">
            <a:schemeClr val="accent6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187190" y="3216275"/>
            <a:ext cx="4770120" cy="1383665"/>
          </a:xfrm>
          <a:prstGeom prst="rect">
            <a:avLst/>
          </a:prstGeom>
        </p:spPr>
        <p:txBody>
          <a:bodyPr wrap="square">
            <a:spAutoFit/>
          </a:bodyPr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Vocabulary construction</a:t>
            </a:r>
            <a:endParaRPr lang="en-US" altLang="zh-CN" sz="2800">
              <a:latin typeface="Arial Unicode MS" panose="020B0604020202020204" charset="-122"/>
              <a:ea typeface="Arial Unicode MS" panose="020B0604020202020204" charset="-122"/>
            </a:endParaRPr>
          </a:p>
          <a:p>
            <a:pPr marL="457200" indent="-457200" defTabSz="2667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>
                <a:latin typeface="Arial Unicode MS" panose="020B0604020202020204" charset="-122"/>
                <a:ea typeface="Arial Unicode MS" panose="020B0604020202020204" charset="-122"/>
              </a:rPr>
              <a:t>Answer mapping </a:t>
            </a:r>
            <a:endParaRPr lang="en-US" altLang="zh-CN" sz="2800">
              <a:latin typeface="Arial Unicode MS" panose="020B0604020202020204" charset="-122"/>
              <a:ea typeface="Arial Unicode MS" panose="020B0604020202020204" charset="-122"/>
            </a:endParaRPr>
          </a:p>
        </p:txBody>
      </p:sp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2" name="图片 1" descr="报告用图-第 2 页.drawio"/>
          <p:cNvPicPr>
            <a:picLocks noChangeAspect="1"/>
          </p:cNvPicPr>
          <p:nvPr/>
        </p:nvPicPr>
        <p:blipFill>
          <a:blip r:embed="rId2"/>
          <a:srcRect l="8260"/>
          <a:stretch>
            <a:fillRect/>
          </a:stretch>
        </p:blipFill>
        <p:spPr>
          <a:xfrm>
            <a:off x="107315" y="847090"/>
            <a:ext cx="3568700" cy="4147185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269740" y="1668145"/>
            <a:ext cx="1272540" cy="1271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3600" b="1">
                <a:solidFill>
                  <a:schemeClr val="tx1"/>
                </a:solidFill>
              </a:rPr>
              <a:t>70%</a:t>
            </a:r>
            <a:endParaRPr lang="en-US" altLang="zh-CN" sz="3600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5851525" y="1668145"/>
            <a:ext cx="1261110" cy="1271905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  <a:endParaRPr lang="en-US" altLang="zh-CN" sz="3200" b="1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7421880" y="1668145"/>
            <a:ext cx="1261110" cy="127190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3200" b="1">
                <a:solidFill>
                  <a:schemeClr val="tx1"/>
                </a:solidFill>
              </a:rPr>
              <a:t>15%</a:t>
            </a:r>
            <a:endParaRPr lang="en-US" altLang="zh-CN" sz="3200" b="1">
              <a:solidFill>
                <a:schemeClr val="tx1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06290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train</a:t>
            </a:r>
            <a:endParaRPr lang="en-US" altLang="zh-CN" sz="1800"/>
          </a:p>
        </p:txBody>
      </p:sp>
      <p:sp>
        <p:nvSpPr>
          <p:cNvPr id="8" name="文本框 7"/>
          <p:cNvSpPr txBox="1"/>
          <p:nvPr/>
        </p:nvSpPr>
        <p:spPr>
          <a:xfrm>
            <a:off x="5951855" y="1299845"/>
            <a:ext cx="10598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validate</a:t>
            </a:r>
            <a:endParaRPr lang="en-US" altLang="zh-CN" sz="1800"/>
          </a:p>
        </p:txBody>
      </p:sp>
      <p:sp>
        <p:nvSpPr>
          <p:cNvPr id="17" name="文本框 16"/>
          <p:cNvSpPr txBox="1"/>
          <p:nvPr/>
        </p:nvSpPr>
        <p:spPr>
          <a:xfrm>
            <a:off x="7682865" y="1299845"/>
            <a:ext cx="7391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test</a:t>
            </a:r>
            <a:endParaRPr lang="en-US" altLang="zh-CN" sz="1800"/>
          </a:p>
        </p:txBody>
      </p:sp>
      <p:sp>
        <p:nvSpPr>
          <p:cNvPr id="23" name="文本框 22"/>
          <p:cNvSpPr txBox="1"/>
          <p:nvPr/>
        </p:nvSpPr>
        <p:spPr>
          <a:xfrm>
            <a:off x="4957445" y="883920"/>
            <a:ext cx="3048000" cy="306705"/>
          </a:xfrm>
          <a:prstGeom prst="rect">
            <a:avLst/>
          </a:prstGeom>
          <a:solidFill>
            <a:srgbClr val="D5E8D4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A. Data Preprocessing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85470" y="810260"/>
            <a:ext cx="3450590" cy="306705"/>
          </a:xfrm>
          <a:prstGeom prst="rect">
            <a:avLst/>
          </a:prstGeom>
          <a:solidFill>
            <a:srgbClr val="E1D5E7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B. Data Transformation and Loading</a:t>
            </a:r>
            <a:endParaRPr lang="en-US" altLang="zh-CN" b="1"/>
          </a:p>
        </p:txBody>
      </p:sp>
      <p:sp>
        <p:nvSpPr>
          <p:cNvPr id="11" name="文本框 10"/>
          <p:cNvSpPr txBox="1"/>
          <p:nvPr/>
        </p:nvSpPr>
        <p:spPr>
          <a:xfrm>
            <a:off x="775970" y="2895600"/>
            <a:ext cx="2247900" cy="33718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Arial Unicode MS" panose="020B0604020202020204" charset="-122"/>
                <a:cs typeface="Arial" panose="020B0604020202020204" pitchFamily="34" charset="0"/>
                <a:sym typeface="+mn-ea"/>
              </a:rPr>
              <a:t>2. Text serialization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893445" y="1383030"/>
            <a:ext cx="2575560" cy="1445260"/>
            <a:chOff x="700" y="2492"/>
            <a:chExt cx="4056" cy="2276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0" y="2492"/>
              <a:ext cx="4056" cy="2277"/>
            </a:xfrm>
            <a:prstGeom prst="rect">
              <a:avLst/>
            </a:prstGeom>
          </p:spPr>
        </p:pic>
        <p:pic>
          <p:nvPicPr>
            <p:cNvPr id="12" name="图片 1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9" y="4145"/>
              <a:ext cx="1067" cy="288"/>
            </a:xfrm>
            <a:prstGeom prst="rect">
              <a:avLst/>
            </a:prstGeom>
          </p:spPr>
        </p:pic>
      </p:grpSp>
      <p:sp>
        <p:nvSpPr>
          <p:cNvPr id="13" name="流程图: 预定义过程 12"/>
          <p:cNvSpPr/>
          <p:nvPr/>
        </p:nvSpPr>
        <p:spPr>
          <a:xfrm>
            <a:off x="775970" y="3290570"/>
            <a:ext cx="2810510" cy="471805"/>
          </a:xfrm>
          <a:prstGeom prst="flowChartPredefinedProcess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rgbClr val="D5E8D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>
                <a:solidFill>
                  <a:schemeClr val="tx1"/>
                </a:solidFill>
              </a:rPr>
              <a:t>max_seq_len=25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775970" y="3820160"/>
            <a:ext cx="1647825" cy="33718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Arial Unicode MS" panose="020B0604020202020204" charset="-122"/>
                <a:ea typeface="Arial Unicode MS" panose="020B0604020202020204" charset="-122"/>
                <a:sym typeface="+mn-ea"/>
              </a:rPr>
              <a:t>3. DataLoader 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865370" y="800100"/>
            <a:ext cx="3935095" cy="306705"/>
          </a:xfrm>
          <a:prstGeom prst="rect">
            <a:avLst/>
          </a:prstGeom>
          <a:solidFill>
            <a:srgbClr val="DAE8FC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C. Model Building(MedVQA_ResNet_LSTM)</a:t>
            </a:r>
            <a:endParaRPr lang="en-US" altLang="zh-CN" b="1"/>
          </a:p>
        </p:txBody>
      </p:sp>
      <p:sp>
        <p:nvSpPr>
          <p:cNvPr id="10" name="文本框 9"/>
          <p:cNvSpPr txBox="1"/>
          <p:nvPr/>
        </p:nvSpPr>
        <p:spPr>
          <a:xfrm>
            <a:off x="775970" y="115157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16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Image transformations</a:t>
            </a:r>
            <a:endParaRPr lang="en-US" altLang="zh-CN" sz="16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70" y="4157345"/>
            <a:ext cx="828675" cy="762000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1604645" y="4224020"/>
            <a:ext cx="2431415" cy="583565"/>
          </a:xfrm>
          <a:prstGeom prst="rect">
            <a:avLst/>
          </a:prstGeom>
        </p:spPr>
        <p:txBody>
          <a:bodyPr wrap="square">
            <a:spAutoFit/>
          </a:bodyPr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batch = 32</a:t>
            </a:r>
            <a:endParaRPr lang="en-US" altLang="zh-CN" sz="1600">
              <a:latin typeface="Times New Roman" panose="02020603050405020304"/>
              <a:ea typeface="Times New Roman" panose="02020603050405020304"/>
            </a:endParaRPr>
          </a:p>
          <a:p>
            <a:pPr defTabSz="266700"/>
            <a:r>
              <a:rPr lang="en-US" altLang="zh-CN" sz="1600">
                <a:latin typeface="Times New Roman" panose="02020603050405020304"/>
                <a:ea typeface="Times New Roman" panose="02020603050405020304"/>
              </a:rPr>
              <a:t>processes = 2(GPU)</a:t>
            </a:r>
            <a:endParaRPr lang="zh-CN" altLang="en-US" sz="1600">
              <a:latin typeface="Times New Roman" panose="02020603050405020304"/>
              <a:ea typeface="宋体" panose="02010600030101010101" pitchFamily="2" charset="-122"/>
            </a:endParaRPr>
          </a:p>
        </p:txBody>
      </p:sp>
      <p:pic>
        <p:nvPicPr>
          <p:cNvPr id="22" name="图片 21" descr="报告用图-第 1 页.drawi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7505" y="1209040"/>
            <a:ext cx="2790825" cy="37052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Methods-baseline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architecture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31520" y="775335"/>
            <a:ext cx="7562215" cy="306705"/>
          </a:xfrm>
          <a:prstGeom prst="rect">
            <a:avLst/>
          </a:prstGeom>
          <a:solidFill>
            <a:srgbClr val="FFE6CC"/>
          </a:solidFill>
        </p:spPr>
        <p:txBody>
          <a:bodyPr wrap="square" rtlCol="0">
            <a:spAutoFit/>
          </a:bodyPr>
          <a:p>
            <a:pPr algn="ctr"/>
            <a:r>
              <a:rPr lang="en-US" altLang="zh-CN" b="1"/>
              <a:t>D. Training Pipeline</a:t>
            </a:r>
            <a:endParaRPr lang="en-US" altLang="zh-CN" b="1"/>
          </a:p>
        </p:txBody>
      </p:sp>
      <p:pic>
        <p:nvPicPr>
          <p:cNvPr id="4" name="图片 4" descr="报告用图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334770"/>
            <a:ext cx="6197600" cy="336296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282575" y="1470343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1. training stage</a:t>
            </a:r>
            <a:endParaRPr lang="en-US" altLang="zh-CN" sz="32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82575" y="2571433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2. validation stage</a:t>
            </a:r>
            <a:endParaRPr lang="en-US" altLang="zh-CN" sz="32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41240" y="1159510"/>
            <a:ext cx="2769870" cy="479425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all batch procceed</a:t>
            </a:r>
            <a:endParaRPr lang="en-US" altLang="zh-CN" sz="24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cxnSp>
        <p:nvCxnSpPr>
          <p:cNvPr id="7" name="直接箭头连接符 6"/>
          <p:cNvCxnSpPr>
            <a:stCxn id="3" idx="3"/>
          </p:cNvCxnSpPr>
          <p:nvPr/>
        </p:nvCxnSpPr>
        <p:spPr>
          <a:xfrm>
            <a:off x="7611110" y="1399540"/>
            <a:ext cx="645160" cy="27876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6212205" y="2150110"/>
            <a:ext cx="139890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altLang="zh-CN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ACC,F1</a:t>
            </a:r>
            <a:endParaRPr lang="zh-CN" alt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6965950" y="2571750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928610" y="2150110"/>
            <a:ext cx="846455" cy="4216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sz="24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LR</a:t>
            </a:r>
            <a:endParaRPr lang="en-US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>
            <a:off x="8293735" y="2584450"/>
            <a:ext cx="191770" cy="245745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282575" y="3827463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defTabSz="266700"/>
            <a:r>
              <a:rPr lang="en-US" altLang="zh-CN" sz="3200">
                <a:latin typeface="Arial" panose="020B0604020202020204" pitchFamily="34" charset="0"/>
                <a:ea typeface="Times New Roman" panose="02020603050405020304"/>
                <a:cs typeface="Arial" panose="020B0604020202020204" pitchFamily="34" charset="0"/>
              </a:rPr>
              <a:t>3. early stop mechanism</a:t>
            </a:r>
            <a:endParaRPr lang="en-US" altLang="zh-CN" sz="3200">
              <a:latin typeface="Arial" panose="020B0604020202020204" pitchFamily="34" charset="0"/>
              <a:ea typeface="Times New Roman" panose="02020603050405020304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053840" y="3274060"/>
            <a:ext cx="2273935" cy="434340"/>
          </a:xfrm>
          <a:prstGeom prst="rect">
            <a:avLst/>
          </a:prstGeom>
          <a:solidFill>
            <a:schemeClr val="tx2">
              <a:lumMod val="90000"/>
            </a:schemeClr>
          </a:solidFill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dk1"/>
          </a:fontRef>
        </p:style>
        <p:txBody>
          <a:bodyPr wrap="square">
            <a:noAutofit/>
          </a:bodyPr>
          <a:p>
            <a:pPr defTabSz="266700"/>
            <a:r>
              <a:rPr lang="en-US" altLang="zh-CN" sz="240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patience check</a:t>
            </a:r>
            <a:endParaRPr lang="en-US" altLang="zh-CN" sz="2400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" name="椭圆 14"/>
          <p:cNvSpPr/>
          <p:nvPr/>
        </p:nvSpPr>
        <p:spPr>
          <a:xfrm>
            <a:off x="6550660" y="3532505"/>
            <a:ext cx="1842770" cy="1105535"/>
          </a:xfrm>
          <a:prstGeom prst="ellipse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6" name="直接箭头连接符 15"/>
          <p:cNvCxnSpPr/>
          <p:nvPr/>
        </p:nvCxnSpPr>
        <p:spPr>
          <a:xfrm>
            <a:off x="6327775" y="3532505"/>
            <a:ext cx="517525" cy="212090"/>
          </a:xfrm>
          <a:prstGeom prst="straightConnector1">
            <a:avLst/>
          </a:prstGeom>
          <a:ln>
            <a:solidFill>
              <a:srgbClr val="FF0000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68275" y="775335"/>
          <a:ext cx="8808085" cy="2428875"/>
        </p:xfrm>
        <a:graphic>
          <a:graphicData uri="http://schemas.openxmlformats.org/drawingml/2006/table">
            <a:tbl>
              <a:tblPr/>
              <a:tblGrid>
                <a:gridCol w="2402205"/>
                <a:gridCol w="1860550"/>
                <a:gridCol w="4545330"/>
              </a:tblGrid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Component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Status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Function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CLIP Image Encoder</a:t>
                      </a:r>
                      <a:endParaRPr lang="en-US" altLang="zh-CN" sz="1600" b="1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Frozen (ViT-B/32)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Extracts 512-dimensional global visual features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Mapping Network</a:t>
                      </a:r>
                      <a:endParaRPr lang="en-US" altLang="zh-CN" sz="1600" b="1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Trainable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Two-layer linear network + ReLU, maps visual features to 10 visual prefix tokens in GPT-2 embedding space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1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GPT-2 Language Model</a:t>
                      </a:r>
                      <a:endParaRPr lang="en-US" altLang="zh-CN" sz="1600" b="1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Frozen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Receives visual prefixes + question embeddings, generates answers autoregressively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168275" y="3281680"/>
            <a:ext cx="8684895" cy="12725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p>
            <a:pPr marL="0" indent="0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000" b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Training Strategy and Data Flow</a:t>
            </a:r>
            <a:endParaRPr lang="en-US" altLang="zh-CN" sz="2000" b="1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6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Image Encoding</a:t>
            </a: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Medical image → CLIP encoder → visual features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6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Feature Mapping</a:t>
            </a: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Visual features → mapping network → visual prefix tokens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6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Fusion and Generation</a:t>
            </a: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: Visual prefixes + question tokens → GPT-2 → generated answer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68275" y="4631690"/>
            <a:ext cx="2637155" cy="39433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Parameter Efficiency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081655" y="4631690"/>
            <a:ext cx="2348230" cy="39433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Loss Calculation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706110" y="4631690"/>
            <a:ext cx="1254760" cy="39433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Objective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237095" y="4631690"/>
            <a:ext cx="163512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Advantages</a:t>
            </a:r>
            <a:endParaRPr lang="en-US" altLang="zh-CN" sz="1800" b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 Methods-Generative Model A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rchitecture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08585" y="697865"/>
            <a:ext cx="8752840" cy="352298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Internal Comparison:</a:t>
            </a:r>
            <a:endParaRPr lang="en-US" altLang="zh-CN" sz="2300" b="1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Performance comparison with baseline model (classifier)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Analysis of performance differences across different question types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lnSpc>
                <a:spcPct val="100000"/>
              </a:lnSpc>
              <a:spcBef>
                <a:spcPts val="2400"/>
              </a:spcBef>
              <a:spcAft>
                <a:spcPts val="1200"/>
              </a:spcAft>
            </a:pPr>
            <a:r>
              <a:rPr lang="en-US" altLang="zh-CN" sz="2300" b="1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External Comparison:</a:t>
            </a:r>
            <a:endParaRPr lang="en-US" altLang="zh-CN" sz="2300" b="1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Comparison with results from Sonsbeek et al. (2023)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600"/>
              </a:spcAft>
              <a:buFont typeface="Arial" panose="020B0604020202020204"/>
              <a:buChar char="•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 Analysis of differences: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Dataset partitioning variations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Hyperparameter settings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457200"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Training strategy adjustments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2300" b="1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Evaluation Principles:</a:t>
            </a:r>
            <a:endParaRPr lang="zh-CN" altLang="en-US" sz="2300" b="1" i="0">
              <a:solidFill>
                <a:srgbClr val="0F1115"/>
              </a:solidFill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97865" y="4220845"/>
            <a:ext cx="3148965" cy="39433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Task Adaptability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4803775" y="4220845"/>
            <a:ext cx="3028315" cy="39433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Medical Specificity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97865" y="4680585"/>
            <a:ext cx="3148965" cy="39433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Benchmark Consistency</a:t>
            </a:r>
            <a:endParaRPr lang="en-US" altLang="zh-CN" sz="1800" b="1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803775" y="4672330"/>
            <a:ext cx="302831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800" b="1">
                <a:solidFill>
                  <a:schemeClr val="bg1"/>
                </a:solidFill>
              </a:rPr>
              <a:t>Comprehensiveness</a:t>
            </a:r>
            <a:endParaRPr lang="en-US" altLang="zh-CN" sz="1800" b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194310" y="775335"/>
          <a:ext cx="1898650" cy="4022725"/>
        </p:xfrm>
        <a:graphic>
          <a:graphicData uri="http://schemas.openxmlformats.org/drawingml/2006/table">
            <a:tbl>
              <a:tblPr/>
              <a:tblGrid>
                <a:gridCol w="949325"/>
                <a:gridCol w="949325"/>
              </a:tblGrid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Parameter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Value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Epochs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35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Batch Size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Optimizer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Adam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149350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Learning Rate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10^(-4)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4675"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Dropout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lnSpc>
                          <a:spcPct val="2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0.3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" name="表格 7"/>
          <p:cNvGraphicFramePr/>
          <p:nvPr>
            <p:custDataLst>
              <p:tags r:id="rId2"/>
            </p:custDataLst>
          </p:nvPr>
        </p:nvGraphicFramePr>
        <p:xfrm>
          <a:off x="2832100" y="775335"/>
          <a:ext cx="5866130" cy="1891665"/>
        </p:xfrm>
        <a:graphic>
          <a:graphicData uri="http://schemas.openxmlformats.org/drawingml/2006/table">
            <a:tbl>
              <a:tblPr/>
              <a:tblGrid>
                <a:gridCol w="989330"/>
                <a:gridCol w="1738630"/>
                <a:gridCol w="1505585"/>
                <a:gridCol w="1632585"/>
              </a:tblGrid>
              <a:tr h="309880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Metric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Training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Validation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Test Set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Accuracy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78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65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44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21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83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 w="63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31178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F1 Score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21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64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Precision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16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54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178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Recall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13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.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27</a:t>
                      </a: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%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Loss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0.6623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3.8041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pPr marL="0" indent="0"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200">
                          <a:latin typeface="Times New Roman" panose="02020603050405020304"/>
                          <a:ea typeface="Times New Roman" panose="02020603050405020304"/>
                        </a:rPr>
                        <a:t>-</a:t>
                      </a:r>
                      <a:endParaRPr lang="en-US" altLang="zh-CN" sz="12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68580" marR="6858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>
                      <a:solidFill>
                        <a:srgbClr val="000008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9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3790" y="2738755"/>
            <a:ext cx="6496685" cy="180721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" name="直接箭头连接符 2"/>
          <p:cNvCxnSpPr/>
          <p:nvPr/>
        </p:nvCxnSpPr>
        <p:spPr>
          <a:xfrm>
            <a:off x="2832100" y="3903345"/>
            <a:ext cx="690880" cy="3340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箭头连接符 3"/>
          <p:cNvCxnSpPr/>
          <p:nvPr/>
        </p:nvCxnSpPr>
        <p:spPr>
          <a:xfrm flipV="1">
            <a:off x="4939665" y="3016885"/>
            <a:ext cx="979170" cy="55245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箭头连接符 4"/>
          <p:cNvCxnSpPr/>
          <p:nvPr/>
        </p:nvCxnSpPr>
        <p:spPr>
          <a:xfrm flipV="1">
            <a:off x="7611745" y="3408045"/>
            <a:ext cx="736600" cy="64516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3540760" y="4545965"/>
            <a:ext cx="1943100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Learnable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11" name="直接箭头连接符 10"/>
          <p:cNvCxnSpPr/>
          <p:nvPr/>
        </p:nvCxnSpPr>
        <p:spPr>
          <a:xfrm flipV="1">
            <a:off x="3365500" y="3693795"/>
            <a:ext cx="943610" cy="254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4516755" y="1217930"/>
            <a:ext cx="967105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/>
          <p:nvPr/>
        </p:nvCxnSpPr>
        <p:spPr>
          <a:xfrm flipV="1">
            <a:off x="6268085" y="1229360"/>
            <a:ext cx="80518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6071870" y="4545965"/>
            <a:ext cx="2104390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Overfitting</a:t>
            </a:r>
            <a:endParaRPr lang="en-US" altLang="zh-CN" sz="2800" b="1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Result-baseline 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7" name="图片 3" descr="IMG_2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" y="775335"/>
            <a:ext cx="5779135" cy="245491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文本框 9"/>
          <p:cNvSpPr txBox="1"/>
          <p:nvPr/>
        </p:nvSpPr>
        <p:spPr>
          <a:xfrm>
            <a:off x="4013835" y="895350"/>
            <a:ext cx="4855845" cy="52197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CLOSED questiosn </a:t>
            </a:r>
            <a:r>
              <a:rPr lang="en-US" altLang="zh-CN" sz="2800" b="1">
                <a:solidFill>
                  <a:schemeClr val="bg1"/>
                </a:solidFill>
                <a:sym typeface="+mn-ea"/>
              </a:rPr>
              <a:t>better 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3" name="直接箭头连接符 2"/>
          <p:cNvCxnSpPr/>
          <p:nvPr/>
        </p:nvCxnSpPr>
        <p:spPr>
          <a:xfrm flipH="1">
            <a:off x="1139190" y="1266190"/>
            <a:ext cx="379730" cy="67691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4013835" y="1614805"/>
            <a:ext cx="4855845" cy="52197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p>
            <a:r>
              <a:rPr lang="en-US" altLang="zh-CN" sz="2800" b="1">
                <a:solidFill>
                  <a:schemeClr val="bg1"/>
                </a:solidFill>
              </a:rPr>
              <a:t>Low generalization ability</a:t>
            </a:r>
            <a:endParaRPr lang="en-US" altLang="zh-CN" sz="2800" b="1">
              <a:solidFill>
                <a:schemeClr val="bg1"/>
              </a:solidFill>
            </a:endParaRPr>
          </a:p>
        </p:txBody>
      </p:sp>
      <p:cxnSp>
        <p:nvCxnSpPr>
          <p:cNvPr id="13" name="直接箭头连接符 12"/>
          <p:cNvCxnSpPr/>
          <p:nvPr/>
        </p:nvCxnSpPr>
        <p:spPr>
          <a:xfrm>
            <a:off x="4013835" y="2461895"/>
            <a:ext cx="1778000" cy="11430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93595450" name="Picture 1" descr="A graph with a line&#10;&#10;AI-generated content may be incorrect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005" y="697865"/>
            <a:ext cx="2705100" cy="2028825"/>
          </a:xfrm>
          <a:prstGeom prst="rect">
            <a:avLst/>
          </a:prstGeom>
        </p:spPr>
      </p:pic>
      <p:cxnSp>
        <p:nvCxnSpPr>
          <p:cNvPr id="2" name="直接箭头连接符 1"/>
          <p:cNvCxnSpPr/>
          <p:nvPr/>
        </p:nvCxnSpPr>
        <p:spPr>
          <a:xfrm>
            <a:off x="1068705" y="1237615"/>
            <a:ext cx="48895" cy="85979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 flipV="1">
            <a:off x="1350010" y="2276475"/>
            <a:ext cx="1476375" cy="635"/>
          </a:xfrm>
          <a:prstGeom prst="straightConnector1">
            <a:avLst/>
          </a:prstGeom>
          <a:ln>
            <a:solidFill>
              <a:schemeClr val="accent4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3253105" y="815975"/>
            <a:ext cx="3872230" cy="39878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spAutoFit/>
          </a:bodyPr>
          <a:p>
            <a:r>
              <a:rPr lang="en-US" altLang="zh-CN" sz="2000" b="1">
                <a:solidFill>
                  <a:schemeClr val="bg1"/>
                </a:solidFill>
              </a:rPr>
              <a:t>Rapid Initial Decline</a:t>
            </a:r>
            <a:endParaRPr lang="en-US" altLang="zh-CN" sz="2000" b="1">
              <a:solidFill>
                <a:schemeClr val="bg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253105" y="1700530"/>
            <a:ext cx="5299710" cy="39878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txBody>
          <a:bodyPr wrap="square" rtlCol="0" anchor="t">
            <a:spAutoFit/>
          </a:bodyPr>
          <a:p>
            <a:r>
              <a:rPr lang="en-US" altLang="zh-CN" sz="2000" b="1">
                <a:solidFill>
                  <a:schemeClr val="bg1"/>
                </a:solidFill>
              </a:rPr>
              <a:t>Entering plateau around Epoch 5</a:t>
            </a:r>
            <a:endParaRPr lang="en-US" altLang="zh-CN" sz="2000" b="1">
              <a:solidFill>
                <a:schemeClr val="bg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253105" y="2199640"/>
            <a:ext cx="5740400" cy="33718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Learning rate (1e-4) and AdamW optimizer appropriately set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253105" y="1276032"/>
            <a:ext cx="5080000" cy="583565"/>
          </a:xfrm>
          <a:prstGeom prst="rect">
            <a:avLst/>
          </a:prstGeom>
        </p:spPr>
        <p:txBody>
          <a:bodyPr>
            <a:spAutoFit/>
          </a:bodyPr>
          <a:p>
            <a:pPr marL="0" lvl="1" algn="l">
              <a:buSzTx/>
              <a:buFont typeface="Arial" panose="020B0604020202020204"/>
            </a:pPr>
            <a:r>
              <a:rPr lang="en-US" altLang="zh-CN" sz="1600" b="0" i="0">
                <a:solidFill>
                  <a:srgbClr val="0F1115"/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</a:rPr>
              <a:t>Model quickly converges to a reasonable solution</a:t>
            </a:r>
            <a:endParaRPr lang="en-US" altLang="zh-CN" sz="1600" b="0" i="0">
              <a:solidFill>
                <a:srgbClr val="0F1115"/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</a:endParaRPr>
          </a:p>
          <a:p>
            <a:pPr marL="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endParaRPr lang="en-US" altLang="zh-CN" sz="1600" b="0" i="0">
              <a:solidFill>
                <a:srgbClr val="0F1115"/>
              </a:solidFill>
              <a:latin typeface="quote-cjk-patch"/>
              <a:ea typeface="quote-cjk-patch"/>
            </a:endParaRPr>
          </a:p>
        </p:txBody>
      </p:sp>
      <p:graphicFrame>
        <p:nvGraphicFramePr>
          <p:cNvPr id="9" name="表格 8"/>
          <p:cNvGraphicFramePr/>
          <p:nvPr>
            <p:custDataLst>
              <p:tags r:id="rId3"/>
            </p:custDataLst>
          </p:nvPr>
        </p:nvGraphicFramePr>
        <p:xfrm>
          <a:off x="646430" y="2701290"/>
          <a:ext cx="7381875" cy="2404745"/>
        </p:xfrm>
        <a:graphic>
          <a:graphicData uri="http://schemas.openxmlformats.org/drawingml/2006/table">
            <a:tbl>
              <a:tblPr/>
              <a:tblGrid>
                <a:gridCol w="2447925"/>
                <a:gridCol w="1692910"/>
                <a:gridCol w="1395730"/>
                <a:gridCol w="1845310"/>
              </a:tblGrid>
              <a:tr h="658495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Question Type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Accuracy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BLEU-1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BERTScore-F1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</a:tr>
              <a:tr h="65913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Closed-Ended Questions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63.03%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65849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Open-Ended Questions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0.084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0.911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28625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Overall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36.00%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–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3" name="文本框 32"/>
          <p:cNvSpPr txBox="1"/>
          <p:nvPr/>
        </p:nvSpPr>
        <p:spPr>
          <a:xfrm>
            <a:off x="5189855" y="2519680"/>
            <a:ext cx="3834765" cy="394335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600" b="1">
                <a:solidFill>
                  <a:schemeClr val="bg1"/>
                </a:solidFill>
              </a:rPr>
              <a:t>Stable Closed Question Performance</a:t>
            </a:r>
            <a:endParaRPr lang="en-US" altLang="zh-CN" sz="1600" b="1">
              <a:solidFill>
                <a:schemeClr val="bg1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5189855" y="3197860"/>
            <a:ext cx="3803650" cy="394335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600" b="1">
                <a:solidFill>
                  <a:schemeClr val="bg1"/>
                </a:solidFill>
              </a:rPr>
              <a:t>Extremely Low Surface Metrics</a:t>
            </a:r>
            <a:endParaRPr lang="en-US" altLang="zh-CN" sz="1600" b="1">
              <a:solidFill>
                <a:schemeClr val="bg1"/>
              </a:solidFill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844540" y="3810635"/>
            <a:ext cx="3148965" cy="39433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600" b="1">
                <a:solidFill>
                  <a:schemeClr val="bg1"/>
                </a:solidFill>
              </a:rPr>
              <a:t>High Semantic Score</a:t>
            </a:r>
            <a:endParaRPr lang="en-US" altLang="zh-CN" sz="1600" b="1">
              <a:solidFill>
                <a:schemeClr val="bg1"/>
              </a:solidFill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844665" y="4554220"/>
            <a:ext cx="2158365" cy="39433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txBody>
          <a:bodyPr wrap="square" rtlCol="0" anchor="t">
            <a:noAutofit/>
          </a:bodyPr>
          <a:p>
            <a:r>
              <a:rPr lang="en-US" altLang="zh-CN" sz="1600" b="1">
                <a:solidFill>
                  <a:schemeClr val="bg1"/>
                </a:solidFill>
              </a:rPr>
              <a:t>Core Contradiction</a:t>
            </a:r>
            <a:endParaRPr lang="en-US" altLang="zh-CN" sz="1600" b="1">
              <a:solidFill>
                <a:schemeClr val="bg1"/>
              </a:solidFill>
            </a:endParaRPr>
          </a:p>
        </p:txBody>
      </p:sp>
      <p:cxnSp>
        <p:nvCxnSpPr>
          <p:cNvPr id="12" name="直接箭头连接符 11"/>
          <p:cNvCxnSpPr>
            <a:stCxn id="33" idx="1"/>
          </p:cNvCxnSpPr>
          <p:nvPr/>
        </p:nvCxnSpPr>
        <p:spPr>
          <a:xfrm flipH="1">
            <a:off x="3940810" y="2717165"/>
            <a:ext cx="1249045" cy="860425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直接箭头连接符 13"/>
          <p:cNvCxnSpPr>
            <a:stCxn id="34" idx="1"/>
          </p:cNvCxnSpPr>
          <p:nvPr/>
        </p:nvCxnSpPr>
        <p:spPr>
          <a:xfrm flipH="1">
            <a:off x="5093335" y="3395345"/>
            <a:ext cx="96520" cy="823595"/>
          </a:xfrm>
          <a:prstGeom prst="straightConnector1">
            <a:avLst/>
          </a:prstGeom>
          <a:ln>
            <a:solidFill>
              <a:srgbClr val="7D9263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箭头连接符 14"/>
          <p:cNvCxnSpPr>
            <a:stCxn id="35" idx="2"/>
          </p:cNvCxnSpPr>
          <p:nvPr/>
        </p:nvCxnSpPr>
        <p:spPr>
          <a:xfrm flipH="1">
            <a:off x="6844665" y="4204970"/>
            <a:ext cx="574675" cy="155575"/>
          </a:xfrm>
          <a:prstGeom prst="straightConnector1">
            <a:avLst/>
          </a:prstGeom>
          <a:ln>
            <a:solidFill>
              <a:srgbClr val="4E75A3"/>
            </a:solidFill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2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</a:rPr>
              <a:t>Result-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4310" y="775335"/>
            <a:ext cx="8830945" cy="427672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 sz="2400" b="1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Experimental Differences and Their Impact</a:t>
            </a:r>
            <a:endParaRPr lang="en-US" altLang="zh-CN" sz="2400" b="1">
              <a:solidFill>
                <a:schemeClr val="accent4">
                  <a:lumMod val="75000"/>
                </a:schemeClr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r>
              <a:rPr lang="en-US" altLang="zh-CN" sz="1600" b="1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1. Prefix Configuration Differences</a:t>
            </a: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 : Long prefixes dilute visual information injection, particularly affecting open-ended answer generation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altLang="zh-CN" sz="1600" b="1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2. Language Model Limitations</a:t>
            </a: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 : 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Limits precise word form generation ability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Insufficient lexical expression precision leads to low BLEU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742950" lvl="1" indent="-285750">
              <a:lnSpc>
                <a:spcPct val="50000"/>
              </a:lnSpc>
              <a:buFont typeface="Arial" panose="020B0604020202020204" pitchFamily="34" charset="0"/>
              <a:buChar char="•"/>
            </a:pP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Semantic content remains intact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r>
              <a:rPr lang="en-US" altLang="zh-CN" sz="1600" b="1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3. Training Strategy Impact</a:t>
            </a: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 : Constrains surface form accuracy while preserving semantic correctness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r>
              <a:rPr lang="en-US" altLang="zh-CN" sz="2400" b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Performance Feature Summary</a:t>
            </a:r>
            <a:endParaRPr lang="en-US" altLang="zh-CN" sz="2400" b="1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High BERTScore-F1</a:t>
            </a: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Model captures clinically relevant semantics even with different word forms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Low Surface Metrics</a:t>
            </a: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Caused by prefix length, model capacity, freezing strategy, dataset scale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600" b="1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Closed Question Robustness</a:t>
            </a:r>
            <a:r>
              <a:rPr lang="en-US" altLang="zh-CN" sz="1600">
                <a:solidFill>
                  <a:schemeClr val="tx1"/>
                </a:solidFill>
                <a:latin typeface="Arial" panose="020B0604020202020204" pitchFamily="34" charset="0"/>
                <a:ea typeface="JetBrains Mono"/>
                <a:cs typeface="Arial" panose="020B0604020202020204" pitchFamily="34" charset="0"/>
              </a:rPr>
              <a:t>: Binary decision tasks not significantly affected</a:t>
            </a: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ea typeface="JetBrains Mono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3050" y="2138680"/>
            <a:ext cx="795020" cy="854075"/>
          </a:xfrm>
          <a:prstGeom prst="rect">
            <a:avLst/>
          </a:prstGeom>
        </p:spPr>
      </p:pic>
      <p:pic>
        <p:nvPicPr>
          <p:cNvPr id="78" name="Google Shape;78;p2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0" y="0"/>
            <a:ext cx="9144000" cy="697865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2"/>
          <p:cNvSpPr txBox="1">
            <a:spLocks noGrp="1"/>
          </p:cNvSpPr>
          <p:nvPr>
            <p:ph type="title"/>
          </p:nvPr>
        </p:nvSpPr>
        <p:spPr>
          <a:xfrm>
            <a:off x="0" y="-76"/>
            <a:ext cx="7421963" cy="7752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Discussion</a:t>
            </a:r>
            <a:r>
              <a:rPr lang="zh-CN" altLang="en-US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：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baseline vs </a:t>
            </a:r>
            <a:r>
              <a:rPr lang="en-US" altLang="zh-CN" sz="360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altLang="zh-CN" sz="3600" b="1" dirty="0">
                <a:solidFill>
                  <a:schemeClr val="bg1"/>
                </a:solidFill>
                <a:ea typeface="宋体" panose="02010600030101010101" pitchFamily="2" charset="-122"/>
                <a:sym typeface="+mn-ea"/>
              </a:rPr>
              <a:t>Generative Model</a:t>
            </a:r>
            <a:endParaRPr lang="en-US" altLang="zh-CN" sz="3600" b="1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graphicFrame>
        <p:nvGraphicFramePr>
          <p:cNvPr id="2" name="表格 1"/>
          <p:cNvGraphicFramePr/>
          <p:nvPr>
            <p:custDataLst>
              <p:tags r:id="rId3"/>
            </p:custDataLst>
          </p:nvPr>
        </p:nvGraphicFramePr>
        <p:xfrm>
          <a:off x="86360" y="775335"/>
          <a:ext cx="8961120" cy="1524000"/>
        </p:xfrm>
        <a:graphic>
          <a:graphicData uri="http://schemas.openxmlformats.org/drawingml/2006/table">
            <a:tbl>
              <a:tblPr/>
              <a:tblGrid>
                <a:gridCol w="2609215"/>
                <a:gridCol w="2418715"/>
                <a:gridCol w="3933190"/>
              </a:tblGrid>
              <a:tr h="0"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Evaluation Dimension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Metric Performance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Interpretation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Lexical Strictness Metrics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Poor performance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Low Exact Match and BLEU scores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Semantic Similarity Metrics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0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Excellent performance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152717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ts val="1875"/>
                        </a:lnSpc>
                      </a:pPr>
                      <a:r>
                        <a:rPr lang="en-US" altLang="zh-CN" sz="1600" b="0" i="0">
                          <a:solidFill>
                            <a:srgbClr val="0F1115"/>
                          </a:solidFill>
                          <a:latin typeface="Arial" panose="020B0604020202020204" pitchFamily="34" charset="0"/>
                          <a:ea typeface="quote-cjk-patch"/>
                          <a:cs typeface="Arial" panose="020B0604020202020204" pitchFamily="34" charset="0"/>
                        </a:rPr>
                        <a:t>BERTScore as high as 0.911</a:t>
                      </a:r>
                      <a:endParaRPr lang="en-US" altLang="zh-CN" sz="1600" b="0" i="0">
                        <a:solidFill>
                          <a:srgbClr val="0F1115"/>
                        </a:solidFill>
                        <a:latin typeface="Arial" panose="020B0604020202020204" pitchFamily="34" charset="0"/>
                        <a:ea typeface="quote-cjk-patch"/>
                        <a:cs typeface="Arial" panose="020B0604020202020204" pitchFamily="34" charset="0"/>
                      </a:endParaRPr>
                    </a:p>
                  </a:txBody>
                  <a:tcPr marL="152717" marR="0" marT="95567" marB="95567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圆角矩形 8"/>
          <p:cNvSpPr/>
          <p:nvPr>
            <p:custDataLst>
              <p:tags r:id="rId4"/>
            </p:custDataLst>
          </p:nvPr>
        </p:nvSpPr>
        <p:spPr>
          <a:xfrm>
            <a:off x="365125" y="2371725"/>
            <a:ext cx="3559175" cy="93535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>
                <a:solidFill>
                  <a:schemeClr val="tx1"/>
                </a:solidFill>
              </a:rPr>
              <a:t>Paraphrasing or substituting clinically related terms</a:t>
            </a:r>
            <a:endParaRPr lang="en-US" altLang="zh-CN" sz="1800">
              <a:solidFill>
                <a:schemeClr val="tx1"/>
              </a:solidFill>
            </a:endParaRPr>
          </a:p>
          <a:p>
            <a:pPr algn="l"/>
            <a:r>
              <a:rPr lang="en-US" altLang="zh-CN" sz="1800">
                <a:solidFill>
                  <a:schemeClr val="tx1"/>
                </a:solidFill>
                <a:highlight>
                  <a:srgbClr val="FFFF00"/>
                </a:highlight>
              </a:rPr>
              <a:t>Low Risk</a:t>
            </a:r>
            <a:endParaRPr lang="en-US" altLang="zh-CN" sz="180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1" name="圆角矩形 10"/>
          <p:cNvSpPr/>
          <p:nvPr>
            <p:custDataLst>
              <p:tags r:id="rId5"/>
            </p:custDataLst>
          </p:nvPr>
        </p:nvSpPr>
        <p:spPr>
          <a:xfrm>
            <a:off x="5036820" y="2372360"/>
            <a:ext cx="3757295" cy="934720"/>
          </a:xfrm>
          <a:prstGeom prst="roundRect">
            <a:avLst/>
          </a:prstGeom>
          <a:solidFill>
            <a:schemeClr val="tx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800">
                <a:solidFill>
                  <a:schemeClr val="tx1"/>
                </a:solidFill>
              </a:rPr>
              <a:t>Fabricating non-existent diseases or findings</a:t>
            </a:r>
            <a:endParaRPr lang="en-US" altLang="zh-CN" sz="1800">
              <a:solidFill>
                <a:schemeClr val="tx1"/>
              </a:solidFill>
            </a:endParaRPr>
          </a:p>
          <a:p>
            <a:pPr algn="l"/>
            <a:r>
              <a:rPr lang="en-US" altLang="zh-CN" sz="1800">
                <a:solidFill>
                  <a:schemeClr val="tx1"/>
                </a:solidFill>
                <a:highlight>
                  <a:srgbClr val="FFFF00"/>
                </a:highlight>
                <a:sym typeface="+mn-ea"/>
              </a:rPr>
              <a:t>High Risk</a:t>
            </a:r>
            <a:endParaRPr lang="en-US" altLang="zh-CN" sz="180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>
            <p:custDataLst>
              <p:tags r:id="rId6"/>
            </p:custDataLst>
          </p:nvPr>
        </p:nvSpPr>
        <p:spPr>
          <a:xfrm>
            <a:off x="1172845" y="2003425"/>
            <a:ext cx="2299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Soft Hallucinations</a:t>
            </a:r>
            <a:endParaRPr lang="en-US" altLang="zh-CN" sz="1800" b="1"/>
          </a:p>
        </p:txBody>
      </p:sp>
      <p:sp>
        <p:nvSpPr>
          <p:cNvPr id="5" name="文本框 4"/>
          <p:cNvSpPr txBox="1"/>
          <p:nvPr>
            <p:custDataLst>
              <p:tags r:id="rId7"/>
            </p:custDataLst>
          </p:nvPr>
        </p:nvSpPr>
        <p:spPr>
          <a:xfrm>
            <a:off x="5394960" y="1965960"/>
            <a:ext cx="267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 b="1"/>
              <a:t>Hard Hallucinations</a:t>
            </a:r>
            <a:endParaRPr lang="en-US" altLang="zh-CN" sz="1800" b="1"/>
          </a:p>
        </p:txBody>
      </p:sp>
      <p:graphicFrame>
        <p:nvGraphicFramePr>
          <p:cNvPr id="12" name="图示 11"/>
          <p:cNvGraphicFramePr/>
          <p:nvPr/>
        </p:nvGraphicFramePr>
        <p:xfrm>
          <a:off x="193040" y="3524885"/>
          <a:ext cx="8742045" cy="1510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16" name="椭圆 15"/>
          <p:cNvSpPr/>
          <p:nvPr/>
        </p:nvSpPr>
        <p:spPr>
          <a:xfrm>
            <a:off x="3924300" y="3345180"/>
            <a:ext cx="1448435" cy="40767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ea typeface="quote-cjk-patch"/>
                <a:cs typeface="Arial" panose="020B0604020202020204" pitchFamily="34" charset="0"/>
                <a:sym typeface="+mn-ea"/>
              </a:rPr>
              <a:t>SAFETY</a:t>
            </a:r>
            <a:endParaRPr lang="en-US" altLang="zh-CN" b="1">
              <a:solidFill>
                <a:schemeClr val="accent2">
                  <a:lumMod val="75000"/>
                </a:schemeClr>
              </a:solidFill>
              <a:latin typeface="Arial" panose="020B0604020202020204" pitchFamily="34" charset="0"/>
              <a:ea typeface="quote-cjk-patch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"/>
          <p:cNvPicPr preferRelativeResize="0"/>
          <p:nvPr/>
        </p:nvPicPr>
        <p:blipFill rotWithShape="1">
          <a:blip r:embed="rId1"/>
          <a:srcRect b="8619"/>
          <a:stretch>
            <a:fillRect/>
          </a:stretch>
        </p:blipFill>
        <p:spPr>
          <a:xfrm>
            <a:off x="0" y="-6985"/>
            <a:ext cx="9144000" cy="300926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"/>
          <p:cNvSpPr txBox="1"/>
          <p:nvPr/>
        </p:nvSpPr>
        <p:spPr>
          <a:xfrm>
            <a:off x="2498071" y="1131106"/>
            <a:ext cx="3957357" cy="1016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 panose="020F0502020204030204"/>
              <a:buNone/>
            </a:pPr>
            <a:r>
              <a:rPr lang="en-US" sz="3600" b="1" dirty="0" smtClean="0">
                <a:solidFill>
                  <a:srgbClr val="FFFFFF"/>
                </a:solidFill>
              </a:rPr>
              <a:t>THAN</a:t>
            </a:r>
            <a:r>
              <a:rPr lang="en-US" altLang="zh-CN" sz="3600" b="1" dirty="0" smtClean="0">
                <a:solidFill>
                  <a:srgbClr val="FFFFFF"/>
                </a:solidFill>
              </a:rPr>
              <a:t>K</a:t>
            </a:r>
            <a:r>
              <a:rPr lang="en-US" sz="3600" b="1" dirty="0" smtClean="0">
                <a:solidFill>
                  <a:srgbClr val="FFFFFF"/>
                </a:solidFill>
              </a:rPr>
              <a:t> YOU</a:t>
            </a:r>
            <a:endParaRPr sz="1100" b="1" i="0" u="none" strike="noStrike" cap="non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TABLE_ENDDRAG_ORIGIN_RECT" val="461*148"/>
  <p:tag name="TABLE_ENDDRAG_RECT" val="202*60*461*148"/>
</p:tagLst>
</file>

<file path=ppt/tags/tag2.xml><?xml version="1.0" encoding="utf-8"?>
<p:tagLst xmlns:p="http://schemas.openxmlformats.org/presentationml/2006/main">
  <p:tag name="TABLE_ENDDRAG_ORIGIN_RECT" val="581*188"/>
  <p:tag name="TABLE_ENDDRAG_RECT" val="44*219*581*188"/>
</p:tagLst>
</file>

<file path=ppt/tags/tag3.xml><?xml version="1.0" encoding="utf-8"?>
<p:tagLst xmlns:p="http://schemas.openxmlformats.org/presentationml/2006/main">
  <p:tag name="TABLE_ENDDRAG_ORIGIN_RECT" val="705*120"/>
  <p:tag name="TABLE_ENDDRAG_RECT" val="6*61*705*120"/>
</p:tagLst>
</file>

<file path=ppt/tags/tag4.xml><?xml version="1.0" encoding="utf-8"?>
<p:tagLst xmlns:p="http://schemas.openxmlformats.org/presentationml/2006/main">
  <p:tag name="KSO_WM_DIAGRAM_VIRTUALLY_FRAME" val="{&quot;height&quot;:185.65,&quot;left&quot;:28.75,&quot;top&quot;:154.8,&quot;width&quot;:663.7}"/>
</p:tagLst>
</file>

<file path=ppt/tags/tag5.xml><?xml version="1.0" encoding="utf-8"?>
<p:tagLst xmlns:p="http://schemas.openxmlformats.org/presentationml/2006/main">
  <p:tag name="KSO_WM_DIAGRAM_VIRTUALLY_FRAME" val="{&quot;height&quot;:185.65,&quot;left&quot;:28.75,&quot;top&quot;:154.8,&quot;width&quot;:663.7}"/>
</p:tagLst>
</file>

<file path=ppt/tags/tag6.xml><?xml version="1.0" encoding="utf-8"?>
<p:tagLst xmlns:p="http://schemas.openxmlformats.org/presentationml/2006/main">
  <p:tag name="KSO_WM_DIAGRAM_VIRTUALLY_FRAME" val="{&quot;height&quot;:185.65,&quot;left&quot;:28.75,&quot;top&quot;:154.8,&quot;width&quot;:663.7}"/>
</p:tagLst>
</file>

<file path=ppt/tags/tag7.xml><?xml version="1.0" encoding="utf-8"?>
<p:tagLst xmlns:p="http://schemas.openxmlformats.org/presentationml/2006/main">
  <p:tag name="KSO_WM_DIAGRAM_VIRTUALLY_FRAME" val="{&quot;height&quot;:185.65,&quot;left&quot;:28.75,&quot;top&quot;:154.8,&quot;width&quot;:663.7}"/>
</p:tagLst>
</file>

<file path=ppt/theme/theme1.xml><?xml version="1.0" encoding="utf-8"?>
<a:theme xmlns:a="http://schemas.openxmlformats.org/drawingml/2006/main" name="Office Theme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4771</Words>
  <Application>WPS 演示</Application>
  <PresentationFormat>全屏显示(16:9)</PresentationFormat>
  <Paragraphs>335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34" baseType="lpstr">
      <vt:lpstr>Arial</vt:lpstr>
      <vt:lpstr>宋体</vt:lpstr>
      <vt:lpstr>Wingdings</vt:lpstr>
      <vt:lpstr>Arial</vt:lpstr>
      <vt:lpstr>Calibri</vt:lpstr>
      <vt:lpstr>Arial MT</vt:lpstr>
      <vt:lpstr>Arial Unicode MS</vt:lpstr>
      <vt:lpstr>Times New Roman</vt:lpstr>
      <vt:lpstr>微软雅黑</vt:lpstr>
      <vt:lpstr>quote-cjk-patch</vt:lpstr>
      <vt:lpstr>Segoe Print</vt:lpstr>
      <vt:lpstr>Arial MT</vt:lpstr>
      <vt:lpstr>Calibri</vt:lpstr>
      <vt:lpstr>Times New Roman</vt:lpstr>
      <vt:lpstr>quote-cjk-patch</vt:lpstr>
      <vt:lpstr>JetBrains Mono</vt:lpstr>
      <vt:lpstr>JetBrains Mono</vt:lpstr>
      <vt:lpstr>Office Theme</vt:lpstr>
      <vt:lpstr>Simple Light</vt:lpstr>
      <vt:lpstr>PowerPoint 演示文稿</vt:lpstr>
      <vt:lpstr> Introduction</vt:lpstr>
      <vt:lpstr> RQs/ROs</vt:lpstr>
      <vt:lpstr> Methods-baseline architecture</vt:lpstr>
      <vt:lpstr> Methods-baseline architecture</vt:lpstr>
      <vt:lpstr> Methods-baseline architecture</vt:lpstr>
      <vt:lpstr> Methods-baseline architecture</vt:lpstr>
      <vt:lpstr> Methods-Generative Model Architecture</vt:lpstr>
      <vt:lpstr>Result-baseline </vt:lpstr>
      <vt:lpstr>Result-baseline </vt:lpstr>
      <vt:lpstr>Result-baseline </vt:lpstr>
      <vt:lpstr>Result-baseline </vt:lpstr>
      <vt:lpstr>Result-baseline </vt:lpstr>
      <vt:lpstr>Result-baseline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shiernee saw</dc:creator>
  <cp:lastModifiedBy>石呆子</cp:lastModifiedBy>
  <cp:revision>101</cp:revision>
  <dcterms:created xsi:type="dcterms:W3CDTF">2026-01-11T04:44:00Z</dcterms:created>
  <dcterms:modified xsi:type="dcterms:W3CDTF">2026-01-16T03:07:07Z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oAppVersion">
    <vt:lpwstr>0.17.1.1417</vt:lpwstr>
  </property>
  <property fmtid="{D5CDD505-2E9C-101B-9397-08002B2CF9AE}" pid="3" name="KSOProductBuildVer">
    <vt:lpwstr>2052-12.1.0.24657</vt:lpwstr>
  </property>
  <property fmtid="{D5CDD505-2E9C-101B-9397-08002B2CF9AE}" pid="4" name="ICV">
    <vt:lpwstr>BB7536458E3B41899896659986F44323_12</vt:lpwstr>
  </property>
</Properties>
</file>